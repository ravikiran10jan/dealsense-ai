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
  </p:notesMasterIdLst>
  <p:handoutMasterIdLst>
    <p:handoutMasterId r:id="rId5"/>
  </p:handoutMasterIdLst>
  <p:sldIdLst>
    <p:sldId id="2147308091" r:id="rId2"/>
    <p:sldId id="2147308090" r:id="rId3"/>
  </p:sldIdLst>
  <p:sldSz cx="14630400" cy="8229600"/>
  <p:notesSz cx="7772400" cy="14173200"/>
  <p:defaultTex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928"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63666A"/>
    <a:srgbClr val="F9F048"/>
    <a:srgbClr val="FFCD00"/>
    <a:srgbClr val="D9DF23"/>
    <a:srgbClr val="666666"/>
    <a:srgbClr val="330072"/>
    <a:srgbClr val="60249E"/>
    <a:srgbClr val="1870B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68" autoAdjust="0"/>
    <p:restoredTop sz="93784" autoAdjust="0"/>
  </p:normalViewPr>
  <p:slideViewPr>
    <p:cSldViewPr snapToGrid="0" snapToObjects="1" showGuides="1">
      <p:cViewPr>
        <p:scale>
          <a:sx n="70" d="100"/>
          <a:sy n="70" d="100"/>
        </p:scale>
        <p:origin x="1472" y="1512"/>
      </p:cViewPr>
      <p:guideLst>
        <p:guide orient="horz" pos="408"/>
        <p:guide orient="horz" pos="2592"/>
        <p:guide orient="horz" pos="4512"/>
        <p:guide orient="horz" pos="4928"/>
        <p:guide pos="7488"/>
        <p:guide pos="432"/>
        <p:guide pos="3024"/>
        <p:guide pos="3312"/>
        <p:guide pos="4464"/>
        <p:guide pos="4608"/>
        <p:guide pos="4752"/>
        <p:guide pos="5904"/>
        <p:guide pos="6192"/>
        <p:guide pos="8784"/>
      </p:guideLst>
    </p:cSldViewPr>
  </p:slideViewPr>
  <p:outlineViewPr>
    <p:cViewPr>
      <p:scale>
        <a:sx n="33" d="100"/>
        <a:sy n="33" d="100"/>
      </p:scale>
      <p:origin x="0" y="-110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110" d="100"/>
          <a:sy n="110" d="100"/>
        </p:scale>
        <p:origin x="6648" y="114"/>
      </p:cViewPr>
      <p:guideLst>
        <p:guide orient="horz" pos="4464"/>
        <p:guide pos="244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dirty="0">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dirty="0">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dirty="0">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dirty="0"/>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5/6/25</a:t>
            </a:fld>
            <a:endParaRPr lang="en-US" dirty="0"/>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dirty="0"/>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dirty="0"/>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dirty="0"/>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Deliver Excellence Title Slide">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6B86D8E4-D42C-4BA4-8C3D-EE6E0354EA3C}"/>
              </a:ext>
            </a:extLst>
          </p:cNvPr>
          <p:cNvPicPr>
            <a:picLocks noChangeAspect="1"/>
          </p:cNvPicPr>
          <p:nvPr userDrawn="1"/>
        </p:nvPicPr>
        <p:blipFill>
          <a:blip r:embed="rId2"/>
          <a:stretch>
            <a:fillRect/>
          </a:stretch>
        </p:blipFill>
        <p:spPr>
          <a:xfrm>
            <a:off x="1777" y="0"/>
            <a:ext cx="14626846" cy="8229600"/>
          </a:xfrm>
          <a:prstGeom prst="rect">
            <a:avLst/>
          </a:prstGeom>
        </p:spPr>
      </p:pic>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8975" y="685801"/>
            <a:ext cx="1430092" cy="781050"/>
          </a:xfrm>
          <a:prstGeom prst="rect">
            <a:avLst/>
          </a:prstGeom>
        </p:spPr>
      </p:pic>
      <p:sp>
        <p:nvSpPr>
          <p:cNvPr id="47" name="Title 1">
            <a:extLst>
              <a:ext uri="{FF2B5EF4-FFF2-40B4-BE49-F238E27FC236}">
                <a16:creationId xmlns:a16="http://schemas.microsoft.com/office/drawing/2014/main" id="{0131F459-E553-4CE6-92F0-91E2F09BA9B3}"/>
              </a:ext>
            </a:extLst>
          </p:cNvPr>
          <p:cNvSpPr>
            <a:spLocks noGrp="1"/>
          </p:cNvSpPr>
          <p:nvPr>
            <p:ph type="ctrTitle"/>
          </p:nvPr>
        </p:nvSpPr>
        <p:spPr>
          <a:xfrm>
            <a:off x="1168401" y="2781300"/>
            <a:ext cx="4858326" cy="2545080"/>
          </a:xfrm>
        </p:spPr>
        <p:txBody>
          <a:bodyPr anchor="ctr" anchorCtr="0">
            <a:noAutofit/>
          </a:bodyPr>
          <a:lstStyle>
            <a:lvl1pPr>
              <a:defRPr sz="4400">
                <a:solidFill>
                  <a:schemeClr val="bg1"/>
                </a:solidFill>
              </a:defRPr>
            </a:lvl1pPr>
          </a:lstStyle>
          <a:p>
            <a:r>
              <a:rPr lang="en-US"/>
              <a:t>Click to edit Master title style</a:t>
            </a:r>
            <a:endParaRPr lang="en-US" dirty="0"/>
          </a:p>
        </p:txBody>
      </p:sp>
      <p:sp>
        <p:nvSpPr>
          <p:cNvPr id="48" name="Subtitle 2">
            <a:extLst>
              <a:ext uri="{FF2B5EF4-FFF2-40B4-BE49-F238E27FC236}">
                <a16:creationId xmlns:a16="http://schemas.microsoft.com/office/drawing/2014/main" id="{00FE735E-E3CF-4086-AF37-051864E157BF}"/>
              </a:ext>
            </a:extLst>
          </p:cNvPr>
          <p:cNvSpPr>
            <a:spLocks noGrp="1"/>
          </p:cNvSpPr>
          <p:nvPr>
            <p:ph type="subTitle" idx="1"/>
          </p:nvPr>
        </p:nvSpPr>
        <p:spPr>
          <a:xfrm>
            <a:off x="1168401" y="5494020"/>
            <a:ext cx="4858326"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
        <p:nvSpPr>
          <p:cNvPr id="2" name="Footer Placeholder 4">
            <a:extLst>
              <a:ext uri="{FF2B5EF4-FFF2-40B4-BE49-F238E27FC236}">
                <a16:creationId xmlns:a16="http://schemas.microsoft.com/office/drawing/2014/main" id="{699D14CA-575C-EA7D-BE23-67723D5954E2}"/>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2025</a:t>
            </a:fld>
            <a:r>
              <a:rPr lang="en-US" sz="1100" dirty="0">
                <a:solidFill>
                  <a:schemeClr val="tx1"/>
                </a:solidFill>
              </a:rPr>
              <a:t> DXC Technology Company. All rights reserved.</a:t>
            </a:r>
          </a:p>
        </p:txBody>
      </p:sp>
      <p:sp>
        <p:nvSpPr>
          <p:cNvPr id="4" name="TextBox 3">
            <a:extLst>
              <a:ext uri="{FF2B5EF4-FFF2-40B4-BE49-F238E27FC236}">
                <a16:creationId xmlns:a16="http://schemas.microsoft.com/office/drawing/2014/main" id="{3EDC14C5-6F6B-9463-B1A8-DD5C5DA635CE}"/>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Internal</a:t>
            </a:r>
          </a:p>
        </p:txBody>
      </p:sp>
    </p:spTree>
    <p:extLst>
      <p:ext uri="{BB962C8B-B14F-4D97-AF65-F5344CB8AC3E}">
        <p14:creationId xmlns:p14="http://schemas.microsoft.com/office/powerpoint/2010/main" val="315127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Purple Tab Shape Title Slide 2">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6629396" cy="4996181"/>
          </a:xfrm>
          <a:prstGeom prst="round1Rect">
            <a:avLst>
              <a:gd name="adj" fmla="val 1818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5609471" cy="2066925"/>
          </a:xfrm>
        </p:spPr>
        <p:txBody>
          <a:bodyPr anchor="ctr" anchorCtr="0">
            <a:noAutofit/>
          </a:bodyPr>
          <a:lstStyle>
            <a:lvl1pPr>
              <a:defRPr sz="4800">
                <a:solidFill>
                  <a:schemeClr val="bg1"/>
                </a:solidFill>
              </a:defRPr>
            </a:lvl1pPr>
          </a:lstStyle>
          <a:p>
            <a:r>
              <a:rPr lang="en-US"/>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513070"/>
            <a:ext cx="560947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dirty="0"/>
              <a:t>Click to edit Master subtitle style</a:t>
            </a:r>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3599529D-40A1-0E76-7D85-B0D6B82DA4B6}"/>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2025</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3C180A8D-DB2A-C6BC-3C3A-7E50A8449317}"/>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Internal</a:t>
            </a:r>
          </a:p>
        </p:txBody>
      </p:sp>
    </p:spTree>
    <p:extLst>
      <p:ext uri="{BB962C8B-B14F-4D97-AF65-F5344CB8AC3E}">
        <p14:creationId xmlns:p14="http://schemas.microsoft.com/office/powerpoint/2010/main" val="4147726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Purple Tab Shape Title Slide 1">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252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7353431" cy="2256367"/>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735343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CB4FEDAD-D9AC-5055-EC0B-C2C18EDCB1A5}"/>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2025</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1A9924A5-8581-CD5B-9BAA-0A89DC9072DA}"/>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Internal</a:t>
            </a:r>
          </a:p>
        </p:txBody>
      </p:sp>
    </p:spTree>
    <p:extLst>
      <p:ext uri="{BB962C8B-B14F-4D97-AF65-F5344CB8AC3E}">
        <p14:creationId xmlns:p14="http://schemas.microsoft.com/office/powerpoint/2010/main" val="740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3">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0" y="2057400"/>
            <a:ext cx="11201400" cy="3200400"/>
          </a:xfrm>
          <a:prstGeom prst="round1Rect">
            <a:avLst>
              <a:gd name="adj" fmla="val 2834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399" y="2057401"/>
            <a:ext cx="9931400" cy="3181087"/>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399" y="5678701"/>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811AA6E9-2517-36A8-DAEB-C9596B6F0B28}"/>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solidFill>
                  <a:schemeClr val="tx1"/>
                </a:solidFill>
              </a:rPr>
              <a:t>© </a:t>
            </a:r>
            <a:fld id="{1C50FC3A-183C-4C20-B5A6-510A748E07ED}" type="datetimeyyyy">
              <a:rPr lang="en-US" sz="1100" smtClean="0">
                <a:solidFill>
                  <a:schemeClr val="tx1"/>
                </a:solidFill>
              </a:rPr>
              <a:t>2025</a:t>
            </a:fld>
            <a:r>
              <a:rPr lang="en-US" sz="1100" dirty="0">
                <a:solidFill>
                  <a:schemeClr val="tx1"/>
                </a:solidFill>
              </a:rPr>
              <a:t> DXC Technology Company. All rights reserved.</a:t>
            </a:r>
          </a:p>
        </p:txBody>
      </p:sp>
      <p:sp>
        <p:nvSpPr>
          <p:cNvPr id="3" name="TextBox 2">
            <a:extLst>
              <a:ext uri="{FF2B5EF4-FFF2-40B4-BE49-F238E27FC236}">
                <a16:creationId xmlns:a16="http://schemas.microsoft.com/office/drawing/2014/main" id="{28E2E492-CE4D-50EF-E8FB-DE2CAAB63D88}"/>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dirty="0"/>
              <a:t>DXC Internal</a:t>
            </a:r>
          </a:p>
        </p:txBody>
      </p:sp>
    </p:spTree>
    <p:extLst>
      <p:ext uri="{BB962C8B-B14F-4D97-AF65-F5344CB8AC3E}">
        <p14:creationId xmlns:p14="http://schemas.microsoft.com/office/powerpoint/2010/main" val="295116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285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4962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dirty="0"/>
              <a:t>Click to edit Master </a:t>
            </a:r>
            <a:br>
              <a:rPr lang="en-US" dirty="0"/>
            </a:br>
            <a:r>
              <a:rPr lang="en-US" dirty="0"/>
              <a:t>text styles</a:t>
            </a:r>
          </a:p>
        </p:txBody>
      </p:sp>
    </p:spTree>
    <p:extLst>
      <p:ext uri="{BB962C8B-B14F-4D97-AF65-F5344CB8AC3E}">
        <p14:creationId xmlns:p14="http://schemas.microsoft.com/office/powerpoint/2010/main" val="155675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8345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74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US"/>
              <a:t>Click icon to add picture</a:t>
            </a:r>
            <a:endParaRPr lang="en-US" dirty="0"/>
          </a:p>
        </p:txBody>
      </p:sp>
      <p:sp>
        <p:nvSpPr>
          <p:cNvPr id="4" name="Title 3"/>
          <p:cNvSpPr>
            <a:spLocks noGrp="1"/>
          </p:cNvSpPr>
          <p:nvPr>
            <p:ph type="title"/>
          </p:nvPr>
        </p:nvSpPr>
        <p:spPr>
          <a:xfrm>
            <a:off x="685800" y="639763"/>
            <a:ext cx="6400800" cy="1417635"/>
          </a:xfrm>
        </p:spPr>
        <p:txBody>
          <a:bodyPr/>
          <a:lstStyle/>
          <a:p>
            <a:r>
              <a:rPr lang="en-US"/>
              <a:t>Click to edit Master title style</a:t>
            </a:r>
            <a:endParaRPr lang="en-US" dirty="0"/>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t>‹#›</a:t>
            </a:fld>
            <a:endParaRPr lang="en-US" sz="1100" b="1" dirty="0">
              <a:solidFill>
                <a:schemeClr val="tx1"/>
              </a:solidFill>
            </a:endParaRPr>
          </a:p>
        </p:txBody>
      </p:sp>
      <p:sp>
        <p:nvSpPr>
          <p:cNvPr id="3" name="Content Placeholder 2"/>
          <p:cNvSpPr>
            <a:spLocks noGrp="1"/>
          </p:cNvSpPr>
          <p:nvPr>
            <p:ph sz="quarter" idx="14"/>
          </p:nvPr>
        </p:nvSpPr>
        <p:spPr>
          <a:xfrm>
            <a:off x="685800" y="2057398"/>
            <a:ext cx="6400800" cy="5121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4" name="Graphic 43">
            <a:extLst>
              <a:ext uri="{FF2B5EF4-FFF2-40B4-BE49-F238E27FC236}">
                <a16:creationId xmlns:a16="http://schemas.microsoft.com/office/drawing/2014/main" id="{C091593C-4446-42A7-AA75-762280E3CD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80437"/>
            <a:ext cx="2286000" cy="259238"/>
          </a:xfrm>
          <a:prstGeom prst="rect">
            <a:avLst/>
          </a:prstGeom>
        </p:spPr>
      </p:pic>
      <p:sp>
        <p:nvSpPr>
          <p:cNvPr id="2" name="Footer Placeholder 4">
            <a:extLst>
              <a:ext uri="{FF2B5EF4-FFF2-40B4-BE49-F238E27FC236}">
                <a16:creationId xmlns:a16="http://schemas.microsoft.com/office/drawing/2014/main" id="{22E539CF-BB89-9CFA-7450-C2FA97C11654}"/>
              </a:ext>
            </a:extLst>
          </p:cNvPr>
          <p:cNvSpPr txBox="1">
            <a:spLocks/>
          </p:cNvSpPr>
          <p:nvPr userDrawn="1"/>
        </p:nvSpPr>
        <p:spPr>
          <a:xfrm>
            <a:off x="3398520" y="7580439"/>
            <a:ext cx="368808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dirty="0"/>
              <a:t>© </a:t>
            </a:r>
            <a:fld id="{F0F03FDE-796C-4CED-8A2E-524BCF9DE0E5}" type="datetimeyyyy">
              <a:rPr lang="en-US" sz="1100" smtClean="0"/>
              <a:t>2025</a:t>
            </a:fld>
            <a:r>
              <a:rPr lang="en-US" sz="1100" dirty="0"/>
              <a:t> DXC Technology Company. All rights reserved.</a:t>
            </a:r>
          </a:p>
        </p:txBody>
      </p:sp>
      <p:sp>
        <p:nvSpPr>
          <p:cNvPr id="5" name="TextBox 4">
            <a:extLst>
              <a:ext uri="{FF2B5EF4-FFF2-40B4-BE49-F238E27FC236}">
                <a16:creationId xmlns:a16="http://schemas.microsoft.com/office/drawing/2014/main" id="{CE582E9E-E0DC-215D-B4CB-8608A98E514C}"/>
              </a:ext>
            </a:extLst>
          </p:cNvPr>
          <p:cNvSpPr txBox="1"/>
          <p:nvPr userDrawn="1"/>
        </p:nvSpPr>
        <p:spPr>
          <a:xfrm>
            <a:off x="4709160" y="7868126"/>
            <a:ext cx="2354579" cy="215444"/>
          </a:xfrm>
          <a:prstGeom prst="rect">
            <a:avLst/>
          </a:prstGeom>
          <a:noFill/>
        </p:spPr>
        <p:txBody>
          <a:bodyPr wrap="square" rIns="0">
            <a:spAutoFit/>
          </a:bodyPr>
          <a:lstStyle/>
          <a:p>
            <a:pPr algn="r"/>
            <a:r>
              <a:rPr lang="en-US" sz="800" dirty="0"/>
              <a:t>DXC Internal</a:t>
            </a:r>
          </a:p>
        </p:txBody>
      </p:sp>
    </p:spTree>
    <p:extLst>
      <p:ext uri="{BB962C8B-B14F-4D97-AF65-F5344CB8AC3E}">
        <p14:creationId xmlns:p14="http://schemas.microsoft.com/office/powerpoint/2010/main" val="1015786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
        <p:nvSpPr>
          <p:cNvPr id="2" name="TextBox 1">
            <a:extLst>
              <a:ext uri="{FF2B5EF4-FFF2-40B4-BE49-F238E27FC236}">
                <a16:creationId xmlns:a16="http://schemas.microsoft.com/office/drawing/2014/main" id="{D2E895AC-FD91-6796-E415-E379113518A8}"/>
              </a:ext>
            </a:extLst>
          </p:cNvPr>
          <p:cNvSpPr txBox="1"/>
          <p:nvPr userDrawn="1"/>
        </p:nvSpPr>
        <p:spPr>
          <a:xfrm>
            <a:off x="6137910" y="7868126"/>
            <a:ext cx="2354579" cy="215444"/>
          </a:xfrm>
          <a:prstGeom prst="rect">
            <a:avLst/>
          </a:prstGeom>
          <a:noFill/>
        </p:spPr>
        <p:txBody>
          <a:bodyPr wrap="square">
            <a:spAutoFit/>
          </a:bodyPr>
          <a:lstStyle/>
          <a:p>
            <a:pPr algn="ctr"/>
            <a:r>
              <a:rPr lang="en-US" sz="800" dirty="0"/>
              <a:t>DXC Internal</a:t>
            </a:r>
          </a:p>
        </p:txBody>
      </p:sp>
      <p:sp>
        <p:nvSpPr>
          <p:cNvPr id="3" name="Footer Placeholder 4">
            <a:extLst>
              <a:ext uri="{FF2B5EF4-FFF2-40B4-BE49-F238E27FC236}">
                <a16:creationId xmlns:a16="http://schemas.microsoft.com/office/drawing/2014/main" id="{2D32F9C5-294A-36D8-523F-F0DB5B550F85}"/>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2025</a:t>
            </a:fld>
            <a:r>
              <a:rPr lang="en-US" sz="1100" dirty="0"/>
              <a:t> DXC Technology Company. All rights reserved.</a:t>
            </a:r>
          </a:p>
        </p:txBody>
      </p:sp>
    </p:spTree>
    <p:extLst>
      <p:ext uri="{BB962C8B-B14F-4D97-AF65-F5344CB8AC3E}">
        <p14:creationId xmlns:p14="http://schemas.microsoft.com/office/powerpoint/2010/main" val="1087246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dirty="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7" name="Graphic 56">
            <a:extLst>
              <a:ext uri="{FF2B5EF4-FFF2-40B4-BE49-F238E27FC236}">
                <a16:creationId xmlns:a16="http://schemas.microsoft.com/office/drawing/2014/main" id="{329D370C-B3C9-49CC-A16E-95762D2349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2" name="TextBox 1">
            <a:extLst>
              <a:ext uri="{FF2B5EF4-FFF2-40B4-BE49-F238E27FC236}">
                <a16:creationId xmlns:a16="http://schemas.microsoft.com/office/drawing/2014/main" id="{E94508AD-91E3-175B-B8B1-AAF635213BCC}"/>
              </a:ext>
            </a:extLst>
          </p:cNvPr>
          <p:cNvSpPr txBox="1"/>
          <p:nvPr userDrawn="1"/>
        </p:nvSpPr>
        <p:spPr>
          <a:xfrm>
            <a:off x="6137910" y="7868126"/>
            <a:ext cx="2354579" cy="215444"/>
          </a:xfrm>
          <a:prstGeom prst="rect">
            <a:avLst/>
          </a:prstGeom>
          <a:noFill/>
        </p:spPr>
        <p:txBody>
          <a:bodyPr wrap="square">
            <a:spAutoFit/>
          </a:bodyPr>
          <a:lstStyle/>
          <a:p>
            <a:pPr algn="ctr"/>
            <a:r>
              <a:rPr lang="en-US" sz="800" dirty="0"/>
              <a:t>DXC Internal</a:t>
            </a:r>
          </a:p>
        </p:txBody>
      </p:sp>
      <p:sp>
        <p:nvSpPr>
          <p:cNvPr id="3" name="Footer Placeholder 4">
            <a:extLst>
              <a:ext uri="{FF2B5EF4-FFF2-40B4-BE49-F238E27FC236}">
                <a16:creationId xmlns:a16="http://schemas.microsoft.com/office/drawing/2014/main" id="{B732A361-630E-4E1C-5468-3CF87B532CD2}"/>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2025</a:t>
            </a:fld>
            <a:r>
              <a:rPr lang="en-US" sz="1100" dirty="0"/>
              <a:t> DXC Technology Company. All rights reserved.</a:t>
            </a:r>
          </a:p>
        </p:txBody>
      </p:sp>
    </p:spTree>
    <p:extLst>
      <p:ext uri="{BB962C8B-B14F-4D97-AF65-F5344CB8AC3E}">
        <p14:creationId xmlns:p14="http://schemas.microsoft.com/office/powerpoint/2010/main" val="272216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2242164"/>
            <a:ext cx="10414000" cy="2229067"/>
          </a:xfrm>
        </p:spPr>
        <p:txBody>
          <a:bodyPr anchor="ctr" anchorCtr="0">
            <a:noAutofit/>
          </a:bodyPr>
          <a:lstStyle>
            <a:lvl1pPr>
              <a:defRPr sz="6000">
                <a:solidFill>
                  <a:schemeClr val="accent1"/>
                </a:solidFill>
              </a:defRPr>
            </a:lvl1pPr>
          </a:lstStyle>
          <a:p>
            <a:r>
              <a:rPr lang="en-US"/>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4620877"/>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
        <p:nvSpPr>
          <p:cNvPr id="2" name="TextBox 1">
            <a:extLst>
              <a:ext uri="{FF2B5EF4-FFF2-40B4-BE49-F238E27FC236}">
                <a16:creationId xmlns:a16="http://schemas.microsoft.com/office/drawing/2014/main" id="{1AAE790F-24C5-5E49-0259-CC5B085B4498}"/>
              </a:ext>
            </a:extLst>
          </p:cNvPr>
          <p:cNvSpPr txBox="1"/>
          <p:nvPr userDrawn="1"/>
        </p:nvSpPr>
        <p:spPr>
          <a:xfrm>
            <a:off x="6137910" y="7868126"/>
            <a:ext cx="2354579" cy="215444"/>
          </a:xfrm>
          <a:prstGeom prst="rect">
            <a:avLst/>
          </a:prstGeom>
          <a:noFill/>
        </p:spPr>
        <p:txBody>
          <a:bodyPr wrap="square">
            <a:spAutoFit/>
          </a:bodyPr>
          <a:lstStyle/>
          <a:p>
            <a:pPr algn="ctr"/>
            <a:r>
              <a:rPr lang="en-US" sz="800" dirty="0"/>
              <a:t>DXC Internal</a:t>
            </a:r>
          </a:p>
        </p:txBody>
      </p:sp>
      <p:sp>
        <p:nvSpPr>
          <p:cNvPr id="3" name="Footer Placeholder 4">
            <a:extLst>
              <a:ext uri="{FF2B5EF4-FFF2-40B4-BE49-F238E27FC236}">
                <a16:creationId xmlns:a16="http://schemas.microsoft.com/office/drawing/2014/main" id="{4C161121-7289-26AD-7FA4-2BDA9D0879CC}"/>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2025</a:t>
            </a:fld>
            <a:r>
              <a:rPr lang="en-US" sz="1100" dirty="0"/>
              <a:t> DXC Technology Company. All rights reserved.</a:t>
            </a:r>
          </a:p>
        </p:txBody>
      </p:sp>
    </p:spTree>
    <p:extLst>
      <p:ext uri="{BB962C8B-B14F-4D97-AF65-F5344CB8AC3E}">
        <p14:creationId xmlns:p14="http://schemas.microsoft.com/office/powerpoint/2010/main" val="98529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US"/>
              <a:t>Click icon to add picture</a:t>
            </a:r>
            <a:endParaRPr lang="en-US" dirty="0"/>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pic>
        <p:nvPicPr>
          <p:cNvPr id="44" name="Graphic 43">
            <a:extLst>
              <a:ext uri="{FF2B5EF4-FFF2-40B4-BE49-F238E27FC236}">
                <a16:creationId xmlns:a16="http://schemas.microsoft.com/office/drawing/2014/main" id="{A2BEF977-E587-4D30-B5BF-3E5AC49D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79053"/>
            <a:ext cx="2286000" cy="259237"/>
          </a:xfrm>
          <a:prstGeom prst="rect">
            <a:avLst/>
          </a:prstGeom>
        </p:spPr>
      </p:pic>
      <p:sp>
        <p:nvSpPr>
          <p:cNvPr id="2" name="TextBox 1">
            <a:extLst>
              <a:ext uri="{FF2B5EF4-FFF2-40B4-BE49-F238E27FC236}">
                <a16:creationId xmlns:a16="http://schemas.microsoft.com/office/drawing/2014/main" id="{45D2EF1E-7434-766D-3D76-DF84707B08EE}"/>
              </a:ext>
            </a:extLst>
          </p:cNvPr>
          <p:cNvSpPr txBox="1"/>
          <p:nvPr userDrawn="1"/>
        </p:nvSpPr>
        <p:spPr>
          <a:xfrm>
            <a:off x="6137910" y="7868126"/>
            <a:ext cx="2354579" cy="215444"/>
          </a:xfrm>
          <a:prstGeom prst="rect">
            <a:avLst/>
          </a:prstGeom>
          <a:noFill/>
        </p:spPr>
        <p:txBody>
          <a:bodyPr wrap="square">
            <a:spAutoFit/>
          </a:bodyPr>
          <a:lstStyle/>
          <a:p>
            <a:pPr algn="ctr"/>
            <a:r>
              <a:rPr lang="en-US" sz="800" dirty="0">
                <a:solidFill>
                  <a:schemeClr val="bg1"/>
                </a:solidFill>
              </a:rPr>
              <a:t>DXC Internal</a:t>
            </a:r>
          </a:p>
        </p:txBody>
      </p:sp>
      <p:sp>
        <p:nvSpPr>
          <p:cNvPr id="3" name="Footer Placeholder 4">
            <a:extLst>
              <a:ext uri="{FF2B5EF4-FFF2-40B4-BE49-F238E27FC236}">
                <a16:creationId xmlns:a16="http://schemas.microsoft.com/office/drawing/2014/main" id="{D1FF8FE1-C385-A895-C0A6-D7B7F720AB93}"/>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a:t>
            </a:r>
            <a:fld id="{C0650B53-F5B1-403A-BD70-58B7AE2589AD}" type="datetimeyyyy">
              <a:rPr lang="en-US" sz="1100" smtClean="0">
                <a:solidFill>
                  <a:schemeClr val="bg1"/>
                </a:solidFill>
              </a:rPr>
              <a:t>2025</a:t>
            </a:fld>
            <a:r>
              <a:rPr lang="en-US" sz="1100" dirty="0">
                <a:solidFill>
                  <a:schemeClr val="bg1"/>
                </a:solidFill>
              </a:rPr>
              <a:t> DXC Technology Company. All rights reserved.</a:t>
            </a:r>
          </a:p>
        </p:txBody>
      </p:sp>
    </p:spTree>
    <p:extLst>
      <p:ext uri="{BB962C8B-B14F-4D97-AF65-F5344CB8AC3E}">
        <p14:creationId xmlns:p14="http://schemas.microsoft.com/office/powerpoint/2010/main" val="1240162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2" name="Graphic 1">
            <a:extLst>
              <a:ext uri="{FF2B5EF4-FFF2-40B4-BE49-F238E27FC236}">
                <a16:creationId xmlns:a16="http://schemas.microsoft.com/office/drawing/2014/main" id="{204136C3-C0B2-4695-8464-42B084FBEA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09034" y="2856891"/>
            <a:ext cx="4612331" cy="2515817"/>
          </a:xfrm>
          <a:prstGeom prst="rect">
            <a:avLst/>
          </a:prstGeom>
        </p:spPr>
      </p:pic>
      <p:sp>
        <p:nvSpPr>
          <p:cNvPr id="3" name="Footer Placeholder 4">
            <a:extLst>
              <a:ext uri="{FF2B5EF4-FFF2-40B4-BE49-F238E27FC236}">
                <a16:creationId xmlns:a16="http://schemas.microsoft.com/office/drawing/2014/main" id="{8F34D9A9-59CB-C05C-24F8-DD60E7E9ADB0}"/>
              </a:ext>
            </a:extLst>
          </p:cNvPr>
          <p:cNvSpPr txBox="1">
            <a:spLocks/>
          </p:cNvSpPr>
          <p:nvPr userDrawn="1"/>
        </p:nvSpPr>
        <p:spPr>
          <a:xfrm>
            <a:off x="10347960" y="7580439"/>
            <a:ext cx="359664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dirty="0">
                <a:solidFill>
                  <a:schemeClr val="tx1"/>
                </a:solidFill>
              </a:rPr>
              <a:t>© </a:t>
            </a:r>
            <a:fld id="{CF9733AE-80B1-4FDE-8D2E-3D7469571069}" type="datetimeyyyy">
              <a:rPr lang="en-US" sz="1100" smtClean="0">
                <a:solidFill>
                  <a:schemeClr val="tx1"/>
                </a:solidFill>
              </a:rPr>
              <a:t>2025</a:t>
            </a:fld>
            <a:r>
              <a:rPr lang="en-US" sz="1100" dirty="0">
                <a:solidFill>
                  <a:schemeClr val="tx1"/>
                </a:solidFill>
              </a:rPr>
              <a:t> DXC Technology Company. All rights reserved.</a:t>
            </a:r>
          </a:p>
        </p:txBody>
      </p:sp>
      <p:sp>
        <p:nvSpPr>
          <p:cNvPr id="4" name="TextBox 3">
            <a:extLst>
              <a:ext uri="{FF2B5EF4-FFF2-40B4-BE49-F238E27FC236}">
                <a16:creationId xmlns:a16="http://schemas.microsoft.com/office/drawing/2014/main" id="{183690A6-29F2-4FFB-4B4C-10CC900BA5DC}"/>
              </a:ext>
            </a:extLst>
          </p:cNvPr>
          <p:cNvSpPr txBox="1"/>
          <p:nvPr userDrawn="1"/>
        </p:nvSpPr>
        <p:spPr>
          <a:xfrm>
            <a:off x="11576685" y="7868126"/>
            <a:ext cx="2354579" cy="215444"/>
          </a:xfrm>
          <a:prstGeom prst="rect">
            <a:avLst/>
          </a:prstGeom>
          <a:noFill/>
        </p:spPr>
        <p:txBody>
          <a:bodyPr wrap="square" rIns="0">
            <a:spAutoFit/>
          </a:bodyPr>
          <a:lstStyle/>
          <a:p>
            <a:pPr algn="r"/>
            <a:r>
              <a:rPr lang="en-US" sz="800" dirty="0"/>
              <a:t>DXC Internal</a:t>
            </a:r>
          </a:p>
        </p:txBody>
      </p:sp>
    </p:spTree>
    <p:extLst>
      <p:ext uri="{BB962C8B-B14F-4D97-AF65-F5344CB8AC3E}">
        <p14:creationId xmlns:p14="http://schemas.microsoft.com/office/powerpoint/2010/main" val="199280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pic>
        <p:nvPicPr>
          <p:cNvPr id="46" name="Graphic 45">
            <a:extLst>
              <a:ext uri="{FF2B5EF4-FFF2-40B4-BE49-F238E27FC236}">
                <a16:creationId xmlns:a16="http://schemas.microsoft.com/office/drawing/2014/main" id="{B6FF065E-2B34-4360-B045-0F02C20A28B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685800" y="7580437"/>
            <a:ext cx="2286000" cy="259238"/>
          </a:xfrm>
          <a:prstGeom prst="rect">
            <a:avLst/>
          </a:prstGeom>
        </p:spPr>
      </p:pic>
      <p:sp>
        <p:nvSpPr>
          <p:cNvPr id="5" name="Footer Placeholder 4">
            <a:extLst>
              <a:ext uri="{FF2B5EF4-FFF2-40B4-BE49-F238E27FC236}">
                <a16:creationId xmlns:a16="http://schemas.microsoft.com/office/drawing/2014/main" id="{3ED449BE-CF0C-B5BE-D973-8117818C3A4F}"/>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a:t>
            </a:r>
            <a:fld id="{C0650B53-F5B1-403A-BD70-58B7AE2589AD}" type="datetimeyyyy">
              <a:rPr lang="en-US" sz="1100" smtClean="0"/>
              <a:t>2025</a:t>
            </a:fld>
            <a:r>
              <a:rPr lang="en-US" sz="1100" dirty="0"/>
              <a:t> DXC Technology Company. All rights reserved.</a:t>
            </a:r>
          </a:p>
        </p:txBody>
      </p:sp>
    </p:spTree>
    <p:extLst>
      <p:ext uri="{BB962C8B-B14F-4D97-AF65-F5344CB8AC3E}">
        <p14:creationId xmlns:p14="http://schemas.microsoft.com/office/powerpoint/2010/main" val="112899065"/>
      </p:ext>
    </p:extLst>
  </p:cSld>
  <p:clrMap bg1="lt1" tx1="dk1" bg2="lt2" tx2="dk2" accent1="accent1" accent2="accent2" accent3="accent3" accent4="accent4" accent5="accent5" accent6="accent6" hlink="hlink" folHlink="folHlink"/>
  <p:sldLayoutIdLst>
    <p:sldLayoutId id="2147483830" r:id="rId1"/>
    <p:sldLayoutId id="2147483839" r:id="rId2"/>
    <p:sldLayoutId id="2147483833" r:id="rId3"/>
    <p:sldLayoutId id="2147483834" r:id="rId4"/>
    <p:sldLayoutId id="2147483659" r:id="rId5"/>
    <p:sldLayoutId id="2147483667" r:id="rId6"/>
    <p:sldLayoutId id="2147483650" r:id="rId7"/>
    <p:sldLayoutId id="2147483752" r:id="rId8"/>
    <p:sldLayoutId id="2147483666" r:id="rId9"/>
    <p:sldLayoutId id="2147483652" r:id="rId10"/>
    <p:sldLayoutId id="2147483660" r:id="rId11"/>
    <p:sldLayoutId id="2147483662" r:id="rId12"/>
    <p:sldLayoutId id="2147483663" r:id="rId13"/>
    <p:sldLayoutId id="2147483835" r:id="rId14"/>
    <p:sldLayoutId id="2147483836" r:id="rId15"/>
    <p:sldLayoutId id="2147483837" r:id="rId16"/>
    <p:sldLayoutId id="2147483655" r:id="rId17"/>
    <p:sldLayoutId id="2147483692"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userDrawn="1">
          <p15:clr>
            <a:srgbClr val="F26B43"/>
          </p15:clr>
        </p15:guide>
        <p15:guide id="2" pos="4608" userDrawn="1">
          <p15:clr>
            <a:srgbClr val="F26B43"/>
          </p15:clr>
        </p15:guide>
        <p15:guide id="3" pos="432" userDrawn="1">
          <p15:clr>
            <a:srgbClr val="F26B43"/>
          </p15:clr>
        </p15:guide>
        <p15:guide id="4" pos="3024" userDrawn="1">
          <p15:clr>
            <a:srgbClr val="F26B43"/>
          </p15:clr>
        </p15:guide>
        <p15:guide id="5" pos="3312" userDrawn="1">
          <p15:clr>
            <a:srgbClr val="F26B43"/>
          </p15:clr>
        </p15:guide>
        <p15:guide id="6" pos="4464" userDrawn="1">
          <p15:clr>
            <a:srgbClr val="F26B43"/>
          </p15:clr>
        </p15:guide>
        <p15:guide id="7" pos="4752" userDrawn="1">
          <p15:clr>
            <a:srgbClr val="F26B43"/>
          </p15:clr>
        </p15:guide>
        <p15:guide id="8" pos="5904" userDrawn="1">
          <p15:clr>
            <a:srgbClr val="F26B43"/>
          </p15:clr>
        </p15:guide>
        <p15:guide id="9" pos="6192" userDrawn="1">
          <p15:clr>
            <a:srgbClr val="F26B43"/>
          </p15:clr>
        </p15:guide>
        <p15:guide id="10" pos="7488" userDrawn="1">
          <p15:clr>
            <a:srgbClr val="F26B43"/>
          </p15:clr>
        </p15:guide>
        <p15:guide id="11" pos="8784" userDrawn="1">
          <p15:clr>
            <a:srgbClr val="F26B43"/>
          </p15:clr>
        </p15:guide>
        <p15:guide id="12" orient="horz" pos="1296" userDrawn="1">
          <p15:clr>
            <a:srgbClr val="F26B43"/>
          </p15:clr>
        </p15:guide>
        <p15:guide id="13" orient="horz" pos="4522" userDrawn="1">
          <p15:clr>
            <a:srgbClr val="F26B43"/>
          </p15:clr>
        </p15:guide>
        <p15:guide id="14"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21F65-9703-4223-4683-94662BB9EEB0}"/>
            </a:ext>
          </a:extLst>
        </p:cNvPr>
        <p:cNvGrpSpPr/>
        <p:nvPr/>
      </p:nvGrpSpPr>
      <p:grpSpPr>
        <a:xfrm>
          <a:off x="0" y="0"/>
          <a:ext cx="0" cy="0"/>
          <a:chOff x="0" y="0"/>
          <a:chExt cx="0" cy="0"/>
        </a:xfrm>
      </p:grpSpPr>
      <p:sp>
        <p:nvSpPr>
          <p:cNvPr id="3" name="Round Same Side Corner Rectangle 2">
            <a:extLst>
              <a:ext uri="{FF2B5EF4-FFF2-40B4-BE49-F238E27FC236}">
                <a16:creationId xmlns:a16="http://schemas.microsoft.com/office/drawing/2014/main" id="{0E870551-EE3C-4973-9A11-9F8A4ACF4E5C}"/>
              </a:ext>
            </a:extLst>
          </p:cNvPr>
          <p:cNvSpPr/>
          <p:nvPr/>
        </p:nvSpPr>
        <p:spPr>
          <a:xfrm rot="5400000">
            <a:off x="-30798" y="2088198"/>
            <a:ext cx="5121275" cy="5059680"/>
          </a:xfrm>
          <a:prstGeom prst="round2SameRect">
            <a:avLst>
              <a:gd name="adj1" fmla="val 6182"/>
              <a:gd name="adj2" fmla="val 0"/>
            </a:avLst>
          </a:prstGeom>
          <a:gradFill flip="none" rotWithShape="1">
            <a:gsLst>
              <a:gs pos="0">
                <a:schemeClr val="accent1"/>
              </a:gs>
              <a:gs pos="87000">
                <a:schemeClr val="accent1">
                  <a:lumMod val="75000"/>
                </a:schemeClr>
              </a:gs>
            </a:gsLst>
            <a:lin ang="270000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uk-UA"/>
          </a:p>
        </p:txBody>
      </p:sp>
      <p:sp>
        <p:nvSpPr>
          <p:cNvPr id="4" name="Title 3">
            <a:extLst>
              <a:ext uri="{FF2B5EF4-FFF2-40B4-BE49-F238E27FC236}">
                <a16:creationId xmlns:a16="http://schemas.microsoft.com/office/drawing/2014/main" id="{92550957-DBFC-1133-ADFA-6D285C7DF652}"/>
              </a:ext>
            </a:extLst>
          </p:cNvPr>
          <p:cNvSpPr>
            <a:spLocks noGrp="1"/>
          </p:cNvSpPr>
          <p:nvPr>
            <p:ph type="title"/>
          </p:nvPr>
        </p:nvSpPr>
        <p:spPr/>
        <p:txBody>
          <a:bodyPr/>
          <a:lstStyle/>
          <a:p>
            <a:pPr>
              <a:tabLst>
                <a:tab pos="3819525" algn="l"/>
              </a:tabLst>
            </a:pPr>
            <a:r>
              <a:rPr lang="en-US"/>
              <a:t>Trade Finance Transformation Proposal for SCB</a:t>
            </a:r>
            <a:br>
              <a:rPr lang="en-US"/>
            </a:br>
            <a:endParaRPr lang="uk-UA"/>
          </a:p>
        </p:txBody>
      </p:sp>
      <p:graphicFrame>
        <p:nvGraphicFramePr>
          <p:cNvPr id="5" name="Table 4">
            <a:extLst>
              <a:ext uri="{FF2B5EF4-FFF2-40B4-BE49-F238E27FC236}">
                <a16:creationId xmlns:a16="http://schemas.microsoft.com/office/drawing/2014/main" id="{9A56B00D-8108-FC5E-E1E0-FA9428EA38D8}"/>
              </a:ext>
            </a:extLst>
          </p:cNvPr>
          <p:cNvGraphicFramePr>
            <a:graphicFrameLocks noGrp="1"/>
          </p:cNvGraphicFramePr>
          <p:nvPr>
            <p:extLst>
              <p:ext uri="{D42A27DB-BD31-4B8C-83A1-F6EECF244321}">
                <p14:modId xmlns:p14="http://schemas.microsoft.com/office/powerpoint/2010/main" val="3884446443"/>
              </p:ext>
            </p:extLst>
          </p:nvPr>
        </p:nvGraphicFramePr>
        <p:xfrm>
          <a:off x="5684520" y="2225261"/>
          <a:ext cx="8260080" cy="4953414"/>
        </p:xfrm>
        <a:graphic>
          <a:graphicData uri="http://schemas.openxmlformats.org/drawingml/2006/table">
            <a:tbl>
              <a:tblPr firstRow="1" firstCol="1" bandRow="1">
                <a:tableStyleId>{45BD5076-5073-49C7-9E08-65982F3C9860}</a:tableStyleId>
              </a:tblPr>
              <a:tblGrid>
                <a:gridCol w="2149295">
                  <a:extLst>
                    <a:ext uri="{9D8B030D-6E8A-4147-A177-3AD203B41FA5}">
                      <a16:colId xmlns:a16="http://schemas.microsoft.com/office/drawing/2014/main" val="1321553178"/>
                    </a:ext>
                  </a:extLst>
                </a:gridCol>
                <a:gridCol w="6110785">
                  <a:extLst>
                    <a:ext uri="{9D8B030D-6E8A-4147-A177-3AD203B41FA5}">
                      <a16:colId xmlns:a16="http://schemas.microsoft.com/office/drawing/2014/main" val="1687659747"/>
                    </a:ext>
                  </a:extLst>
                </a:gridCol>
              </a:tblGrid>
              <a:tr h="313285">
                <a:tc>
                  <a:txBody>
                    <a:bodyPr/>
                    <a:lstStyle/>
                    <a:p>
                      <a:pPr>
                        <a:lnSpc>
                          <a:spcPct val="115000"/>
                        </a:lnSpc>
                        <a:spcAft>
                          <a:spcPts val="1000"/>
                        </a:spcAft>
                        <a:buNone/>
                      </a:pP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a:noFill/>
                    </a:lnR>
                    <a:lnT>
                      <a:noFill/>
                    </a:lnT>
                    <a:lnB w="19050">
                      <a:noFill/>
                    </a:lnB>
                    <a:lnTlToBr w="12700" cmpd="sng">
                      <a:noFill/>
                      <a:prstDash val="solid"/>
                    </a:lnTlToBr>
                    <a:lnBlToTr w="12700" cmpd="sng">
                      <a:noFill/>
                      <a:prstDash val="solid"/>
                    </a:lnBlToTr>
                  </a:tcPr>
                </a:tc>
                <a:tc>
                  <a:txBody>
                    <a:bodyPr/>
                    <a:lstStyle/>
                    <a:p>
                      <a:pPr>
                        <a:lnSpc>
                          <a:spcPct val="115000"/>
                        </a:lnSpc>
                        <a:spcAft>
                          <a:spcPts val="1000"/>
                        </a:spcAft>
                        <a:buNone/>
                      </a:pP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a:noFill/>
                    </a:lnR>
                    <a:lnT>
                      <a:noFill/>
                    </a:lnT>
                    <a:lnB w="19050">
                      <a:noFill/>
                    </a:lnB>
                    <a:lnTlToBr w="12700" cmpd="sng">
                      <a:noFill/>
                      <a:prstDash val="solid"/>
                    </a:lnTlToBr>
                    <a:lnBlToTr w="12700" cmpd="sng">
                      <a:noFill/>
                      <a:prstDash val="solid"/>
                    </a:lnBlToTr>
                  </a:tcPr>
                </a:tc>
                <a:extLst>
                  <a:ext uri="{0D108BD9-81ED-4DB2-BD59-A6C34878D82A}">
                    <a16:rowId xmlns:a16="http://schemas.microsoft.com/office/drawing/2014/main" val="1864403461"/>
                  </a:ext>
                </a:extLst>
              </a:tr>
              <a:tr h="1567285">
                <a:tc>
                  <a:txBody>
                    <a:bodyPr/>
                    <a:lstStyle/>
                    <a:p>
                      <a:pPr algn="ctr">
                        <a:lnSpc>
                          <a:spcPct val="115000"/>
                        </a:lnSpc>
                        <a:spcAft>
                          <a:spcPts val="1000"/>
                        </a:spcAft>
                        <a:buNone/>
                      </a:pPr>
                      <a:r>
                        <a:rPr lang="en-US" sz="1200">
                          <a:effectLst/>
                          <a:latin typeface="Arial" panose="020B0604020202020204" pitchFamily="34" charset="0"/>
                          <a:cs typeface="Arial" panose="020B0604020202020204" pitchFamily="34" charset="0"/>
                        </a:rPr>
                        <a:t>Mainframe-based system </a:t>
                      </a:r>
                      <a:br>
                        <a:rPr lang="uk-UA" sz="1200">
                          <a:effectLst/>
                          <a:latin typeface="Arial" panose="020B0604020202020204" pitchFamily="34" charset="0"/>
                          <a:cs typeface="Arial" panose="020B0604020202020204" pitchFamily="34" charset="0"/>
                        </a:rPr>
                      </a:br>
                      <a:r>
                        <a:rPr lang="en-US" sz="1200">
                          <a:effectLst/>
                          <a:latin typeface="Arial" panose="020B0604020202020204" pitchFamily="34" charset="0"/>
                          <a:cs typeface="Arial" panose="020B0604020202020204" pitchFamily="34" charset="0"/>
                        </a:rPr>
                        <a:t>with no documentation</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w="6350" cap="flat" cmpd="sng" algn="ctr">
                      <a:solidFill>
                        <a:schemeClr val="bg1">
                          <a:lumMod val="75000"/>
                        </a:schemeClr>
                      </a:solidFill>
                      <a:prstDash val="solid"/>
                      <a:round/>
                      <a:headEnd type="none" w="med" len="med"/>
                      <a:tailEnd type="none" w="med" len="med"/>
                    </a:lnR>
                    <a:lnT w="19050">
                      <a:noFill/>
                    </a:lnT>
                    <a:lnB w="6350">
                      <a:noFill/>
                    </a:lnB>
                    <a:lnTlToBr w="12700" cmpd="sng">
                      <a:noFill/>
                      <a:prstDash val="solid"/>
                    </a:lnTlToBr>
                    <a:lnBlToTr w="12700" cmpd="sng">
                      <a:noFill/>
                      <a:prstDash val="solid"/>
                    </a:lnBlToTr>
                    <a:solidFill>
                      <a:schemeClr val="bg1">
                        <a:lumMod val="95000"/>
                      </a:schemeClr>
                    </a:solidFill>
                  </a:tcPr>
                </a:tc>
                <a:tc>
                  <a:txBody>
                    <a:bodyPr/>
                    <a:lstStyle/>
                    <a:p>
                      <a:pPr>
                        <a:lnSpc>
                          <a:spcPct val="100000"/>
                        </a:lnSpc>
                        <a:spcAft>
                          <a:spcPts val="1000"/>
                        </a:spcAft>
                        <a:buNone/>
                      </a:pPr>
                      <a:r>
                        <a:rPr lang="en-US" sz="1200">
                          <a:effectLst/>
                          <a:latin typeface="Arial" panose="020B0604020202020204" pitchFamily="34" charset="0"/>
                          <a:cs typeface="Arial" panose="020B0604020202020204" pitchFamily="34" charset="0"/>
                        </a:rPr>
                        <a:t>Experience to manually reverse engineer code base &amp; leverage our plug n play Questionnaires and BRDs to spin up requirement docs for the target state. We are also exploring the possibility of leveraging AI agent that was deployed for a leading US Bank to create requirement docs from legacy Cobol code. The AI agent was also able to transform Cobol code into Java. However, feasibility of deploying this agent for the Bank needs to be confirmed.</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108000" marR="57700" marT="0" marB="0" anchor="ctr">
                    <a:lnL w="6350" cap="flat" cmpd="sng" algn="ctr">
                      <a:solidFill>
                        <a:schemeClr val="bg1">
                          <a:lumMod val="75000"/>
                        </a:schemeClr>
                      </a:solidFill>
                      <a:prstDash val="solid"/>
                      <a:round/>
                      <a:headEnd type="none" w="med" len="med"/>
                      <a:tailEnd type="none" w="med" len="med"/>
                    </a:lnL>
                    <a:lnR>
                      <a:noFill/>
                    </a:lnR>
                    <a:lnT w="19050">
                      <a:noFill/>
                    </a:lnT>
                    <a:lnB w="6350">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1010277"/>
                  </a:ext>
                </a:extLst>
              </a:tr>
              <a:tr h="998170">
                <a:tc>
                  <a:txBody>
                    <a:bodyPr/>
                    <a:lstStyle/>
                    <a:p>
                      <a:pPr algn="ctr">
                        <a:lnSpc>
                          <a:spcPct val="115000"/>
                        </a:lnSpc>
                        <a:spcAft>
                          <a:spcPts val="1000"/>
                        </a:spcAft>
                        <a:buNone/>
                      </a:pPr>
                      <a:r>
                        <a:rPr lang="en-US" sz="1200">
                          <a:effectLst/>
                          <a:latin typeface="Arial" panose="020B0604020202020204" pitchFamily="34" charset="0"/>
                          <a:cs typeface="Arial" panose="020B0604020202020204" pitchFamily="34" charset="0"/>
                        </a:rPr>
                        <a:t>Missing process maps</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w="6350" cap="flat" cmpd="sng" algn="ctr">
                      <a:solidFill>
                        <a:schemeClr val="bg1">
                          <a:lumMod val="75000"/>
                        </a:schemeClr>
                      </a:solidFill>
                      <a:prstDash val="solid"/>
                      <a:round/>
                      <a:headEnd type="none" w="med" len="med"/>
                      <a:tailEnd type="none" w="med" len="med"/>
                    </a:lnR>
                    <a:lnT w="6350">
                      <a:noFill/>
                    </a:lnT>
                    <a:lnB w="6350">
                      <a:noFill/>
                    </a:lnB>
                    <a:lnTlToBr w="12700" cmpd="sng">
                      <a:noFill/>
                      <a:prstDash val="solid"/>
                    </a:lnTlToBr>
                    <a:lnBlToTr w="12700" cmpd="sng">
                      <a:noFill/>
                      <a:prstDash val="solid"/>
                    </a:lnBlToTr>
                  </a:tcPr>
                </a:tc>
                <a:tc>
                  <a:txBody>
                    <a:bodyPr/>
                    <a:lstStyle/>
                    <a:p>
                      <a:pPr>
                        <a:lnSpc>
                          <a:spcPct val="100000"/>
                        </a:lnSpc>
                        <a:spcAft>
                          <a:spcPts val="1000"/>
                        </a:spcAft>
                        <a:buNone/>
                      </a:pPr>
                      <a:r>
                        <a:rPr lang="en-US" sz="1200">
                          <a:effectLst/>
                          <a:latin typeface="Arial" panose="020B0604020202020204" pitchFamily="34" charset="0"/>
                          <a:cs typeface="Arial" panose="020B0604020202020204" pitchFamily="34" charset="0"/>
                        </a:rPr>
                        <a:t>We create detailed As-Is and To-Be process maps across all trade products, integrating system touchpoints, approvals, and exception flows. These are used to validate current workflows and blueprint target-state operating models.</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108000" marR="57700" marT="0" marB="0" anchor="ctr">
                    <a:lnL w="6350" cap="flat" cmpd="sng" algn="ctr">
                      <a:solidFill>
                        <a:schemeClr val="bg1">
                          <a:lumMod val="75000"/>
                        </a:schemeClr>
                      </a:solidFill>
                      <a:prstDash val="solid"/>
                      <a:round/>
                      <a:headEnd type="none" w="med" len="med"/>
                      <a:tailEnd type="none" w="med" len="med"/>
                    </a:lnL>
                    <a:lnR>
                      <a:noFill/>
                    </a:lnR>
                    <a:lnT w="6350">
                      <a:noFill/>
                    </a:lnT>
                    <a:lnB w="6350">
                      <a:noFill/>
                    </a:lnB>
                    <a:lnTlToBr w="12700" cmpd="sng">
                      <a:noFill/>
                      <a:prstDash val="solid"/>
                    </a:lnTlToBr>
                    <a:lnBlToTr w="12700" cmpd="sng">
                      <a:noFill/>
                      <a:prstDash val="solid"/>
                    </a:lnBlToTr>
                  </a:tcPr>
                </a:tc>
                <a:extLst>
                  <a:ext uri="{0D108BD9-81ED-4DB2-BD59-A6C34878D82A}">
                    <a16:rowId xmlns:a16="http://schemas.microsoft.com/office/drawing/2014/main" val="294685885"/>
                  </a:ext>
                </a:extLst>
              </a:tr>
              <a:tr h="1037337">
                <a:tc>
                  <a:txBody>
                    <a:bodyPr/>
                    <a:lstStyle/>
                    <a:p>
                      <a:pPr algn="ctr">
                        <a:lnSpc>
                          <a:spcPct val="115000"/>
                        </a:lnSpc>
                        <a:spcAft>
                          <a:spcPts val="1000"/>
                        </a:spcAft>
                        <a:buNone/>
                      </a:pPr>
                      <a:r>
                        <a:rPr lang="en-US" sz="1200">
                          <a:effectLst/>
                          <a:latin typeface="Arial" panose="020B0604020202020204" pitchFamily="34" charset="0"/>
                          <a:cs typeface="Arial" panose="020B0604020202020204" pitchFamily="34" charset="0"/>
                        </a:rPr>
                        <a:t>Need for smoother </a:t>
                      </a:r>
                      <a:br>
                        <a:rPr lang="uk-UA" sz="1200">
                          <a:effectLst/>
                          <a:latin typeface="Arial" panose="020B0604020202020204" pitchFamily="34" charset="0"/>
                          <a:cs typeface="Arial" panose="020B0604020202020204" pitchFamily="34" charset="0"/>
                        </a:rPr>
                      </a:br>
                      <a:r>
                        <a:rPr lang="en-US" sz="1200">
                          <a:effectLst/>
                          <a:latin typeface="Arial" panose="020B0604020202020204" pitchFamily="34" charset="0"/>
                          <a:cs typeface="Arial" panose="020B0604020202020204" pitchFamily="34" charset="0"/>
                        </a:rPr>
                        <a:t>migration</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w="6350" cap="flat" cmpd="sng" algn="ctr">
                      <a:solidFill>
                        <a:schemeClr val="bg1">
                          <a:lumMod val="75000"/>
                        </a:schemeClr>
                      </a:solidFill>
                      <a:prstDash val="solid"/>
                      <a:round/>
                      <a:headEnd type="none" w="med" len="med"/>
                      <a:tailEnd type="none" w="med" len="med"/>
                    </a:lnR>
                    <a:lnT w="6350">
                      <a:noFill/>
                    </a:lnT>
                    <a:lnB w="6350">
                      <a:noFill/>
                    </a:lnB>
                    <a:lnTlToBr w="12700" cmpd="sng">
                      <a:noFill/>
                      <a:prstDash val="solid"/>
                    </a:lnTlToBr>
                    <a:lnBlToTr w="12700" cmpd="sng">
                      <a:noFill/>
                      <a:prstDash val="solid"/>
                    </a:lnBlToTr>
                    <a:solidFill>
                      <a:schemeClr val="bg1">
                        <a:lumMod val="95000"/>
                      </a:schemeClr>
                    </a:solidFill>
                  </a:tcPr>
                </a:tc>
                <a:tc>
                  <a:txBody>
                    <a:bodyPr/>
                    <a:lstStyle/>
                    <a:p>
                      <a:pPr>
                        <a:lnSpc>
                          <a:spcPct val="100000"/>
                        </a:lnSpc>
                        <a:spcAft>
                          <a:spcPts val="1000"/>
                        </a:spcAft>
                        <a:buNone/>
                      </a:pPr>
                      <a:r>
                        <a:rPr lang="en-US" sz="1200">
                          <a:effectLst/>
                          <a:latin typeface="Arial" panose="020B0604020202020204" pitchFamily="34" charset="0"/>
                          <a:cs typeface="Arial" panose="020B0604020202020204" pitchFamily="34" charset="0"/>
                        </a:rPr>
                        <a:t>With deep IMEX and Trade Finance experience, we ensure migration readiness through 1) Gap analysis; 2) Legacy data cleansing; 3) Pre-built BRD/FSDs; 4) Dry-run support; and 5) Parallel testing. Our structured migration strategy ensures minimal disruption to business.</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108000" marR="57700" marT="0" marB="0" anchor="ctr">
                    <a:lnL w="6350" cap="flat" cmpd="sng" algn="ctr">
                      <a:solidFill>
                        <a:schemeClr val="bg1">
                          <a:lumMod val="75000"/>
                        </a:schemeClr>
                      </a:solidFill>
                      <a:prstDash val="solid"/>
                      <a:round/>
                      <a:headEnd type="none" w="med" len="med"/>
                      <a:tailEnd type="none" w="med" len="med"/>
                    </a:lnL>
                    <a:lnR>
                      <a:noFill/>
                    </a:lnR>
                    <a:lnT w="6350">
                      <a:noFill/>
                    </a:lnT>
                    <a:lnB w="6350">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41251825"/>
                  </a:ext>
                </a:extLst>
              </a:tr>
              <a:tr h="1037337">
                <a:tc>
                  <a:txBody>
                    <a:bodyPr/>
                    <a:lstStyle/>
                    <a:p>
                      <a:pPr algn="ctr">
                        <a:lnSpc>
                          <a:spcPct val="115000"/>
                        </a:lnSpc>
                        <a:spcAft>
                          <a:spcPts val="1000"/>
                        </a:spcAft>
                        <a:buNone/>
                      </a:pPr>
                      <a:r>
                        <a:rPr lang="en-US" sz="1200">
                          <a:effectLst/>
                          <a:latin typeface="Arial" panose="020B0604020202020204" pitchFamily="34" charset="0"/>
                          <a:cs typeface="Arial" panose="020B0604020202020204" pitchFamily="34" charset="0"/>
                        </a:rPr>
                        <a:t>Need for event trigger/</a:t>
                      </a:r>
                      <a:r>
                        <a:rPr lang="uk-UA" sz="1200">
                          <a:effectLst/>
                          <a:latin typeface="Arial" panose="020B0604020202020204" pitchFamily="34" charset="0"/>
                          <a:cs typeface="Arial" panose="020B0604020202020204" pitchFamily="34" charset="0"/>
                        </a:rPr>
                        <a:t> </a:t>
                      </a:r>
                      <a:br>
                        <a:rPr lang="uk-UA" sz="1200">
                          <a:effectLst/>
                          <a:latin typeface="Arial" panose="020B0604020202020204" pitchFamily="34" charset="0"/>
                          <a:cs typeface="Arial" panose="020B0604020202020204" pitchFamily="34" charset="0"/>
                        </a:rPr>
                      </a:br>
                      <a:r>
                        <a:rPr lang="en-US" sz="1200">
                          <a:effectLst/>
                          <a:latin typeface="Arial" panose="020B0604020202020204" pitchFamily="34" charset="0"/>
                          <a:cs typeface="Arial" panose="020B0604020202020204" pitchFamily="34" charset="0"/>
                        </a:rPr>
                        <a:t>process maps</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57700" marR="57700" marT="0" marB="0" anchor="ctr">
                    <a:lnL>
                      <a:noFill/>
                    </a:lnL>
                    <a:lnR w="6350" cap="flat" cmpd="sng" algn="ctr">
                      <a:solidFill>
                        <a:schemeClr val="bg1">
                          <a:lumMod val="75000"/>
                        </a:schemeClr>
                      </a:solidFill>
                      <a:prstDash val="solid"/>
                      <a:round/>
                      <a:headEnd type="none" w="med" len="med"/>
                      <a:tailEnd type="none" w="med" len="med"/>
                    </a:lnR>
                    <a:lnT w="6350">
                      <a:noFill/>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Aft>
                          <a:spcPts val="1000"/>
                        </a:spcAft>
                        <a:buNone/>
                      </a:pPr>
                      <a:r>
                        <a:rPr lang="en-US" sz="1200">
                          <a:effectLst/>
                          <a:latin typeface="Arial" panose="020B0604020202020204" pitchFamily="34" charset="0"/>
                          <a:cs typeface="Arial" panose="020B0604020202020204" pitchFamily="34" charset="0"/>
                        </a:rPr>
                        <a:t>We build event-trigger process maps linking customer requests, operational processes, compliance checks and system flows. The process flows ensure alignment across Business Units and can be used for identifying the correct team in the event of a failure.</a:t>
                      </a:r>
                      <a:endParaRPr lang="en-UA" sz="1200">
                        <a:effectLst/>
                        <a:latin typeface="Arial" panose="020B0604020202020204" pitchFamily="34" charset="0"/>
                        <a:ea typeface="MS Mincho" panose="02020609040205080304" pitchFamily="49" charset="-128"/>
                        <a:cs typeface="Arial" panose="020B0604020202020204" pitchFamily="34" charset="0"/>
                      </a:endParaRPr>
                    </a:p>
                  </a:txBody>
                  <a:tcPr marL="108000" marR="57700" marT="0" marB="0" anchor="ctr">
                    <a:lnL w="6350" cap="flat" cmpd="sng" algn="ctr">
                      <a:solidFill>
                        <a:schemeClr val="bg1">
                          <a:lumMod val="75000"/>
                        </a:schemeClr>
                      </a:solidFill>
                      <a:prstDash val="solid"/>
                      <a:round/>
                      <a:headEnd type="none" w="med" len="med"/>
                      <a:tailEnd type="none" w="med" len="med"/>
                    </a:lnL>
                    <a:lnR>
                      <a:noFill/>
                    </a:lnR>
                    <a:lnT w="6350">
                      <a:noFill/>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6048632"/>
                  </a:ext>
                </a:extLst>
              </a:tr>
            </a:tbl>
          </a:graphicData>
        </a:graphic>
      </p:graphicFrame>
      <p:sp>
        <p:nvSpPr>
          <p:cNvPr id="6" name="Rectangle 1">
            <a:extLst>
              <a:ext uri="{FF2B5EF4-FFF2-40B4-BE49-F238E27FC236}">
                <a16:creationId xmlns:a16="http://schemas.microsoft.com/office/drawing/2014/main" id="{40F749DE-ACE1-E575-C4B6-8DD3FAFB8E2E}"/>
              </a:ext>
            </a:extLst>
          </p:cNvPr>
          <p:cNvSpPr>
            <a:spLocks noChangeArrowheads="1"/>
          </p:cNvSpPr>
          <p:nvPr/>
        </p:nvSpPr>
        <p:spPr bwMode="auto">
          <a:xfrm>
            <a:off x="664084" y="3175760"/>
            <a:ext cx="3880207" cy="3800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4704"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buFontTx/>
              <a:buNone/>
              <a:tabLst/>
            </a:pPr>
            <a:r>
              <a:rPr kumimoji="0" lang="en-US" altLang="en-UA" sz="1800" b="1" i="0" u="none" strike="noStrike" cap="none" normalizeH="0" baseline="0">
                <a:ln>
                  <a:noFill/>
                </a:ln>
                <a:solidFill>
                  <a:schemeClr val="bg1"/>
                </a:solidFill>
                <a:effectLst/>
                <a:latin typeface="Arial" panose="020B0604020202020204" pitchFamily="34" charset="0"/>
                <a:ea typeface="MS Gothic" panose="020B0609070205080204" pitchFamily="49" charset="-128"/>
                <a:cs typeface="Arial" panose="020B0604020202020204" pitchFamily="34" charset="0"/>
              </a:rPr>
              <a:t>Executive 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A" sz="1400" b="0" i="0" u="none" strike="noStrike" cap="none" normalizeH="0" baseline="0">
                <a:ln>
                  <a:noFill/>
                </a:ln>
                <a:solidFill>
                  <a:schemeClr val="bg1"/>
                </a:solidFill>
                <a:effectLst/>
                <a:latin typeface="Arial" panose="020B0604020202020204" pitchFamily="34" charset="0"/>
                <a:ea typeface="MS Mincho" panose="02020609040205080304" pitchFamily="49" charset="-128"/>
                <a:cs typeface="Arial" panose="020B0604020202020204" pitchFamily="34" charset="0"/>
              </a:rPr>
              <a:t>A strong, immediately available resource pool of (10-20 years) experience delivering Trade Finance transformation for global banks, DXC Luxoft is uniquely positioned to partner with SCB in its next phase of Trade Finance business modernization. Our proven delivery at a leading Australian Bank, combined with readily deployable domain experts, enables us to address key operational and platform pain points—from IMEX /mainframe decommissioning to documentation gaps and smoother migration paths.</a:t>
            </a:r>
            <a:endParaRPr kumimoji="0" lang="en-US" altLang="en-UA" sz="1400" b="1" i="0" u="none" strike="noStrike" cap="none" normalizeH="0" baseline="0">
              <a:ln>
                <a:noFill/>
              </a:ln>
              <a:solidFill>
                <a:schemeClr val="bg1"/>
              </a:solidFill>
              <a:effectLst/>
              <a:latin typeface="Arial" panose="020B0604020202020204" pitchFamily="34" charset="0"/>
              <a:ea typeface="MS Gothic" panose="020B0609070205080204" pitchFamily="49"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A" sz="28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F8130B3-763A-253F-2483-ADB671605829}"/>
              </a:ext>
            </a:extLst>
          </p:cNvPr>
          <p:cNvSpPr txBox="1"/>
          <p:nvPr/>
        </p:nvSpPr>
        <p:spPr>
          <a:xfrm>
            <a:off x="5609484" y="1574461"/>
            <a:ext cx="741578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A" sz="1800" b="1" i="0" u="none" strike="noStrike" kern="1200" cap="none" spc="0" normalizeH="0" baseline="0" noProof="0">
                <a:ln>
                  <a:noFill/>
                </a:ln>
                <a:solidFill>
                  <a:schemeClr val="accent1"/>
                </a:solidFill>
                <a:effectLst/>
                <a:uLnTx/>
                <a:uFillTx/>
                <a:latin typeface="Arial" panose="020B0604020202020204" pitchFamily="34" charset="0"/>
                <a:ea typeface="MS Gothic" panose="020B0609070205080204" pitchFamily="49" charset="-128"/>
                <a:cs typeface="Arial" panose="020B0604020202020204" pitchFamily="34" charset="0"/>
              </a:rPr>
              <a:t>Your Pain Points – Our Solutions</a:t>
            </a:r>
          </a:p>
        </p:txBody>
      </p:sp>
      <p:grpSp>
        <p:nvGrpSpPr>
          <p:cNvPr id="18" name="Group 17">
            <a:extLst>
              <a:ext uri="{FF2B5EF4-FFF2-40B4-BE49-F238E27FC236}">
                <a16:creationId xmlns:a16="http://schemas.microsoft.com/office/drawing/2014/main" id="{1692745C-B4E7-5997-4CD7-7819F50F373C}"/>
              </a:ext>
            </a:extLst>
          </p:cNvPr>
          <p:cNvGrpSpPr/>
          <p:nvPr/>
        </p:nvGrpSpPr>
        <p:grpSpPr>
          <a:xfrm>
            <a:off x="5684809" y="2069102"/>
            <a:ext cx="8255478" cy="464950"/>
            <a:chOff x="699033" y="3223647"/>
            <a:chExt cx="11835969" cy="464950"/>
          </a:xfrm>
          <a:gradFill>
            <a:gsLst>
              <a:gs pos="86000">
                <a:schemeClr val="accent1"/>
              </a:gs>
              <a:gs pos="29000">
                <a:schemeClr val="accent2"/>
              </a:gs>
            </a:gsLst>
            <a:lin ang="10800000" scaled="1"/>
          </a:gradFill>
        </p:grpSpPr>
        <p:sp>
          <p:nvSpPr>
            <p:cNvPr id="13" name="Round Same Side Corner Rectangle 12">
              <a:extLst>
                <a:ext uri="{FF2B5EF4-FFF2-40B4-BE49-F238E27FC236}">
                  <a16:creationId xmlns:a16="http://schemas.microsoft.com/office/drawing/2014/main" id="{1AB56812-5588-5D7A-CABF-EAD3FF3C94BA}"/>
                </a:ext>
              </a:extLst>
            </p:cNvPr>
            <p:cNvSpPr/>
            <p:nvPr/>
          </p:nvSpPr>
          <p:spPr>
            <a:xfrm>
              <a:off x="699033" y="3223647"/>
              <a:ext cx="3042474" cy="464950"/>
            </a:xfrm>
            <a:prstGeom prst="round2SameRect">
              <a:avLst>
                <a:gd name="adj1" fmla="val 48134"/>
                <a:gd name="adj2" fmla="val 0"/>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uk-UA"/>
            </a:p>
          </p:txBody>
        </p:sp>
        <p:sp>
          <p:nvSpPr>
            <p:cNvPr id="14" name="Round Same Side Corner Rectangle 13">
              <a:extLst>
                <a:ext uri="{FF2B5EF4-FFF2-40B4-BE49-F238E27FC236}">
                  <a16:creationId xmlns:a16="http://schemas.microsoft.com/office/drawing/2014/main" id="{F56B0A0A-6AD4-2F8B-74C4-2848E6753F38}"/>
                </a:ext>
              </a:extLst>
            </p:cNvPr>
            <p:cNvSpPr/>
            <p:nvPr/>
          </p:nvSpPr>
          <p:spPr>
            <a:xfrm>
              <a:off x="3803347" y="3223647"/>
              <a:ext cx="8731655" cy="464950"/>
            </a:xfrm>
            <a:prstGeom prst="round2SameRect">
              <a:avLst>
                <a:gd name="adj1" fmla="val 50000"/>
                <a:gd name="adj2" fmla="val 0"/>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uk-UA"/>
            </a:p>
          </p:txBody>
        </p:sp>
      </p:grpSp>
      <p:sp>
        <p:nvSpPr>
          <p:cNvPr id="10" name="TextBox 9">
            <a:extLst>
              <a:ext uri="{FF2B5EF4-FFF2-40B4-BE49-F238E27FC236}">
                <a16:creationId xmlns:a16="http://schemas.microsoft.com/office/drawing/2014/main" id="{C071322A-B04D-3340-1026-01EA9B6AE394}"/>
              </a:ext>
            </a:extLst>
          </p:cNvPr>
          <p:cNvSpPr txBox="1"/>
          <p:nvPr/>
        </p:nvSpPr>
        <p:spPr>
          <a:xfrm>
            <a:off x="6204371" y="2153076"/>
            <a:ext cx="1625882" cy="318998"/>
          </a:xfrm>
          <a:prstGeom prst="rect">
            <a:avLst/>
          </a:prstGeom>
          <a:noFill/>
        </p:spPr>
        <p:txBody>
          <a:bodyPr wrap="square">
            <a:spAutoFit/>
          </a:bodyPr>
          <a:lstStyle/>
          <a:p>
            <a:pPr>
              <a:lnSpc>
                <a:spcPct val="115000"/>
              </a:lnSpc>
              <a:spcAft>
                <a:spcPts val="1000"/>
              </a:spcAft>
              <a:buNone/>
            </a:pPr>
            <a:r>
              <a:rPr lang="en-US" sz="1400" b="1">
                <a:solidFill>
                  <a:schemeClr val="bg1"/>
                </a:solidFill>
                <a:effectLst/>
              </a:rPr>
              <a:t>Pain Point</a:t>
            </a:r>
            <a:endParaRPr lang="en-UA" sz="1400" b="1">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12" name="TextBox 11">
            <a:extLst>
              <a:ext uri="{FF2B5EF4-FFF2-40B4-BE49-F238E27FC236}">
                <a16:creationId xmlns:a16="http://schemas.microsoft.com/office/drawing/2014/main" id="{59596C9F-0506-6E50-23F1-A1B08579EE2E}"/>
              </a:ext>
            </a:extLst>
          </p:cNvPr>
          <p:cNvSpPr txBox="1"/>
          <p:nvPr/>
        </p:nvSpPr>
        <p:spPr>
          <a:xfrm>
            <a:off x="9832724" y="2141423"/>
            <a:ext cx="2223547" cy="318998"/>
          </a:xfrm>
          <a:prstGeom prst="rect">
            <a:avLst/>
          </a:prstGeom>
          <a:noFill/>
        </p:spPr>
        <p:txBody>
          <a:bodyPr wrap="square">
            <a:spAutoFit/>
          </a:bodyPr>
          <a:lstStyle/>
          <a:p>
            <a:pPr>
              <a:lnSpc>
                <a:spcPct val="115000"/>
              </a:lnSpc>
              <a:spcAft>
                <a:spcPts val="1000"/>
              </a:spcAft>
              <a:buNone/>
            </a:pPr>
            <a:r>
              <a:rPr lang="en-US" sz="1400" b="1">
                <a:solidFill>
                  <a:schemeClr val="bg1"/>
                </a:solidFill>
                <a:effectLst/>
              </a:rPr>
              <a:t>DXC Luxoft Solution</a:t>
            </a:r>
            <a:endParaRPr lang="en-UA" sz="1400" b="1">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p:txBody>
      </p:sp>
      <p:pic>
        <p:nvPicPr>
          <p:cNvPr id="17" name="Picture 24">
            <a:extLst>
              <a:ext uri="{FF2B5EF4-FFF2-40B4-BE49-F238E27FC236}">
                <a16:creationId xmlns:a16="http://schemas.microsoft.com/office/drawing/2014/main" id="{5D86E497-BD07-3790-AF63-85A480E1500D}"/>
              </a:ext>
            </a:extLst>
          </p:cNvPr>
          <p:cNvPicPr>
            <a:picLocks noChangeAspect="1"/>
          </p:cNvPicPr>
          <p:nvPr/>
        </p:nvPicPr>
        <p:blipFill rotWithShape="1">
          <a:blip r:embed="rId2">
            <a:alphaModFix amt="50000"/>
          </a:blip>
          <a:srcRect l="3" r="32955"/>
          <a:stretch/>
        </p:blipFill>
        <p:spPr>
          <a:xfrm>
            <a:off x="5360922" y="2616896"/>
            <a:ext cx="326822" cy="4396646"/>
          </a:xfrm>
          <a:prstGeom prst="rect">
            <a:avLst/>
          </a:prstGeom>
        </p:spPr>
      </p:pic>
      <p:pic>
        <p:nvPicPr>
          <p:cNvPr id="7" name="Graphic 6">
            <a:extLst>
              <a:ext uri="{FF2B5EF4-FFF2-40B4-BE49-F238E27FC236}">
                <a16:creationId xmlns:a16="http://schemas.microsoft.com/office/drawing/2014/main" id="{5C176EC7-1577-7C3F-59B4-EBA4B8D96C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7417" y="2592193"/>
            <a:ext cx="622062" cy="622062"/>
          </a:xfrm>
          <a:prstGeom prst="rect">
            <a:avLst/>
          </a:prstGeom>
        </p:spPr>
      </p:pic>
    </p:spTree>
    <p:extLst>
      <p:ext uri="{BB962C8B-B14F-4D97-AF65-F5344CB8AC3E}">
        <p14:creationId xmlns:p14="http://schemas.microsoft.com/office/powerpoint/2010/main" val="27988245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3EF5B42-0BE4-B347-D252-ED32E7547860}"/>
              </a:ext>
            </a:extLst>
          </p:cNvPr>
          <p:cNvSpPr/>
          <p:nvPr/>
        </p:nvSpPr>
        <p:spPr>
          <a:xfrm>
            <a:off x="9601200" y="2590800"/>
            <a:ext cx="4351866" cy="4064000"/>
          </a:xfrm>
          <a:prstGeom prst="rect">
            <a:avLst/>
          </a:prstGeom>
          <a:gradFill flip="none" rotWithShape="1">
            <a:gsLst>
              <a:gs pos="0">
                <a:schemeClr val="bg1">
                  <a:lumMod val="85000"/>
                  <a:alpha val="77000"/>
                </a:schemeClr>
              </a:gs>
              <a:gs pos="86000">
                <a:schemeClr val="bg1"/>
              </a:gs>
            </a:gsLst>
            <a:lin ang="540000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uk-UA"/>
          </a:p>
        </p:txBody>
      </p:sp>
      <p:sp>
        <p:nvSpPr>
          <p:cNvPr id="11" name="Rectangle 10">
            <a:extLst>
              <a:ext uri="{FF2B5EF4-FFF2-40B4-BE49-F238E27FC236}">
                <a16:creationId xmlns:a16="http://schemas.microsoft.com/office/drawing/2014/main" id="{93205162-D537-F92E-BDF4-EA44024D580E}"/>
              </a:ext>
            </a:extLst>
          </p:cNvPr>
          <p:cNvSpPr/>
          <p:nvPr/>
        </p:nvSpPr>
        <p:spPr>
          <a:xfrm>
            <a:off x="694267" y="2590800"/>
            <a:ext cx="8365066" cy="4064000"/>
          </a:xfrm>
          <a:prstGeom prst="rect">
            <a:avLst/>
          </a:prstGeom>
          <a:gradFill flip="none" rotWithShape="1">
            <a:gsLst>
              <a:gs pos="0">
                <a:schemeClr val="bg1">
                  <a:lumMod val="85000"/>
                  <a:alpha val="77000"/>
                </a:schemeClr>
              </a:gs>
              <a:gs pos="86000">
                <a:schemeClr val="bg1"/>
              </a:gs>
            </a:gsLst>
            <a:lin ang="540000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a:extLst>
              <a:ext uri="{FF2B5EF4-FFF2-40B4-BE49-F238E27FC236}">
                <a16:creationId xmlns:a16="http://schemas.microsoft.com/office/drawing/2014/main" id="{92B0B7FA-DE1F-C2E2-1514-4918B9F1EA79}"/>
              </a:ext>
            </a:extLst>
          </p:cNvPr>
          <p:cNvSpPr>
            <a:spLocks noGrp="1"/>
          </p:cNvSpPr>
          <p:nvPr>
            <p:ph type="title"/>
          </p:nvPr>
        </p:nvSpPr>
        <p:spPr/>
        <p:txBody>
          <a:bodyPr/>
          <a:lstStyle/>
          <a:p>
            <a:r>
              <a:rPr lang="en-US"/>
              <a:t>Trade Finance Transformation Proposal for SCB</a:t>
            </a:r>
            <a:br>
              <a:rPr lang="en-US"/>
            </a:br>
            <a:endParaRPr lang="uk-UA"/>
          </a:p>
        </p:txBody>
      </p:sp>
      <p:sp>
        <p:nvSpPr>
          <p:cNvPr id="7" name="Rectangle 1">
            <a:extLst>
              <a:ext uri="{FF2B5EF4-FFF2-40B4-BE49-F238E27FC236}">
                <a16:creationId xmlns:a16="http://schemas.microsoft.com/office/drawing/2014/main" id="{305BAE21-421D-4DA8-5A7B-986D0CE57FD0}"/>
              </a:ext>
            </a:extLst>
          </p:cNvPr>
          <p:cNvSpPr>
            <a:spLocks noChangeArrowheads="1"/>
          </p:cNvSpPr>
          <p:nvPr/>
        </p:nvSpPr>
        <p:spPr bwMode="auto">
          <a:xfrm>
            <a:off x="930166" y="2628671"/>
            <a:ext cx="8067590" cy="3970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4704" rIns="91440" bIns="45720" numCol="1" anchor="t" anchorCtr="0" compatLnSpc="1">
            <a:prstTxWarp prst="textNoShape">
              <a:avLst/>
            </a:prstTxWarp>
            <a:spAutoFit/>
          </a:bodyPr>
          <a:lstStyle/>
          <a:p>
            <a:pPr>
              <a:spcAft>
                <a:spcPts val="900"/>
              </a:spcAft>
              <a:buNone/>
            </a:pPr>
            <a:r>
              <a:rPr lang="en-US" sz="1600" b="1">
                <a:solidFill>
                  <a:schemeClr val="accent1"/>
                </a:solidFill>
                <a:effectLst/>
                <a:latin typeface="Arial" panose="020B0604020202020204" pitchFamily="34" charset="0"/>
                <a:ea typeface="MS Mincho" panose="02020609040205080304" pitchFamily="49" charset="-128"/>
                <a:cs typeface="Arial" panose="020B0604020202020204" pitchFamily="34" charset="0"/>
              </a:rPr>
              <a:t>Proven Track Record</a:t>
            </a:r>
            <a:endParaRPr lang="en-UA" sz="1600" b="1">
              <a:solidFill>
                <a:schemeClr val="accent1"/>
              </a:solidFill>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Delivered full-scale Trade Finance transformation at leading Australian Bank over 4.5 years</a:t>
            </a:r>
            <a:endParaRPr lang="uk-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Supported end-to-end lifecycle across LCs, BGs, Documentary Collections, Open Account and Financing.</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Bench-ready senior Java and Trade Finance BA + QA resources readily deployable</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Tailored and Scalable Solutions</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Six-pillar TOM expertise: Process, People, Technology, Data, Governance, and Customer Experience</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Ready-to-deploy accelerators: </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358775" lvl="0" indent="-179388">
              <a:spcAft>
                <a:spcPts val="900"/>
              </a:spcAft>
              <a:buClr>
                <a:schemeClr val="bg1">
                  <a:lumMod val="75000"/>
                </a:schemeClr>
              </a:buClr>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Pre-built, detailed questionnaires covering all Trade Finance products to efficiently capture and document the </a:t>
            </a:r>
            <a:r>
              <a:rPr lang="en-US" sz="1200" b="1">
                <a:effectLst/>
                <a:latin typeface="Arial" panose="020B0604020202020204" pitchFamily="34" charset="0"/>
                <a:ea typeface="MS Mincho" panose="02020609040205080304" pitchFamily="49" charset="-128"/>
                <a:cs typeface="Arial" panose="020B0604020202020204" pitchFamily="34" charset="0"/>
              </a:rPr>
              <a:t>AS-IS processes</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358775" lvl="0" indent="-179388">
              <a:spcAft>
                <a:spcPts val="900"/>
              </a:spcAft>
              <a:buClr>
                <a:schemeClr val="bg1">
                  <a:lumMod val="75000"/>
                </a:schemeClr>
              </a:buClr>
              <a:buFont typeface="Arial" panose="020B0604020202020204" pitchFamily="34" charset="0"/>
              <a:buChar char="•"/>
            </a:pPr>
            <a:r>
              <a:rPr lang="en-US" sz="1200">
                <a:effectLst/>
                <a:latin typeface="Arial" panose="020B0604020202020204" pitchFamily="34" charset="0"/>
                <a:ea typeface="MS Mincho" panose="02020609040205080304" pitchFamily="49" charset="-128"/>
                <a:cs typeface="Arial" panose="020B0604020202020204" pitchFamily="34" charset="0"/>
              </a:rPr>
              <a:t>Customizable </a:t>
            </a:r>
            <a:r>
              <a:rPr lang="en-US" sz="1200" b="1">
                <a:effectLst/>
                <a:latin typeface="Arial" panose="020B0604020202020204" pitchFamily="34" charset="0"/>
                <a:ea typeface="MS Mincho" panose="02020609040205080304" pitchFamily="49" charset="-128"/>
                <a:cs typeface="Arial" panose="020B0604020202020204" pitchFamily="34" charset="0"/>
              </a:rPr>
              <a:t>Business Requirements Documents (BRDs)</a:t>
            </a:r>
            <a:r>
              <a:rPr lang="en-US" sz="1200">
                <a:effectLst/>
                <a:latin typeface="Arial" panose="020B0604020202020204" pitchFamily="34" charset="0"/>
                <a:ea typeface="MS Mincho" panose="02020609040205080304" pitchFamily="49" charset="-128"/>
                <a:cs typeface="Arial" panose="020B0604020202020204" pitchFamily="34" charset="0"/>
              </a:rPr>
              <a:t> for each product type, easily adaptable to align with the bank’s specific needs</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358775" lvl="0" indent="-179388">
              <a:spcAft>
                <a:spcPts val="900"/>
              </a:spcAft>
              <a:buClr>
                <a:schemeClr val="bg1">
                  <a:lumMod val="75000"/>
                </a:schemeClr>
              </a:buClr>
              <a:buFont typeface="Arial" panose="020B0604020202020204" pitchFamily="34" charset="0"/>
              <a:buChar char="•"/>
            </a:pPr>
            <a:r>
              <a:rPr lang="en-US" sz="1200" b="1">
                <a:effectLst/>
                <a:latin typeface="Arial" panose="020B0604020202020204" pitchFamily="34" charset="0"/>
                <a:ea typeface="MS Mincho" panose="02020609040205080304" pitchFamily="49" charset="-128"/>
                <a:cs typeface="Arial" panose="020B0604020202020204" pitchFamily="34" charset="0"/>
              </a:rPr>
              <a:t>Reusable IMEX transition guides</a:t>
            </a:r>
            <a:r>
              <a:rPr lang="en-US" sz="1200">
                <a:effectLst/>
                <a:latin typeface="Arial" panose="020B0604020202020204" pitchFamily="34" charset="0"/>
                <a:ea typeface="MS Mincho" panose="02020609040205080304" pitchFamily="49" charset="-128"/>
                <a:cs typeface="Arial" panose="020B0604020202020204" pitchFamily="34" charset="0"/>
              </a:rPr>
              <a:t> to streamline migration planning and execution</a:t>
            </a:r>
            <a:endParaRPr lang="en-UA" sz="1200">
              <a:effectLst/>
              <a:latin typeface="Arial" panose="020B0604020202020204" pitchFamily="34" charset="0"/>
              <a:ea typeface="MS Mincho" panose="02020609040205080304" pitchFamily="49" charset="-128"/>
              <a:cs typeface="Arial" panose="020B0604020202020204" pitchFamily="34" charset="0"/>
            </a:endParaRPr>
          </a:p>
          <a:p>
            <a:pPr marL="171450" indent="-171450">
              <a:spcAft>
                <a:spcPts val="900"/>
              </a:spcAft>
              <a:buFont typeface="Arial" panose="020B0604020202020204" pitchFamily="34" charset="0"/>
              <a:buChar char="•"/>
            </a:pPr>
            <a:r>
              <a:rPr lang="en-US" sz="1200">
                <a:latin typeface="Arial" panose="020B0604020202020204" pitchFamily="34" charset="0"/>
                <a:ea typeface="MS Mincho" panose="02020609040205080304" pitchFamily="49" charset="-128"/>
                <a:cs typeface="Arial" panose="020B0604020202020204" pitchFamily="34" charset="0"/>
              </a:rPr>
              <a:t>Deep experience with SCB and similar global banks ensures cultural and functional alignment</a:t>
            </a:r>
            <a:endParaRPr lang="en-UA" sz="1200">
              <a:latin typeface="Arial" panose="020B0604020202020204" pitchFamily="34" charset="0"/>
              <a:ea typeface="MS Mincho" panose="02020609040205080304" pitchFamily="49" charset="-128"/>
              <a:cs typeface="Arial" panose="020B0604020202020204" pitchFamily="34" charset="0"/>
            </a:endParaRPr>
          </a:p>
        </p:txBody>
      </p:sp>
      <p:grpSp>
        <p:nvGrpSpPr>
          <p:cNvPr id="16" name="Group 15">
            <a:extLst>
              <a:ext uri="{FF2B5EF4-FFF2-40B4-BE49-F238E27FC236}">
                <a16:creationId xmlns:a16="http://schemas.microsoft.com/office/drawing/2014/main" id="{945A08E5-288D-6542-6893-F6B92F4928AC}"/>
              </a:ext>
            </a:extLst>
          </p:cNvPr>
          <p:cNvGrpSpPr/>
          <p:nvPr/>
        </p:nvGrpSpPr>
        <p:grpSpPr>
          <a:xfrm>
            <a:off x="685799" y="2057401"/>
            <a:ext cx="13258800" cy="635000"/>
            <a:chOff x="685799" y="2057401"/>
            <a:chExt cx="13258800" cy="635000"/>
          </a:xfrm>
          <a:gradFill>
            <a:gsLst>
              <a:gs pos="0">
                <a:schemeClr val="accent2"/>
              </a:gs>
              <a:gs pos="86000">
                <a:schemeClr val="accent1"/>
              </a:gs>
            </a:gsLst>
            <a:lin ang="10800000" scaled="1"/>
          </a:gradFill>
        </p:grpSpPr>
        <p:sp>
          <p:nvSpPr>
            <p:cNvPr id="8" name="Round Single Corner Rectangle 7">
              <a:extLst>
                <a:ext uri="{FF2B5EF4-FFF2-40B4-BE49-F238E27FC236}">
                  <a16:creationId xmlns:a16="http://schemas.microsoft.com/office/drawing/2014/main" id="{0AFC6949-5F5C-8A47-E004-B93B1DE715CF}"/>
                </a:ext>
              </a:extLst>
            </p:cNvPr>
            <p:cNvSpPr/>
            <p:nvPr/>
          </p:nvSpPr>
          <p:spPr>
            <a:xfrm>
              <a:off x="685799" y="2057401"/>
              <a:ext cx="8373533" cy="635000"/>
            </a:xfrm>
            <a:prstGeom prst="round1Rect">
              <a:avLst>
                <a:gd name="adj" fmla="val 50000"/>
              </a:avLst>
            </a:prstGeom>
            <a:grpFill/>
            <a:ln>
              <a:noFill/>
            </a:ln>
          </p:spPr>
          <p:style>
            <a:lnRef idx="0">
              <a:schemeClr val="accent1"/>
            </a:lnRef>
            <a:fillRef idx="1">
              <a:schemeClr val="accent1"/>
            </a:fillRef>
            <a:effectRef idx="0">
              <a:schemeClr val="accent1"/>
            </a:effectRef>
            <a:fontRef idx="minor">
              <a:schemeClr val="lt1"/>
            </a:fontRef>
          </p:style>
          <p:txBody>
            <a:bodyPr lIns="648000" rtlCol="0" anchor="ctr"/>
            <a:lstStyle/>
            <a:p>
              <a:pPr marR="0" lvl="0" indent="266700" algn="l" defTabSz="914400" rtl="0" eaLnBrk="0" fontAlgn="base" latinLnBrk="0" hangingPunct="0">
                <a:lnSpc>
                  <a:spcPct val="100000"/>
                </a:lnSpc>
                <a:spcBef>
                  <a:spcPct val="0"/>
                </a:spcBef>
                <a:spcAft>
                  <a:spcPts val="600"/>
                </a:spcAft>
                <a:buClrTx/>
                <a:buSzTx/>
                <a:buFontTx/>
                <a:buNone/>
              </a:pPr>
              <a:r>
                <a:rPr kumimoji="0" lang="en-US" altLang="en-UA" sz="1800" b="1" i="0" u="none" strike="noStrike" cap="none" normalizeH="0" baseline="0">
                  <a:ln>
                    <a:noFill/>
                  </a:ln>
                  <a:solidFill>
                    <a:schemeClr val="bg1"/>
                  </a:solidFill>
                  <a:effectLst/>
                  <a:latin typeface="Arial" panose="020B0604020202020204" pitchFamily="34" charset="0"/>
                  <a:ea typeface="MS Gothic" panose="020B0609070205080204" pitchFamily="49" charset="-128"/>
                  <a:cs typeface="Arial" panose="020B0604020202020204" pitchFamily="34" charset="0"/>
                </a:rPr>
                <a:t>Why DXC Luxoft</a:t>
              </a:r>
            </a:p>
          </p:txBody>
        </p:sp>
        <p:sp>
          <p:nvSpPr>
            <p:cNvPr id="9" name="Round Single Corner Rectangle 8">
              <a:extLst>
                <a:ext uri="{FF2B5EF4-FFF2-40B4-BE49-F238E27FC236}">
                  <a16:creationId xmlns:a16="http://schemas.microsoft.com/office/drawing/2014/main" id="{779C76C1-9857-0963-2303-80F6219E21AC}"/>
                </a:ext>
              </a:extLst>
            </p:cNvPr>
            <p:cNvSpPr/>
            <p:nvPr/>
          </p:nvSpPr>
          <p:spPr>
            <a:xfrm>
              <a:off x="9601200" y="2057401"/>
              <a:ext cx="4343399" cy="635000"/>
            </a:xfrm>
            <a:prstGeom prst="round1Rect">
              <a:avLst>
                <a:gd name="adj" fmla="val 50000"/>
              </a:avLst>
            </a:prstGeom>
            <a:grpFill/>
            <a:ln>
              <a:noFill/>
            </a:ln>
          </p:spPr>
          <p:style>
            <a:lnRef idx="0">
              <a:schemeClr val="accent1"/>
            </a:lnRef>
            <a:fillRef idx="1">
              <a:schemeClr val="accent1"/>
            </a:fillRef>
            <a:effectRef idx="0">
              <a:schemeClr val="accent1"/>
            </a:effectRef>
            <a:fontRef idx="minor">
              <a:schemeClr val="lt1"/>
            </a:fontRef>
          </p:style>
          <p:txBody>
            <a:bodyPr lIns="648000" rtlCol="0" anchor="ctr"/>
            <a:lstStyle/>
            <a:p>
              <a:pPr indent="266700" defTabSz="914400" eaLnBrk="0" fontAlgn="base" hangingPunct="0">
                <a:spcBef>
                  <a:spcPct val="0"/>
                </a:spcBef>
                <a:spcAft>
                  <a:spcPts val="600"/>
                </a:spcAft>
              </a:pPr>
              <a:r>
                <a:rPr lang="en-US" sz="1800" b="1">
                  <a:solidFill>
                    <a:schemeClr val="bg1"/>
                  </a:solidFill>
                  <a:latin typeface="Arial" panose="020B0604020202020204" pitchFamily="34" charset="0"/>
                  <a:ea typeface="MS Gothic" panose="020B0609070205080204" pitchFamily="49" charset="-128"/>
                  <a:cs typeface="Arial" panose="020B0604020202020204" pitchFamily="34" charset="0"/>
                </a:rPr>
                <a:t>Engagement Models</a:t>
              </a:r>
              <a:endParaRPr lang="en-UA" sz="1800" b="1">
                <a:solidFill>
                  <a:schemeClr val="bg1"/>
                </a:solidFill>
                <a:latin typeface="Arial" panose="020B0604020202020204" pitchFamily="34" charset="0"/>
                <a:ea typeface="MS Gothic" panose="020B0609070205080204" pitchFamily="49" charset="-128"/>
                <a:cs typeface="Arial" panose="020B0604020202020204" pitchFamily="34" charset="0"/>
              </a:endParaRPr>
            </a:p>
          </p:txBody>
        </p:sp>
      </p:grpSp>
      <p:pic>
        <p:nvPicPr>
          <p:cNvPr id="13" name="Picture 24">
            <a:extLst>
              <a:ext uri="{FF2B5EF4-FFF2-40B4-BE49-F238E27FC236}">
                <a16:creationId xmlns:a16="http://schemas.microsoft.com/office/drawing/2014/main" id="{534413BD-D8D1-F3DA-696E-99BCF21BCB82}"/>
              </a:ext>
            </a:extLst>
          </p:cNvPr>
          <p:cNvPicPr>
            <a:picLocks noChangeAspect="1"/>
          </p:cNvPicPr>
          <p:nvPr/>
        </p:nvPicPr>
        <p:blipFill rotWithShape="1">
          <a:blip r:embed="rId2">
            <a:alphaModFix amt="50000"/>
          </a:blip>
          <a:srcRect l="3" r="32955"/>
          <a:stretch/>
        </p:blipFill>
        <p:spPr>
          <a:xfrm>
            <a:off x="366239" y="2041162"/>
            <a:ext cx="326822" cy="4396646"/>
          </a:xfrm>
          <a:prstGeom prst="rect">
            <a:avLst/>
          </a:prstGeom>
        </p:spPr>
      </p:pic>
      <p:pic>
        <p:nvPicPr>
          <p:cNvPr id="14" name="Picture 24">
            <a:extLst>
              <a:ext uri="{FF2B5EF4-FFF2-40B4-BE49-F238E27FC236}">
                <a16:creationId xmlns:a16="http://schemas.microsoft.com/office/drawing/2014/main" id="{550DB1C4-C7BA-26BF-103D-289E18BB3B5D}"/>
              </a:ext>
            </a:extLst>
          </p:cNvPr>
          <p:cNvPicPr>
            <a:picLocks noChangeAspect="1"/>
          </p:cNvPicPr>
          <p:nvPr/>
        </p:nvPicPr>
        <p:blipFill rotWithShape="1">
          <a:blip r:embed="rId2">
            <a:alphaModFix amt="50000"/>
          </a:blip>
          <a:srcRect l="3" r="32955"/>
          <a:stretch/>
        </p:blipFill>
        <p:spPr>
          <a:xfrm>
            <a:off x="9274563" y="2041162"/>
            <a:ext cx="326822" cy="4396646"/>
          </a:xfrm>
          <a:prstGeom prst="rect">
            <a:avLst/>
          </a:prstGeom>
        </p:spPr>
      </p:pic>
      <p:sp>
        <p:nvSpPr>
          <p:cNvPr id="15" name="Rectangle 1">
            <a:extLst>
              <a:ext uri="{FF2B5EF4-FFF2-40B4-BE49-F238E27FC236}">
                <a16:creationId xmlns:a16="http://schemas.microsoft.com/office/drawing/2014/main" id="{658586E8-8D35-7351-DE81-5A9635B90FCD}"/>
              </a:ext>
            </a:extLst>
          </p:cNvPr>
          <p:cNvSpPr>
            <a:spLocks noChangeArrowheads="1"/>
          </p:cNvSpPr>
          <p:nvPr/>
        </p:nvSpPr>
        <p:spPr bwMode="auto">
          <a:xfrm>
            <a:off x="9852494" y="2614816"/>
            <a:ext cx="3766525" cy="199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4704" rIns="91440" bIns="45720" numCol="1" anchor="t" anchorCtr="0" compatLnSpc="1">
            <a:prstTxWarp prst="textNoShape">
              <a:avLst/>
            </a:prstTxWarp>
            <a:spAutoFit/>
          </a:bodyPr>
          <a:lstStyle/>
          <a:p>
            <a:pPr marL="171450" indent="-171450">
              <a:lnSpc>
                <a:spcPct val="115000"/>
              </a:lnSpc>
              <a:spcAft>
                <a:spcPts val="1500"/>
              </a:spcAft>
              <a:buFont typeface="Arial" panose="020B0604020202020204" pitchFamily="34" charset="0"/>
              <a:buChar char="•"/>
            </a:pPr>
            <a:r>
              <a:rPr lang="en-US" sz="1200" b="1">
                <a:latin typeface="Arial" panose="020B0604020202020204" pitchFamily="34" charset="0"/>
                <a:ea typeface="MS Mincho" panose="02020609040205080304" pitchFamily="49" charset="-128"/>
                <a:cs typeface="Arial" panose="020B0604020202020204" pitchFamily="34" charset="0"/>
              </a:rPr>
              <a:t>Fixed Bid Pods: </a:t>
            </a:r>
            <a:r>
              <a:rPr lang="en-US" sz="1200">
                <a:latin typeface="Arial" panose="020B0604020202020204" pitchFamily="34" charset="0"/>
                <a:ea typeface="MS Mincho" panose="02020609040205080304" pitchFamily="49" charset="-128"/>
                <a:cs typeface="Arial" panose="020B0604020202020204" pitchFamily="34" charset="0"/>
              </a:rPr>
              <a:t>For documentation, migration, and mapping workstreams</a:t>
            </a:r>
            <a:endParaRPr lang="uk-UA" sz="1200">
              <a:latin typeface="Arial" panose="020B0604020202020204" pitchFamily="34" charset="0"/>
              <a:ea typeface="MS Mincho" panose="02020609040205080304" pitchFamily="49" charset="-128"/>
              <a:cs typeface="Arial" panose="020B0604020202020204" pitchFamily="34" charset="0"/>
            </a:endParaRPr>
          </a:p>
          <a:p>
            <a:pPr marL="171450" indent="-171450">
              <a:lnSpc>
                <a:spcPct val="115000"/>
              </a:lnSpc>
              <a:spcAft>
                <a:spcPts val="1500"/>
              </a:spcAft>
              <a:buFont typeface="Arial" panose="020B0604020202020204" pitchFamily="34" charset="0"/>
              <a:buChar char="•"/>
            </a:pPr>
            <a:r>
              <a:rPr lang="en-US" sz="1200" b="1">
                <a:latin typeface="Arial" panose="020B0604020202020204" pitchFamily="34" charset="0"/>
                <a:ea typeface="MS Mincho" panose="02020609040205080304" pitchFamily="49" charset="-128"/>
                <a:cs typeface="Arial" panose="020B0604020202020204" pitchFamily="34" charset="0"/>
              </a:rPr>
              <a:t>T&amp;M Onshore/Offshore: </a:t>
            </a:r>
            <a:r>
              <a:rPr lang="en-US" sz="1200">
                <a:latin typeface="Arial" panose="020B0604020202020204" pitchFamily="34" charset="0"/>
                <a:ea typeface="MS Mincho" panose="02020609040205080304" pitchFamily="49" charset="-128"/>
                <a:cs typeface="Arial" panose="020B0604020202020204" pitchFamily="34" charset="0"/>
              </a:rPr>
              <a:t>Quick ramp-up of BA/Tech resources for urgent needs</a:t>
            </a:r>
            <a:endParaRPr lang="uk-UA" sz="1200">
              <a:latin typeface="Arial" panose="020B0604020202020204" pitchFamily="34" charset="0"/>
              <a:ea typeface="MS Mincho" panose="02020609040205080304" pitchFamily="49" charset="-128"/>
              <a:cs typeface="Arial" panose="020B0604020202020204" pitchFamily="34" charset="0"/>
            </a:endParaRPr>
          </a:p>
          <a:p>
            <a:pPr marL="171450" indent="-171450">
              <a:lnSpc>
                <a:spcPct val="115000"/>
              </a:lnSpc>
              <a:spcAft>
                <a:spcPts val="1500"/>
              </a:spcAft>
              <a:buFont typeface="Arial" panose="020B0604020202020204" pitchFamily="34" charset="0"/>
              <a:buChar char="•"/>
            </a:pPr>
            <a:r>
              <a:rPr lang="en-US" sz="1200" b="1">
                <a:latin typeface="Arial" panose="020B0604020202020204" pitchFamily="34" charset="0"/>
                <a:ea typeface="MS Mincho" panose="02020609040205080304" pitchFamily="49" charset="-128"/>
                <a:cs typeface="Arial" panose="020B0604020202020204" pitchFamily="34" charset="0"/>
              </a:rPr>
              <a:t>Hybrid Model: </a:t>
            </a:r>
            <a:r>
              <a:rPr lang="en-US" sz="1200">
                <a:latin typeface="Arial" panose="020B0604020202020204" pitchFamily="34" charset="0"/>
                <a:ea typeface="MS Mincho" panose="02020609040205080304" pitchFamily="49" charset="-128"/>
                <a:cs typeface="Arial" panose="020B0604020202020204" pitchFamily="34" charset="0"/>
              </a:rPr>
              <a:t>Combined governance, flexible bandwidth, centralized coordination</a:t>
            </a:r>
            <a:endParaRPr lang="en-UA" sz="1200">
              <a:latin typeface="Arial" panose="020B0604020202020204" pitchFamily="34" charset="0"/>
              <a:ea typeface="MS Mincho" panose="02020609040205080304" pitchFamily="49" charset="-128"/>
              <a:cs typeface="Arial" panose="020B0604020202020204" pitchFamily="34" charset="0"/>
            </a:endParaRPr>
          </a:p>
        </p:txBody>
      </p:sp>
      <p:pic>
        <p:nvPicPr>
          <p:cNvPr id="17" name="Graphic 16">
            <a:extLst>
              <a:ext uri="{FF2B5EF4-FFF2-40B4-BE49-F238E27FC236}">
                <a16:creationId xmlns:a16="http://schemas.microsoft.com/office/drawing/2014/main" id="{77206824-893A-E7AE-3F30-20E0864523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2030" y="2201156"/>
            <a:ext cx="365190" cy="365190"/>
          </a:xfrm>
          <a:prstGeom prst="rect">
            <a:avLst/>
          </a:prstGeom>
        </p:spPr>
      </p:pic>
      <p:pic>
        <p:nvPicPr>
          <p:cNvPr id="18" name="Graphic 67">
            <a:extLst>
              <a:ext uri="{FF2B5EF4-FFF2-40B4-BE49-F238E27FC236}">
                <a16:creationId xmlns:a16="http://schemas.microsoft.com/office/drawing/2014/main" id="{C4C8399A-477C-9C13-D819-75C0AA0916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4151" y="2235059"/>
            <a:ext cx="487519" cy="325013"/>
          </a:xfrm>
          <a:prstGeom prst="rect">
            <a:avLst/>
          </a:prstGeom>
        </p:spPr>
      </p:pic>
    </p:spTree>
    <p:extLst>
      <p:ext uri="{BB962C8B-B14F-4D97-AF65-F5344CB8AC3E}">
        <p14:creationId xmlns:p14="http://schemas.microsoft.com/office/powerpoint/2010/main" val="89050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DXC_Presentation Template_Jan 2024" id="{175ED056-3145-48F3-B79C-B4F290C46059}" vid="{DC240162-D6B4-46BE-A6E2-DC98C4599F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DXC</Template>
  <TotalTime>1086</TotalTime>
  <Words>513</Words>
  <Application>Microsoft Macintosh PowerPoint</Application>
  <PresentationFormat>Custom</PresentationFormat>
  <Paragraphs>31</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Cambria</vt:lpstr>
      <vt:lpstr>DXC</vt:lpstr>
      <vt:lpstr>Trade Finance Transformation Proposal for SCB </vt:lpstr>
      <vt:lpstr>Trade Finance Transformation Proposal for SCB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Angelina Slatina</dc:creator>
  <cp:keywords/>
  <dc:description/>
  <cp:lastModifiedBy>Angelina Slatina</cp:lastModifiedBy>
  <cp:revision>3</cp:revision>
  <dcterms:created xsi:type="dcterms:W3CDTF">2025-05-06T15:55:10Z</dcterms:created>
  <dcterms:modified xsi:type="dcterms:W3CDTF">2025-05-07T10:01:54Z</dcterms:modified>
  <cp:category/>
</cp:coreProperties>
</file>