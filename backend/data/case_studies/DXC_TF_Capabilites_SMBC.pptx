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1" r:id="rId4"/>
    <p:sldMasterId id="2147483893" r:id="rId5"/>
  </p:sldMasterIdLst>
  <p:notesMasterIdLst>
    <p:notesMasterId r:id="rId15"/>
  </p:notesMasterIdLst>
  <p:handoutMasterIdLst>
    <p:handoutMasterId r:id="rId16"/>
  </p:handoutMasterIdLst>
  <p:sldIdLst>
    <p:sldId id="2147483128" r:id="rId6"/>
    <p:sldId id="2147374913" r:id="rId7"/>
    <p:sldId id="2147471508" r:id="rId8"/>
    <p:sldId id="4425" r:id="rId9"/>
    <p:sldId id="2147483134" r:id="rId10"/>
    <p:sldId id="2147471509" r:id="rId11"/>
    <p:sldId id="2147471506" r:id="rId12"/>
    <p:sldId id="2147471503" r:id="rId13"/>
    <p:sldId id="2147483126" r:id="rId14"/>
  </p:sldIdLst>
  <p:sldSz cx="14630400" cy="8229600"/>
  <p:notesSz cx="7772400" cy="14173200"/>
  <p:defaultTextStyle>
    <a:defPPr>
      <a:defRPr lang="en-US"/>
    </a:defPPr>
    <a:lvl1pPr marL="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12" userDrawn="1">
          <p15:clr>
            <a:srgbClr val="A4A3A4"/>
          </p15:clr>
        </p15:guide>
        <p15:guide id="4" orient="horz" pos="4928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331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08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  <p15:guide id="15" orient="horz" pos="1004" userDrawn="1">
          <p15:clr>
            <a:srgbClr val="A4A3A4"/>
          </p15:clr>
        </p15:guide>
        <p15:guide id="16" orient="horz" pos="154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464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6"/>
    <a:srgbClr val="D1EBEB"/>
    <a:srgbClr val="EEE4F9"/>
    <a:srgbClr val="969696"/>
    <a:srgbClr val="63666A"/>
    <a:srgbClr val="F9F048"/>
    <a:srgbClr val="FFCD00"/>
    <a:srgbClr val="D9DF23"/>
    <a:srgbClr val="666666"/>
    <a:srgbClr val="3300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58"/>
  </p:normalViewPr>
  <p:slideViewPr>
    <p:cSldViewPr snapToGrid="0">
      <p:cViewPr varScale="1">
        <p:scale>
          <a:sx n="100" d="100"/>
          <a:sy n="100" d="100"/>
        </p:scale>
        <p:origin x="776" y="136"/>
      </p:cViewPr>
      <p:guideLst>
        <p:guide orient="horz" pos="408"/>
        <p:guide orient="horz" pos="2592"/>
        <p:guide orient="horz" pos="4512"/>
        <p:guide orient="horz" pos="4928"/>
        <p:guide pos="7488"/>
        <p:guide pos="432"/>
        <p:guide pos="3024"/>
        <p:guide pos="3312"/>
        <p:guide pos="4464"/>
        <p:guide pos="4608"/>
        <p:guide pos="4752"/>
        <p:guide pos="5904"/>
        <p:guide pos="6192"/>
        <p:guide pos="8784"/>
        <p:guide orient="horz" pos="1004"/>
        <p:guide orient="horz" pos="154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464"/>
        <p:guide pos="24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/>
            </a:lvl1pPr>
          </a:lstStyle>
          <a:p>
            <a:endParaRPr lang="en-US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38200" y="1062038"/>
            <a:ext cx="9448800" cy="53149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5401" tIns="62700" rIns="125401" bIns="6270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1800" y="6732270"/>
            <a:ext cx="6908800" cy="637794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l">
              <a:defRPr sz="16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561" y="13462080"/>
            <a:ext cx="3368040" cy="708660"/>
          </a:xfrm>
          <a:prstGeom prst="rect">
            <a:avLst/>
          </a:prstGeom>
        </p:spPr>
        <p:txBody>
          <a:bodyPr vert="horz" lIns="125401" tIns="62700" rIns="125401" bIns="62700" rtlCol="0" anchor="b"/>
          <a:lstStyle>
            <a:lvl1pPr algn="r">
              <a:defRPr sz="16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0050" y="387350"/>
            <a:ext cx="4651375" cy="26162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FEAE42-E3FE-4405-B7FC-4425D05B92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10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0801-443E-1304-E91F-EDC7D009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CE24D-3F5D-8032-A3AD-E8C706829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591C9-D548-A729-E1F3-40FEDE5B0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64BD-B2FD-5258-BB74-F23C0E024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0345E0-F5A9-5942-97FA-992841B6B1C3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46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liver Excellenc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6B86D8E4-D42C-4BA4-8C3D-EE6E0354EA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77" y="0"/>
            <a:ext cx="14626846" cy="8229600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0131F459-E553-4CE6-92F0-91E2F09BA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1" y="2781300"/>
            <a:ext cx="4858326" cy="2545080"/>
          </a:xfrm>
        </p:spPr>
        <p:txBody>
          <a:bodyPr anchor="ctr" anchorCtr="0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8" name="Subtitle 2">
            <a:extLst>
              <a:ext uri="{FF2B5EF4-FFF2-40B4-BE49-F238E27FC236}">
                <a16:creationId xmlns:a16="http://schemas.microsoft.com/office/drawing/2014/main" id="{00FE735E-E3CF-4086-AF37-051864E15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494020"/>
            <a:ext cx="4858326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9D14CA-575C-EA7D-BE23-67723D5954E2}"/>
              </a:ext>
            </a:extLst>
          </p:cNvPr>
          <p:cNvSpPr txBox="1">
            <a:spLocks/>
          </p:cNvSpPr>
          <p:nvPr userDrawn="1"/>
        </p:nvSpPr>
        <p:spPr>
          <a:xfrm>
            <a:off x="6678651" y="7813964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2025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1FE25F-E728-2B1E-2306-58B900665D7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1564" y="7813964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4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Purple Tab Shap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6629396" cy="4996181"/>
          </a:xfrm>
          <a:prstGeom prst="round1Rect">
            <a:avLst>
              <a:gd name="adj" fmla="val 1818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3105150"/>
            <a:ext cx="5609471" cy="2066925"/>
          </a:xfrm>
        </p:spPr>
        <p:txBody>
          <a:bodyPr anchor="ctr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513070"/>
            <a:ext cx="560947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599529D-40A1-0E76-7D85-B0D6B82DA4B6}"/>
              </a:ext>
            </a:extLst>
          </p:cNvPr>
          <p:cNvSpPr txBox="1">
            <a:spLocks/>
          </p:cNvSpPr>
          <p:nvPr userDrawn="1"/>
        </p:nvSpPr>
        <p:spPr>
          <a:xfrm>
            <a:off x="8146473" y="777240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2025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233A990-FAC3-E23D-F0E9-2EB8AB283C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067" y="7842093"/>
            <a:ext cx="2286000" cy="2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5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urple Tab Shape 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2" y="2539999"/>
            <a:ext cx="8869678" cy="4996181"/>
          </a:xfrm>
          <a:prstGeom prst="round1Rect">
            <a:avLst>
              <a:gd name="adj" fmla="val 2252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3105150"/>
            <a:ext cx="7353431" cy="225636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1" y="5741670"/>
            <a:ext cx="735343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B4FEDAD-D9AC-5055-EC0B-C2C18EDCB1A5}"/>
              </a:ext>
            </a:extLst>
          </p:cNvPr>
          <p:cNvSpPr txBox="1">
            <a:spLocks/>
          </p:cNvSpPr>
          <p:nvPr userDrawn="1"/>
        </p:nvSpPr>
        <p:spPr>
          <a:xfrm>
            <a:off x="685779" y="7631841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2025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0C03-A083-F544-470A-AB88CFD9A30E}"/>
              </a:ext>
            </a:extLst>
          </p:cNvPr>
          <p:cNvSpPr txBox="1"/>
          <p:nvPr userDrawn="1"/>
        </p:nvSpPr>
        <p:spPr>
          <a:xfrm>
            <a:off x="688976" y="7947685"/>
            <a:ext cx="235457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1"/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377266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urple Tab Shape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2C9C6690-9226-4F0C-A542-C330AFCC2AF3}"/>
              </a:ext>
            </a:extLst>
          </p:cNvPr>
          <p:cNvSpPr/>
          <p:nvPr userDrawn="1"/>
        </p:nvSpPr>
        <p:spPr>
          <a:xfrm>
            <a:off x="685800" y="2057400"/>
            <a:ext cx="11201400" cy="3200400"/>
          </a:xfrm>
          <a:prstGeom prst="round1Rect">
            <a:avLst>
              <a:gd name="adj" fmla="val 28348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32FF021F-9D63-4AEC-B29B-F9D3753BE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399" y="2057401"/>
            <a:ext cx="9931400" cy="3181087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D9BF61BC-E8BB-4C55-B47E-8C398FC20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399" y="5678701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07C659E-3F10-46E2-9676-61137FD93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975" y="685801"/>
            <a:ext cx="1430092" cy="78105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11AA6E9-2517-36A8-DAEB-C9596B6F0B28}"/>
              </a:ext>
            </a:extLst>
          </p:cNvPr>
          <p:cNvSpPr txBox="1">
            <a:spLocks/>
          </p:cNvSpPr>
          <p:nvPr userDrawn="1"/>
        </p:nvSpPr>
        <p:spPr>
          <a:xfrm>
            <a:off x="685779" y="7631841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>
                <a:solidFill>
                  <a:schemeClr val="tx1"/>
                </a:solidFill>
              </a:rPr>
              <a:t>© </a:t>
            </a:r>
            <a:fld id="{1C50FC3A-183C-4C20-B5A6-510A748E07ED}" type="datetimeyyyy">
              <a:rPr lang="en-US" sz="1100" smtClean="0">
                <a:solidFill>
                  <a:schemeClr val="tx1"/>
                </a:solidFill>
              </a:rPr>
              <a:t>2025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269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200" indent="-457200">
              <a:spcBef>
                <a:spcPts val="900"/>
              </a:spcBef>
              <a:buFont typeface="+mj-lt"/>
              <a:buAutoNum type="arabicPeriod"/>
              <a:tabLst>
                <a:tab pos="6337300" algn="r"/>
              </a:tabLst>
              <a:defRPr sz="2000"/>
            </a:lvl1pPr>
            <a:lvl2pPr marL="685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2pPr>
            <a:lvl3pPr marL="914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3pPr>
            <a:lvl4pPr marL="1143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4pPr>
            <a:lvl5pPr marL="13716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/>
            </a:lvl5pPr>
            <a:lvl6pPr marL="16002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6pPr>
            <a:lvl7pPr marL="18288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7pPr>
            <a:lvl8pPr marL="20574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8pPr>
            <a:lvl9pPr marL="2286000" indent="-228600">
              <a:spcBef>
                <a:spcPts val="600"/>
              </a:spcBef>
              <a:buFont typeface="Arial" pitchFamily="34" charset="0"/>
              <a:buChar char="–"/>
              <a:tabLst>
                <a:tab pos="6337300" algn="r"/>
              </a:tabLst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4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9D60E-162E-6C4F-F716-46E61F807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127129"/>
            <a:ext cx="13258800" cy="3333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7314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8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6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0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19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410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39763"/>
            <a:ext cx="10660075" cy="14176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200" indent="-228600">
              <a:buFont typeface="Arial" pitchFamily="34" charset="0"/>
              <a:buChar char="–"/>
              <a:defRPr/>
            </a:lvl4pPr>
            <a:lvl5pPr marL="685800" indent="-228600">
              <a:buFont typeface="Arial" pitchFamily="34" charset="0"/>
              <a:buChar char="–"/>
              <a:defRPr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91994B2C-2165-46A4-99A0-7921C65A1197}"/>
              </a:ext>
            </a:extLst>
          </p:cNvPr>
          <p:cNvSpPr/>
          <p:nvPr userDrawn="1"/>
        </p:nvSpPr>
        <p:spPr>
          <a:xfrm rot="10800000">
            <a:off x="11477625" y="-3"/>
            <a:ext cx="3152768" cy="776048"/>
          </a:xfrm>
          <a:prstGeom prst="round1Rect">
            <a:avLst>
              <a:gd name="adj" fmla="val 39716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2A6A47-BB63-437D-9497-6B68158905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715750" y="1"/>
            <a:ext cx="2601384" cy="776046"/>
          </a:xfrm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 marL="457200" indent="-228600">
              <a:buFont typeface="Arial" pitchFamily="34" charset="0"/>
              <a:buChar char="–"/>
              <a:defRPr sz="1400"/>
            </a:lvl4pPr>
            <a:lvl5pPr marL="685800" indent="-228600">
              <a:buFont typeface="Arial" pitchFamily="34" charset="0"/>
              <a:buChar char="–"/>
              <a:defRPr sz="1400"/>
            </a:lvl5pPr>
            <a:lvl6pPr marL="914400" indent="-228600">
              <a:buFont typeface="Arial" pitchFamily="34" charset="0"/>
              <a:buChar char="–"/>
              <a:defRPr baseline="0"/>
            </a:lvl6pPr>
            <a:lvl7pPr marL="1143000" indent="-228600">
              <a:buFont typeface="Arial" pitchFamily="34" charset="0"/>
              <a:buChar char="–"/>
              <a:defRPr baseline="0"/>
            </a:lvl7pPr>
            <a:lvl8pPr marL="1371600" indent="-228600">
              <a:buFont typeface="Arial" pitchFamily="34" charset="0"/>
              <a:buChar char="–"/>
              <a:defRPr baseline="0"/>
            </a:lvl8pPr>
            <a:lvl9pPr marL="1600200" indent="-22860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127917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itchFamily="34" charset="0"/>
              <a:buChar char="•"/>
              <a:defRPr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2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200" indent="-228600">
              <a:buFont typeface="Arial" pitchFamily="34" charset="0"/>
              <a:buChar char="–"/>
              <a:defRPr sz="2000"/>
            </a:lvl4pPr>
            <a:lvl5pPr marL="685800" indent="-228600">
              <a:buFont typeface="Arial" pitchFamily="34" charset="0"/>
              <a:buChar char="–"/>
              <a:defRPr sz="2000"/>
            </a:lvl5pPr>
            <a:lvl6pPr marL="914400" indent="-228600">
              <a:buFont typeface="Arial" pitchFamily="34" charset="0"/>
              <a:buChar char="–"/>
              <a:defRPr sz="2000" baseline="0"/>
            </a:lvl6pPr>
            <a:lvl7pPr marL="1143000" indent="-228600">
              <a:buFont typeface="Arial" pitchFamily="34" charset="0"/>
              <a:buChar char="–"/>
              <a:defRPr sz="2000" baseline="0"/>
            </a:lvl7pPr>
            <a:lvl8pPr marL="1371600" indent="-228600">
              <a:buFont typeface="Arial" pitchFamily="34" charset="0"/>
              <a:buChar char="–"/>
              <a:defRPr sz="2000" baseline="0"/>
            </a:lvl8pPr>
            <a:lvl9pPr marL="1600200" indent="-22860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8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2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3"/>
            <a:ext cx="6400800" cy="14176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8"/>
            <a:ext cx="6400800" cy="51212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C091593C-4446-42A7-AA75-762280E3CD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2E539CF-BB89-9CFA-7450-C2FA97C11654}"/>
              </a:ext>
            </a:extLst>
          </p:cNvPr>
          <p:cNvSpPr txBox="1">
            <a:spLocks/>
          </p:cNvSpPr>
          <p:nvPr userDrawn="1"/>
        </p:nvSpPr>
        <p:spPr>
          <a:xfrm>
            <a:off x="3398520" y="7580439"/>
            <a:ext cx="368808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tabLst/>
            </a:pPr>
            <a:r>
              <a:rPr lang="en-US" sz="1100"/>
              <a:t>© </a:t>
            </a:r>
            <a:fld id="{F0F03FDE-796C-4CED-8A2E-524BCF9DE0E5}" type="datetimeyyyy">
              <a:rPr lang="en-US" sz="1100" smtClean="0"/>
              <a:t>2025</a:t>
            </a:fld>
            <a:r>
              <a:rPr lang="en-US" sz="1100"/>
              <a:t> DXC Technology Company.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82E9E-E0DC-215D-B4CB-8608A98E514C}"/>
              </a:ext>
            </a:extLst>
          </p:cNvPr>
          <p:cNvSpPr txBox="1"/>
          <p:nvPr userDrawn="1"/>
        </p:nvSpPr>
        <p:spPr>
          <a:xfrm>
            <a:off x="4709160" y="7868126"/>
            <a:ext cx="2354579" cy="215444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/>
            <a:r>
              <a:rPr lang="en-US" sz="800" b="1"/>
              <a:t>DXC Confidential</a:t>
            </a:r>
          </a:p>
        </p:txBody>
      </p:sp>
    </p:spTree>
    <p:extLst>
      <p:ext uri="{BB962C8B-B14F-4D97-AF65-F5344CB8AC3E}">
        <p14:creationId xmlns:p14="http://schemas.microsoft.com/office/powerpoint/2010/main" val="62183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399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54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8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October 6, 2025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E47D048-F78A-4D25-83CC-A1FB3F93E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6" name="Rectangle: Single Corner Rounded 55">
            <a:extLst>
              <a:ext uri="{FF2B5EF4-FFF2-40B4-BE49-F238E27FC236}">
                <a16:creationId xmlns:a16="http://schemas.microsoft.com/office/drawing/2014/main" id="{106C60A4-E521-4756-B4C4-7D4CE00E4F0A}"/>
              </a:ext>
            </a:extLst>
          </p:cNvPr>
          <p:cNvSpPr/>
          <p:nvPr userDrawn="1"/>
        </p:nvSpPr>
        <p:spPr>
          <a:xfrm>
            <a:off x="695325" y="2057398"/>
            <a:ext cx="11201400" cy="3200400"/>
          </a:xfrm>
          <a:prstGeom prst="round1Rect">
            <a:avLst>
              <a:gd name="adj" fmla="val 24915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400" y="2057400"/>
            <a:ext cx="9931400" cy="320040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400" y="5686106"/>
            <a:ext cx="99313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D32F9C5-294A-36D8-523F-F0DB5B550F85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2025</a:t>
            </a:fld>
            <a:r>
              <a:rPr lang="en-US" sz="1100"/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6258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: Single Corner Rounded 51">
            <a:extLst>
              <a:ext uri="{FF2B5EF4-FFF2-40B4-BE49-F238E27FC236}">
                <a16:creationId xmlns:a16="http://schemas.microsoft.com/office/drawing/2014/main" id="{16D803CF-5C46-4998-BEA0-760D4BDFAA5E}"/>
              </a:ext>
            </a:extLst>
          </p:cNvPr>
          <p:cNvSpPr/>
          <p:nvPr userDrawn="1"/>
        </p:nvSpPr>
        <p:spPr>
          <a:xfrm>
            <a:off x="685800" y="639764"/>
            <a:ext cx="8314499" cy="6538910"/>
          </a:xfrm>
          <a:prstGeom prst="round1Rect">
            <a:avLst>
              <a:gd name="adj" fmla="val 1707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B8034992-7FB5-4D10-85B6-A1E0AA858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985" y="2117489"/>
            <a:ext cx="7217229" cy="2545080"/>
          </a:xfrm>
        </p:spPr>
        <p:txBody>
          <a:bodyPr anchor="ctr" anchorCtr="0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95862D04-C327-4882-82FB-72E8CCD13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985" y="4830209"/>
            <a:ext cx="721722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6" name="Text Box 115">
            <a:extLst>
              <a:ext uri="{FF2B5EF4-FFF2-40B4-BE49-F238E27FC236}">
                <a16:creationId xmlns:a16="http://schemas.microsoft.com/office/drawing/2014/main" id="{B7410DDF-33B2-4E49-9D88-0AEC09F3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October 6, 2025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50" name="Text Box 115">
            <a:extLst>
              <a:ext uri="{FF2B5EF4-FFF2-40B4-BE49-F238E27FC236}">
                <a16:creationId xmlns:a16="http://schemas.microsoft.com/office/drawing/2014/main" id="{56CCFE87-E52F-4030-93DB-4F8A10CB8A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082CA323-F067-4A36-86B4-C9C89385A4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55" name="Text Box 115">
            <a:extLst>
              <a:ext uri="{FF2B5EF4-FFF2-40B4-BE49-F238E27FC236}">
                <a16:creationId xmlns:a16="http://schemas.microsoft.com/office/drawing/2014/main" id="{95D42EA8-C373-4F2E-A7AA-89495E86AEA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329D370C-B3C9-49CC-A16E-95762D2349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732A361-630E-4E1C-5468-3CF87B532CD2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2025</a:t>
            </a:fld>
            <a:r>
              <a:rPr lang="en-US" sz="1100"/>
              <a:t> DXC Technology Company. All rights reserved.</a:t>
            </a:r>
          </a:p>
        </p:txBody>
      </p:sp>
      <p:pic>
        <p:nvPicPr>
          <p:cNvPr id="2" name="Grafika 66">
            <a:extLst>
              <a:ext uri="{FF2B5EF4-FFF2-40B4-BE49-F238E27FC236}">
                <a16:creationId xmlns:a16="http://schemas.microsoft.com/office/drawing/2014/main" id="{65C812C9-C6F6-C679-0DBF-F61E3E2DE2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2844" y="7571463"/>
            <a:ext cx="754876" cy="3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1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October 6, 2025</a:t>
            </a:fld>
            <a:endParaRPr lang="en-US" sz="1100" b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E47D048-F78A-4D25-83CC-A1FB3F93E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61481"/>
            <a:ext cx="2468880" cy="279976"/>
          </a:xfrm>
          <a:prstGeom prst="rect">
            <a:avLst/>
          </a:prstGeom>
        </p:spPr>
      </p:pic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25DB904-DAE2-4F1E-A174-E29E8F751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242164"/>
            <a:ext cx="10414000" cy="2229067"/>
          </a:xfrm>
        </p:spPr>
        <p:txBody>
          <a:bodyPr anchor="ctr" anchorCtr="0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620877"/>
            <a:ext cx="10413999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rgbClr val="63666F"/>
                </a:solidFill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61121-7289-26AD-7FA4-2BDA9D0879CC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2025</a:t>
            </a:fld>
            <a:r>
              <a:rPr lang="en-US" sz="1100"/>
              <a:t> DXC Technology Company. All rights reserved.</a:t>
            </a:r>
          </a:p>
        </p:txBody>
      </p:sp>
      <p:pic>
        <p:nvPicPr>
          <p:cNvPr id="2" name="Grafika 66">
            <a:extLst>
              <a:ext uri="{FF2B5EF4-FFF2-40B4-BE49-F238E27FC236}">
                <a16:creationId xmlns:a16="http://schemas.microsoft.com/office/drawing/2014/main" id="{B7F2D442-B5D0-EDF1-7B60-090431865F9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6200" y="7528607"/>
            <a:ext cx="754876" cy="31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3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38">
                <a:spcBef>
                  <a:spcPct val="50000"/>
                </a:spcBef>
              </a:pPr>
              <a:t>‹#›</a:t>
            </a:fld>
            <a:endParaRPr lang="en-US" sz="1100" b="1">
              <a:solidFill>
                <a:schemeClr val="bg1"/>
              </a:solidFill>
            </a:endParaRP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2BEF977-E587-4D30-B5BF-3E5AC49DE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7579053"/>
            <a:ext cx="2286000" cy="2592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1FF8FE1-C385-A895-C0A6-D7B7F720AB93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</a:rPr>
              <a:t>© </a:t>
            </a:r>
            <a:fld id="{C0650B53-F5B1-403A-BD70-58B7AE2589AD}" type="datetimeyyyy">
              <a:rPr lang="en-US" sz="1100" smtClean="0">
                <a:solidFill>
                  <a:schemeClr val="bg1"/>
                </a:solidFill>
              </a:rPr>
              <a:t>2025</a:t>
            </a:fld>
            <a:r>
              <a:rPr lang="en-US" sz="1100">
                <a:solidFill>
                  <a:schemeClr val="bg1"/>
                </a:solidFill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117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XC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204136C3-C0B2-4695-8464-42B084FBE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9034" y="2856891"/>
            <a:ext cx="4612331" cy="251581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F34D9A9-59CB-C05C-24F8-DD60E7E9ADB0}"/>
              </a:ext>
            </a:extLst>
          </p:cNvPr>
          <p:cNvSpPr txBox="1">
            <a:spLocks/>
          </p:cNvSpPr>
          <p:nvPr userDrawn="1"/>
        </p:nvSpPr>
        <p:spPr>
          <a:xfrm>
            <a:off x="10347960" y="7580439"/>
            <a:ext cx="359664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tabLst/>
            </a:pPr>
            <a:r>
              <a:rPr lang="en-US" sz="1100">
                <a:solidFill>
                  <a:schemeClr val="tx1"/>
                </a:solidFill>
              </a:rPr>
              <a:t>© </a:t>
            </a:r>
            <a:fld id="{CF9733AE-80B1-4FDE-8D2E-3D7469571069}" type="datetimeyyyy">
              <a:rPr lang="en-US" sz="1100" smtClean="0">
                <a:solidFill>
                  <a:schemeClr val="tx1"/>
                </a:solidFill>
              </a:rPr>
              <a:t>2025</a:t>
            </a:fld>
            <a:r>
              <a:rPr lang="en-US" sz="1100">
                <a:solidFill>
                  <a:schemeClr val="tx1"/>
                </a:solidFill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68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6295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4441-A5DC-49DF-B64D-95651E0E8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200"/>
            <a:ext cx="10972800" cy="28654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893A6-D820-9FBB-12FE-D86E3252B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763"/>
            <a:ext cx="10972800" cy="19859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126B-85FE-E1BB-3DFF-181CD509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4E6CB-242F-86F6-CE74-481989A1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6150-1BF8-B1BC-AEE5-EF019292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27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CA68-E738-BF68-58A5-6B674662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95B59-B279-206E-C691-413437D76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8163-A2C8-873E-BBA7-6975E836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A0CA4-0FC1-6017-936A-A1DAF000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B71C7-7AFF-5948-5386-CB5285C0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231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CD98-71AB-9220-717F-BFDE53FB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38" y="2051050"/>
            <a:ext cx="12619037" cy="34242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FA1C5-F146-6B51-9EC1-B155021FA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538" y="5507038"/>
            <a:ext cx="12619037" cy="1800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2BD8B-447B-08FC-F618-5390399A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F0112-EEA3-4242-7A21-9B75F8EA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F05CA-DB88-30F5-DE6F-F7FBC43F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83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CD52-F63C-11BF-E3F8-746E5A96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6E119-2EFC-9910-6D6C-74F31A917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5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4132D-7E4C-7374-D3AB-DD21A12C9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CC834-06F3-DB4B-13D4-451DA4D1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3AD2E-2085-8DF2-8667-F93523D2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D60F8-D820-CAB6-FFC9-556A7339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521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9DCA-7C7A-07FF-A9CE-141EF8EE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38150"/>
            <a:ext cx="12619037" cy="1590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D38F8-3FB0-2E7E-CBE9-5C376EED9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17713"/>
            <a:ext cx="6189662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1C384-35F2-1859-F263-D9ED5B082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8063" y="3006725"/>
            <a:ext cx="6189662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A180A-B854-A9ED-FF6C-149739725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275" y="2017713"/>
            <a:ext cx="6219825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9853B-A83A-3ECC-D6A8-1C7372CD0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7275" y="3006725"/>
            <a:ext cx="6219825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0C7665-C3E7-5E51-4E70-CE47C8EB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3DFFC-0380-0740-B79B-416E1046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FD5AF-42A4-54D6-1C4F-7D1F679F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609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D1A8-8014-97E3-931F-9AC4C2C6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0BFF8-1763-9A55-49F9-E6724D43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03047-05CE-B354-BE37-BD80287C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8BDC4-FDC6-5DC3-1FB1-648CF2BD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51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A5ED4-D67A-E40A-D7B1-DB36C5DE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39D573-D011-8464-A560-2A932E97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A0F26-976A-02EF-B272-9670DF89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018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1522-35C8-A30B-A68D-AA77B5A9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155D-82C0-8D1D-2A17-FF3ABF861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02EDA-C4BD-00F0-923D-0FE922D57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B7A7C-9C7E-4469-40CC-4BB83F56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BD10B-008B-C04F-9E6D-DFB7F5A2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DA512-6899-6459-28E5-448878AB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075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E8EB-9B77-579A-D965-0DF9109AD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1B2AB-8A12-6063-048B-A0F952A42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799DA-9F75-7D5C-79E3-36965A261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4296F-7324-BE73-FFBF-F847C42C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C19BC-5E83-BF50-0E6C-FB25CEE0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0E04D-A29F-92A9-C0D1-83242282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807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5FD9-655E-C9C4-D780-3EB854FB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29454-0F38-FB28-D69E-B5476DC82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A48EC-C6E3-0BFD-EA5C-2F01A76B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B2234-F884-F931-0E18-A0F0EFBC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333B-2C61-1326-DB76-0B076C93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845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D01E3-E988-C5CB-2E11-EA3EDCB64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563" y="438150"/>
            <a:ext cx="315436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AE8CD-5BE1-F815-A5E5-60731BA68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438150"/>
            <a:ext cx="9310688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423E-5114-0FB6-0327-6CFF1D1C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CC512-A407-2005-9A04-36DA84A7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86D53-7B84-72F3-2A4D-C00CA488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>
              <a:solidFill>
                <a:schemeClr val="tx1"/>
              </a:solidFill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6FF065E-2B34-4360-B045-0F02C20A28BE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800" y="7580437"/>
            <a:ext cx="2286000" cy="25923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449BE-CF0C-B5BE-D973-8117818C3A4F}"/>
              </a:ext>
            </a:extLst>
          </p:cNvPr>
          <p:cNvSpPr txBox="1">
            <a:spLocks/>
          </p:cNvSpPr>
          <p:nvPr userDrawn="1"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</a:t>
            </a:r>
            <a:fld id="{C0650B53-F5B1-403A-BD70-58B7AE2589AD}" type="datetimeyyyy">
              <a:rPr lang="en-US" sz="1100" smtClean="0"/>
              <a:t>2025</a:t>
            </a:fld>
            <a:r>
              <a:rPr lang="en-US" sz="1100"/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3657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60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  <p:sldLayoutId id="2147483858" r:id="rId18"/>
    <p:sldLayoutId id="2147483859" r:id="rId19"/>
    <p:sldLayoutId id="2147483905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7E36D-3B54-0952-6F59-F831D124C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E090A-7F90-9F6A-74A3-238708AFB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8C77-D960-1C34-C185-748774608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14597-32BB-EB3E-0B4F-B3307E5FC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D5B5C-0C94-6C01-06DA-067AC69F6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7FA30-680E-154D-A868-244137CEB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0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D4A30-8466-8AA7-4A15-570AED3D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9C05-8B9A-F657-35BF-22854B64C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DXC Trade Finance</a:t>
            </a:r>
            <a:endParaRPr lang="en-GB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55752ED-8A45-ECEF-0160-931463045A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Resource Pool + Capabilities</a:t>
            </a:r>
          </a:p>
        </p:txBody>
      </p:sp>
    </p:spTree>
    <p:extLst>
      <p:ext uri="{BB962C8B-B14F-4D97-AF65-F5344CB8AC3E}">
        <p14:creationId xmlns:p14="http://schemas.microsoft.com/office/powerpoint/2010/main" val="214326129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277035A3-E873-E14F-B5D1-E9A928A1F9DB}"/>
              </a:ext>
            </a:extLst>
          </p:cNvPr>
          <p:cNvGrpSpPr/>
          <p:nvPr/>
        </p:nvGrpSpPr>
        <p:grpSpPr>
          <a:xfrm>
            <a:off x="606892" y="1104244"/>
            <a:ext cx="13329825" cy="6485584"/>
            <a:chOff x="505744" y="877634"/>
            <a:chExt cx="11108187" cy="5570759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64447E72-B3EB-8F48-B2A1-8B6BAAF3ED68}"/>
                </a:ext>
              </a:extLst>
            </p:cNvPr>
            <p:cNvSpPr/>
            <p:nvPr/>
          </p:nvSpPr>
          <p:spPr>
            <a:xfrm>
              <a:off x="578071" y="877634"/>
              <a:ext cx="11035860" cy="358660"/>
            </a:xfrm>
            <a:prstGeom prst="roundRect">
              <a:avLst/>
            </a:prstGeom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20" b="1"/>
                <a:t>Trade Finance Capability Mapping</a:t>
              </a:r>
              <a:endParaRPr lang="ru-UA" sz="1920" b="1"/>
            </a:p>
          </p:txBody>
        </p:sp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2764A191-4F9F-8948-8FC3-84FFDFDE89E8}"/>
                </a:ext>
              </a:extLst>
            </p:cNvPr>
            <p:cNvSpPr/>
            <p:nvPr/>
          </p:nvSpPr>
          <p:spPr>
            <a:xfrm>
              <a:off x="566057" y="1310739"/>
              <a:ext cx="2551402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Open Account Trade</a:t>
              </a:r>
              <a:endParaRPr lang="ru-UA" sz="1440" b="1"/>
            </a:p>
          </p:txBody>
        </p:sp>
        <p:sp>
          <p:nvSpPr>
            <p:cNvPr id="6" name="Скругленный прямоугольник 5">
              <a:extLst>
                <a:ext uri="{FF2B5EF4-FFF2-40B4-BE49-F238E27FC236}">
                  <a16:creationId xmlns:a16="http://schemas.microsoft.com/office/drawing/2014/main" id="{D3D683B4-243B-C14F-A530-02282CF733D1}"/>
                </a:ext>
              </a:extLst>
            </p:cNvPr>
            <p:cNvSpPr/>
            <p:nvPr/>
          </p:nvSpPr>
          <p:spPr>
            <a:xfrm>
              <a:off x="6134026" y="1310738"/>
              <a:ext cx="2631385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Documentary Trade</a:t>
              </a:r>
              <a:endParaRPr lang="ru-UA" sz="1440" b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1BDAD3-C728-B04E-9DDC-D003169FC0BD}"/>
                </a:ext>
              </a:extLst>
            </p:cNvPr>
            <p:cNvSpPr txBox="1"/>
            <p:nvPr/>
          </p:nvSpPr>
          <p:spPr>
            <a:xfrm>
              <a:off x="556529" y="1839724"/>
              <a:ext cx="2487487" cy="1239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Product &amp; end to end config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Supply-chain finance products (payable + receivable &amp; Bank Payment Obligation)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Factoring/Forfaiting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Finance booking &amp; lifecycle events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Interest accrual rules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Overdue alerts, reports and tracers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D0A9315-9B31-214D-B35E-D444AFB2F841}"/>
                </a:ext>
              </a:extLst>
            </p:cNvPr>
            <p:cNvSpPr txBox="1"/>
            <p:nvPr/>
          </p:nvSpPr>
          <p:spPr>
            <a:xfrm>
              <a:off x="6177461" y="1818850"/>
              <a:ext cx="2631386" cy="1110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All contingent products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Documentary collections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Booking &amp; lifecycle events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Advising, acceptance &amp; confirmations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Doc checking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en-US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Contract legal vetting</a:t>
              </a: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F41EFA-5FD0-F447-B013-4F697601A99A}"/>
                </a:ext>
              </a:extLst>
            </p:cNvPr>
            <p:cNvSpPr txBox="1"/>
            <p:nvPr/>
          </p:nvSpPr>
          <p:spPr>
            <a:xfrm>
              <a:off x="3319667" y="3704631"/>
              <a:ext cx="2989595" cy="2014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Corporate channel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IAM based authentication (</a:t>
              </a:r>
              <a:r>
                <a:rPr lang="en-US" sz="108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Sailpoint</a:t>
              </a: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08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etc</a:t>
              </a: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Market Data </a:t>
              </a:r>
              <a:r>
                <a:rPr lang="en-US" sz="108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intgeration</a:t>
              </a:r>
              <a:endParaRPr lang="en-US" sz="108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Core Banking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Limit + credit check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AMH/SWIFT alliance integration (MT/ISO 20022)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Sanctions Integrations (Fircosoft etc.)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Doc management tool integration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ODL integration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Accounting/GL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Customer lifecycling tool (</a:t>
              </a:r>
              <a:r>
                <a:rPr lang="en-US" sz="108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Fenergo</a:t>
              </a: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Client Analytics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en-US" sz="108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C4A07ED0-0CCF-4F46-A7BA-01386C5EE9A4}"/>
                </a:ext>
              </a:extLst>
            </p:cNvPr>
            <p:cNvSpPr/>
            <p:nvPr/>
          </p:nvSpPr>
          <p:spPr>
            <a:xfrm>
              <a:off x="514699" y="3122231"/>
              <a:ext cx="2527485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Trade - Common</a:t>
              </a:r>
              <a:endParaRPr lang="ru-UA" sz="1440" b="1"/>
            </a:p>
          </p:txBody>
        </p:sp>
        <p:sp>
          <p:nvSpPr>
            <p:cNvPr id="10" name="Скругленный прямоугольник 9">
              <a:extLst>
                <a:ext uri="{FF2B5EF4-FFF2-40B4-BE49-F238E27FC236}">
                  <a16:creationId xmlns:a16="http://schemas.microsoft.com/office/drawing/2014/main" id="{AECDF939-5C9E-9A41-8DF5-D2EBB7BC6CA0}"/>
                </a:ext>
              </a:extLst>
            </p:cNvPr>
            <p:cNvSpPr/>
            <p:nvPr/>
          </p:nvSpPr>
          <p:spPr>
            <a:xfrm>
              <a:off x="3319667" y="1319464"/>
              <a:ext cx="2527485" cy="3586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b="1"/>
                <a:t>Financing</a:t>
              </a:r>
              <a:endParaRPr lang="ru-UA" sz="1440" b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574640-8B4A-E546-9FFE-A4D7178054B3}"/>
                </a:ext>
              </a:extLst>
            </p:cNvPr>
            <p:cNvSpPr txBox="1"/>
            <p:nvPr/>
          </p:nvSpPr>
          <p:spPr>
            <a:xfrm>
              <a:off x="505744" y="3619324"/>
              <a:ext cx="2640659" cy="2829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Trade Doc digitization &amp; digitalization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Limit/facility set up &amp; management,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Collateral set up &amp; valuation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Risk &amp; Compliance (AML, fraud, sanctions &amp; surveillance)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Clauses, advises, statements and tracers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End to end static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Teams &amp; trade workflow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End to end system tailoring &amp; rule set up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Regulatory reporting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Reports (including client reports) &amp; Dashboards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Market data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Financial Markets – FX deal booking &amp; lifecycling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FX, rates, forward contracts &amp; utilization management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en-US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</a:pP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B71C4E1-3446-3A4E-80D6-2641CB043533}"/>
                </a:ext>
              </a:extLst>
            </p:cNvPr>
            <p:cNvSpPr txBox="1"/>
            <p:nvPr/>
          </p:nvSpPr>
          <p:spPr>
            <a:xfrm>
              <a:off x="3319667" y="1841690"/>
              <a:ext cx="2640659" cy="659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 shipment 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Post shipment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sz="108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Booking &amp; lifecycle events</a:t>
              </a:r>
            </a:p>
            <a:p>
              <a:pPr marL="108586" indent="-108586">
                <a:lnSpc>
                  <a:spcPct val="90000"/>
                </a:lnSpc>
                <a:spcAft>
                  <a:spcPts val="240"/>
                </a:spcAft>
                <a:buClr>
                  <a:schemeClr val="bg1">
                    <a:lumMod val="65000"/>
                  </a:schemeClr>
                </a:buClr>
                <a:buFont typeface="Arial" panose="020B0604020202020204" pitchFamily="34" charset="0"/>
                <a:buChar char="•"/>
              </a:pPr>
              <a:endParaRPr lang="ru-UA" sz="108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93308ADD-3633-3F41-AD1E-AD87050FB19B}"/>
              </a:ext>
            </a:extLst>
          </p:cNvPr>
          <p:cNvSpPr txBox="1">
            <a:spLocks/>
          </p:cNvSpPr>
          <p:nvPr/>
        </p:nvSpPr>
        <p:spPr>
          <a:xfrm>
            <a:off x="685800" y="639764"/>
            <a:ext cx="13258800" cy="14176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21915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600" dirty="0"/>
              <a:t>DXC Trade Finance Capability</a:t>
            </a:r>
            <a:endParaRPr lang="en-GB" sz="3600" dirty="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56DD6019-CDD9-2D43-B935-C6587D9C66EB}"/>
              </a:ext>
            </a:extLst>
          </p:cNvPr>
          <p:cNvCxnSpPr>
            <a:cxnSpLocks/>
          </p:cNvCxnSpPr>
          <p:nvPr/>
        </p:nvCxnSpPr>
        <p:spPr>
          <a:xfrm>
            <a:off x="2204249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4C99F236-5442-8243-84B7-89AF377F8594}"/>
              </a:ext>
            </a:extLst>
          </p:cNvPr>
          <p:cNvCxnSpPr>
            <a:cxnSpLocks/>
          </p:cNvCxnSpPr>
          <p:nvPr/>
        </p:nvCxnSpPr>
        <p:spPr>
          <a:xfrm>
            <a:off x="5664031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22B4CFC1-5F8D-1A46-8EB6-402ADC15C191}"/>
              </a:ext>
            </a:extLst>
          </p:cNvPr>
          <p:cNvCxnSpPr>
            <a:cxnSpLocks/>
          </p:cNvCxnSpPr>
          <p:nvPr/>
        </p:nvCxnSpPr>
        <p:spPr>
          <a:xfrm>
            <a:off x="9100789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96FC2055-3C90-B849-BE01-D000D804D5CB}"/>
              </a:ext>
            </a:extLst>
          </p:cNvPr>
          <p:cNvCxnSpPr>
            <a:cxnSpLocks/>
          </p:cNvCxnSpPr>
          <p:nvPr/>
        </p:nvCxnSpPr>
        <p:spPr>
          <a:xfrm>
            <a:off x="12446074" y="1419666"/>
            <a:ext cx="0" cy="204277"/>
          </a:xfrm>
          <a:prstGeom prst="line">
            <a:avLst/>
          </a:prstGeom>
          <a:ln w="19050" cap="sq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Соединительная линия уступом 40">
            <a:extLst>
              <a:ext uri="{FF2B5EF4-FFF2-40B4-BE49-F238E27FC236}">
                <a16:creationId xmlns:a16="http://schemas.microsoft.com/office/drawing/2014/main" id="{D85452C2-725C-9C47-8E16-64BC80E319E1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617640" y="1348581"/>
            <a:ext cx="68160" cy="2577649"/>
          </a:xfrm>
          <a:prstGeom prst="bentConnector3">
            <a:avLst>
              <a:gd name="adj1" fmla="val 50000"/>
            </a:avLst>
          </a:prstGeom>
          <a:ln w="19050" cap="sq">
            <a:solidFill>
              <a:schemeClr val="accent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Rectangle 56"/>
          <p:cNvSpPr/>
          <p:nvPr/>
        </p:nvSpPr>
        <p:spPr>
          <a:xfrm>
            <a:off x="11706957" y="6900471"/>
            <a:ext cx="1800000" cy="18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00" dirty="0">
                <a:solidFill>
                  <a:schemeClr val="tx1"/>
                </a:solidFill>
              </a:rPr>
              <a:t>Strong experience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706957" y="6621125"/>
            <a:ext cx="1800000" cy="180000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00" dirty="0">
                <a:solidFill>
                  <a:schemeClr val="tx1"/>
                </a:solidFill>
              </a:rPr>
              <a:t>Legend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706957" y="7179817"/>
            <a:ext cx="1800000" cy="180000"/>
          </a:xfrm>
          <a:prstGeom prst="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00" dirty="0">
                <a:solidFill>
                  <a:schemeClr val="tx1"/>
                </a:solidFill>
              </a:rPr>
              <a:t>Some/No experience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706957" y="6621125"/>
            <a:ext cx="1800000" cy="8591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Скругленный прямоугольник 9">
            <a:extLst>
              <a:ext uri="{FF2B5EF4-FFF2-40B4-BE49-F238E27FC236}">
                <a16:creationId xmlns:a16="http://schemas.microsoft.com/office/drawing/2014/main" id="{D8F80CD7-91DD-A9C2-9338-0901C6814ECB}"/>
              </a:ext>
            </a:extLst>
          </p:cNvPr>
          <p:cNvSpPr/>
          <p:nvPr/>
        </p:nvSpPr>
        <p:spPr>
          <a:xfrm>
            <a:off x="10661085" y="1627264"/>
            <a:ext cx="3032982" cy="41755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40" b="1" dirty="0"/>
              <a:t>Bank Guarantees</a:t>
            </a:r>
            <a:endParaRPr lang="ru-UA" sz="144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30F975-A9A5-66D1-196C-3FE8C4051005}"/>
              </a:ext>
            </a:extLst>
          </p:cNvPr>
          <p:cNvSpPr txBox="1"/>
          <p:nvPr/>
        </p:nvSpPr>
        <p:spPr>
          <a:xfrm>
            <a:off x="10661084" y="2222227"/>
            <a:ext cx="2894515" cy="942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Import/Export Guarantee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Counter Guarantee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booking &amp; lifecycle events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Expiry alerts, reports and tracers</a:t>
            </a:r>
          </a:p>
          <a:p>
            <a:pPr marL="108586" indent="-108586">
              <a:lnSpc>
                <a:spcPct val="90000"/>
              </a:lnSpc>
              <a:spcAft>
                <a:spcPts val="240"/>
              </a:spcAft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</a:pPr>
            <a:endParaRPr lang="ru-UA" sz="108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95B090-A9F8-EFCB-C816-7368ACB10EF6}"/>
              </a:ext>
            </a:extLst>
          </p:cNvPr>
          <p:cNvSpPr/>
          <p:nvPr/>
        </p:nvSpPr>
        <p:spPr>
          <a:xfrm>
            <a:off x="701419" y="2107562"/>
            <a:ext cx="2984984" cy="137987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34" name="Скругленный прямоугольник 9">
            <a:extLst>
              <a:ext uri="{FF2B5EF4-FFF2-40B4-BE49-F238E27FC236}">
                <a16:creationId xmlns:a16="http://schemas.microsoft.com/office/drawing/2014/main" id="{8468F874-36A0-7341-B541-668E84603C88}"/>
              </a:ext>
            </a:extLst>
          </p:cNvPr>
          <p:cNvSpPr/>
          <p:nvPr/>
        </p:nvSpPr>
        <p:spPr>
          <a:xfrm>
            <a:off x="3983601" y="3735664"/>
            <a:ext cx="3225796" cy="41755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40" b="1" dirty="0"/>
              <a:t>Integrations</a:t>
            </a:r>
            <a:endParaRPr lang="ru-UA" sz="1440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590EC1-BF8D-B6A5-210B-BCB4325C08C5}"/>
              </a:ext>
            </a:extLst>
          </p:cNvPr>
          <p:cNvSpPr/>
          <p:nvPr/>
        </p:nvSpPr>
        <p:spPr>
          <a:xfrm>
            <a:off x="4014187" y="2133019"/>
            <a:ext cx="2929054" cy="11400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1A442E-BF5B-944B-9B48-25BE2299637B}"/>
              </a:ext>
            </a:extLst>
          </p:cNvPr>
          <p:cNvSpPr/>
          <p:nvPr/>
        </p:nvSpPr>
        <p:spPr>
          <a:xfrm>
            <a:off x="7410756" y="2123630"/>
            <a:ext cx="2941338" cy="10414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D4139D-BECE-630B-DDDB-2CEC29D10FE1}"/>
              </a:ext>
            </a:extLst>
          </p:cNvPr>
          <p:cNvSpPr/>
          <p:nvPr/>
        </p:nvSpPr>
        <p:spPr>
          <a:xfrm>
            <a:off x="10684919" y="2144169"/>
            <a:ext cx="2984983" cy="114008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89C02C-E99A-1D47-35DF-32E53BA9E2F9}"/>
              </a:ext>
            </a:extLst>
          </p:cNvPr>
          <p:cNvSpPr/>
          <p:nvPr/>
        </p:nvSpPr>
        <p:spPr>
          <a:xfrm>
            <a:off x="679269" y="4317774"/>
            <a:ext cx="3007134" cy="304204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E97A2E-44E3-0B62-B09D-3FDCC1622592}"/>
              </a:ext>
            </a:extLst>
          </p:cNvPr>
          <p:cNvSpPr/>
          <p:nvPr/>
        </p:nvSpPr>
        <p:spPr>
          <a:xfrm>
            <a:off x="7448605" y="3231344"/>
            <a:ext cx="2855198" cy="232905"/>
          </a:xfrm>
          <a:prstGeom prst="rect">
            <a:avLst/>
          </a:prstGeom>
          <a:solidFill>
            <a:schemeClr val="bg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93D3B7-1116-0470-86FF-0FA81C918684}"/>
              </a:ext>
            </a:extLst>
          </p:cNvPr>
          <p:cNvSpPr/>
          <p:nvPr/>
        </p:nvSpPr>
        <p:spPr>
          <a:xfrm>
            <a:off x="3983600" y="4317774"/>
            <a:ext cx="3264854" cy="22096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5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18E63F-E394-A15C-8F12-C19E90D0B849}"/>
              </a:ext>
            </a:extLst>
          </p:cNvPr>
          <p:cNvSpPr txBox="1"/>
          <p:nvPr/>
        </p:nvSpPr>
        <p:spPr>
          <a:xfrm>
            <a:off x="715888" y="1593850"/>
            <a:ext cx="3202970" cy="4984750"/>
          </a:xfrm>
          <a:prstGeom prst="round2SameRect">
            <a:avLst>
              <a:gd name="adj1" fmla="val 6609"/>
              <a:gd name="adj2" fmla="val 6933"/>
            </a:avLst>
          </a:prstGeom>
          <a:gradFill flip="none" rotWithShape="1">
            <a:gsLst>
              <a:gs pos="2600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txBody>
          <a:bodyPr wrap="square" lIns="150000" tIns="120000" rIns="72000" bIns="30000" rtlCol="0">
            <a:noAutofit/>
          </a:bodyPr>
          <a:lstStyle/>
          <a:p>
            <a:pPr marL="149994" marR="0" lvl="0" indent="-149994" algn="l" defTabSz="781750" rtl="0" eaLnBrk="1" fontAlgn="auto" latinLnBrk="0" hangingPunct="1">
              <a:lnSpc>
                <a:spcPct val="110000"/>
              </a:lnSpc>
              <a:spcBef>
                <a:spcPts val="250"/>
              </a:spcBef>
              <a:spcAft>
                <a:spcPts val="250"/>
              </a:spcAft>
              <a:buClr>
                <a:srgbClr val="5F249F"/>
              </a:buClr>
              <a:buSzPct val="100000"/>
              <a:buFont typeface="System Font Regular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D4FFB-D939-83A3-CA2F-14C543D4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 – Leading Australian Bank</a:t>
            </a:r>
            <a:br>
              <a:rPr lang="en-US" dirty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340FF-CD1A-837B-5D42-C229CCB2EE83}"/>
              </a:ext>
            </a:extLst>
          </p:cNvPr>
          <p:cNvSpPr txBox="1"/>
          <p:nvPr/>
        </p:nvSpPr>
        <p:spPr>
          <a:xfrm>
            <a:off x="999082" y="2898151"/>
            <a:ext cx="1574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Goal:</a:t>
            </a:r>
            <a:endParaRPr lang="uk-UA" sz="20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6F749-1978-A0DE-EB55-D0ED457E0425}"/>
              </a:ext>
            </a:extLst>
          </p:cNvPr>
          <p:cNvSpPr txBox="1"/>
          <p:nvPr/>
        </p:nvSpPr>
        <p:spPr>
          <a:xfrm>
            <a:off x="4358827" y="1652633"/>
            <a:ext cx="942248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Team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Size –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13 members (7BAs, 3QAs, 2Dev, 1 Scrum Master)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 –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2+ years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Deliverables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Successfully migrated from the bank’s legacy trade finance system (TRIMS) to Finastra’s Trade Innovation application, including installation, system design, requirement analysis, config set up, API/Kafka/MQ Integration, testing, end user training and the seamless migration of customer and transaction data.</a:t>
            </a: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Enabled streamlined onboarding of new customers and creation of trade transactions using the newly adopted FCC and TI applications.</a:t>
            </a: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As part of the initial migration phase, the following core trade finance products were successfully transitioned to the new platform: Letters of Credit, Collections Trade Financing, Bank Guarantees, Supply Chain Finance Established critical integrations between the Trade Innovation platform and various banking interfaces, including:</a:t>
            </a:r>
            <a:r>
              <a:rPr kumimoji="0" lang="uk-UA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limit check systems, account and balance verification, sanctions screening tools, holiday calendar, FX rate services, payment and settlement systems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  <a:p>
            <a:pPr marL="342900" marR="0" lvl="0" indent="-34290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Developed the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TFMonitor application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 to detect and manage processing errors in real-time, resulting in a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70% reduction in operational workload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 and improved transaction reliability.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C5929-74D9-EDED-F176-79F182A2A940}"/>
              </a:ext>
            </a:extLst>
          </p:cNvPr>
          <p:cNvSpPr txBox="1"/>
          <p:nvPr/>
        </p:nvSpPr>
        <p:spPr>
          <a:xfrm>
            <a:off x="963386" y="3455180"/>
            <a:ext cx="2785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Enable the Bank to grow its trade finance market share from 10% to 25% by leveraging cutting-edge technology and delivering modern, customer-centric products with rapid time-to-market.</a:t>
            </a:r>
            <a:endParaRPr lang="uk-UA" dirty="0">
              <a:solidFill>
                <a:schemeClr val="bg1"/>
              </a:solidFill>
            </a:endParaRP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69870A33-8BEB-9FF7-9A08-8A293886A034}"/>
              </a:ext>
            </a:extLst>
          </p:cNvPr>
          <p:cNvSpPr>
            <a:spLocks noEditPoints="1"/>
          </p:cNvSpPr>
          <p:nvPr/>
        </p:nvSpPr>
        <p:spPr bwMode="auto">
          <a:xfrm>
            <a:off x="1078342" y="2194098"/>
            <a:ext cx="563579" cy="563579"/>
          </a:xfrm>
          <a:custGeom>
            <a:avLst/>
            <a:gdLst>
              <a:gd name="T0" fmla="*/ 2165 w 3696"/>
              <a:gd name="T1" fmla="*/ 3155 h 3696"/>
              <a:gd name="T2" fmla="*/ 1609 w 3696"/>
              <a:gd name="T3" fmla="*/ 3217 h 3696"/>
              <a:gd name="T4" fmla="*/ 2320 w 3696"/>
              <a:gd name="T5" fmla="*/ 3127 h 3696"/>
              <a:gd name="T6" fmla="*/ 1282 w 3696"/>
              <a:gd name="T7" fmla="*/ 3068 h 3696"/>
              <a:gd name="T8" fmla="*/ 2601 w 3696"/>
              <a:gd name="T9" fmla="*/ 2910 h 3696"/>
              <a:gd name="T10" fmla="*/ 2838 w 3696"/>
              <a:gd name="T11" fmla="*/ 2759 h 3696"/>
              <a:gd name="T12" fmla="*/ 948 w 3696"/>
              <a:gd name="T13" fmla="*/ 2824 h 3696"/>
              <a:gd name="T14" fmla="*/ 1830 w 3696"/>
              <a:gd name="T15" fmla="*/ 2797 h 3696"/>
              <a:gd name="T16" fmla="*/ 2027 w 3696"/>
              <a:gd name="T17" fmla="*/ 2694 h 3696"/>
              <a:gd name="T18" fmla="*/ 1597 w 3696"/>
              <a:gd name="T19" fmla="*/ 2661 h 3696"/>
              <a:gd name="T20" fmla="*/ 2295 w 3696"/>
              <a:gd name="T21" fmla="*/ 2568 h 3696"/>
              <a:gd name="T22" fmla="*/ 2997 w 3696"/>
              <a:gd name="T23" fmla="*/ 2548 h 3696"/>
              <a:gd name="T24" fmla="*/ 775 w 3696"/>
              <a:gd name="T25" fmla="*/ 2629 h 3696"/>
              <a:gd name="T26" fmla="*/ 2473 w 3696"/>
              <a:gd name="T27" fmla="*/ 2537 h 3696"/>
              <a:gd name="T28" fmla="*/ 1159 w 3696"/>
              <a:gd name="T29" fmla="*/ 2490 h 3696"/>
              <a:gd name="T30" fmla="*/ 3059 w 3696"/>
              <a:gd name="T31" fmla="*/ 2316 h 3696"/>
              <a:gd name="T32" fmla="*/ 2638 w 3696"/>
              <a:gd name="T33" fmla="*/ 2242 h 3696"/>
              <a:gd name="T34" fmla="*/ 1904 w 3696"/>
              <a:gd name="T35" fmla="*/ 2296 h 3696"/>
              <a:gd name="T36" fmla="*/ 1100 w 3696"/>
              <a:gd name="T37" fmla="*/ 2344 h 3696"/>
              <a:gd name="T38" fmla="*/ 1624 w 3696"/>
              <a:gd name="T39" fmla="*/ 2293 h 3696"/>
              <a:gd name="T40" fmla="*/ 2024 w 3696"/>
              <a:gd name="T41" fmla="*/ 2264 h 3696"/>
              <a:gd name="T42" fmla="*/ 488 w 3696"/>
              <a:gd name="T43" fmla="*/ 2072 h 3696"/>
              <a:gd name="T44" fmla="*/ 2713 w 3696"/>
              <a:gd name="T45" fmla="*/ 2024 h 3696"/>
              <a:gd name="T46" fmla="*/ 1029 w 3696"/>
              <a:gd name="T47" fmla="*/ 2048 h 3696"/>
              <a:gd name="T48" fmla="*/ 2285 w 3696"/>
              <a:gd name="T49" fmla="*/ 2100 h 3696"/>
              <a:gd name="T50" fmla="*/ 1454 w 3696"/>
              <a:gd name="T51" fmla="*/ 2128 h 3696"/>
              <a:gd name="T52" fmla="*/ 3139 w 3696"/>
              <a:gd name="T53" fmla="*/ 1866 h 3696"/>
              <a:gd name="T54" fmla="*/ 2726 w 3696"/>
              <a:gd name="T55" fmla="*/ 1795 h 3696"/>
              <a:gd name="T56" fmla="*/ 1445 w 3696"/>
              <a:gd name="T57" fmla="*/ 1814 h 3696"/>
              <a:gd name="T58" fmla="*/ 986 w 3696"/>
              <a:gd name="T59" fmla="*/ 1893 h 3696"/>
              <a:gd name="T60" fmla="*/ 459 w 3696"/>
              <a:gd name="T61" fmla="*/ 1882 h 3696"/>
              <a:gd name="T62" fmla="*/ 1406 w 3696"/>
              <a:gd name="T63" fmla="*/ 1609 h 3696"/>
              <a:gd name="T64" fmla="*/ 2699 w 3696"/>
              <a:gd name="T65" fmla="*/ 1562 h 3696"/>
              <a:gd name="T66" fmla="*/ 3190 w 3696"/>
              <a:gd name="T67" fmla="*/ 1536 h 3696"/>
              <a:gd name="T68" fmla="*/ 585 w 3696"/>
              <a:gd name="T69" fmla="*/ 1597 h 3696"/>
              <a:gd name="T70" fmla="*/ 1652 w 3696"/>
              <a:gd name="T71" fmla="*/ 1509 h 3696"/>
              <a:gd name="T72" fmla="*/ 2610 w 3696"/>
              <a:gd name="T73" fmla="*/ 1454 h 3696"/>
              <a:gd name="T74" fmla="*/ 1795 w 3696"/>
              <a:gd name="T75" fmla="*/ 1418 h 3696"/>
              <a:gd name="T76" fmla="*/ 1024 w 3696"/>
              <a:gd name="T77" fmla="*/ 1372 h 3696"/>
              <a:gd name="T78" fmla="*/ 606 w 3696"/>
              <a:gd name="T79" fmla="*/ 1278 h 3696"/>
              <a:gd name="T80" fmla="*/ 1254 w 3696"/>
              <a:gd name="T81" fmla="*/ 1175 h 3696"/>
              <a:gd name="T82" fmla="*/ 3009 w 3696"/>
              <a:gd name="T83" fmla="*/ 1136 h 3696"/>
              <a:gd name="T84" fmla="*/ 732 w 3696"/>
              <a:gd name="T85" fmla="*/ 1157 h 3696"/>
              <a:gd name="T86" fmla="*/ 2240 w 3696"/>
              <a:gd name="T87" fmla="*/ 1079 h 3696"/>
              <a:gd name="T88" fmla="*/ 1348 w 3696"/>
              <a:gd name="T89" fmla="*/ 1049 h 3696"/>
              <a:gd name="T90" fmla="*/ 2079 w 3696"/>
              <a:gd name="T91" fmla="*/ 926 h 3696"/>
              <a:gd name="T92" fmla="*/ 1866 w 3696"/>
              <a:gd name="T93" fmla="*/ 899 h 3696"/>
              <a:gd name="T94" fmla="*/ 953 w 3696"/>
              <a:gd name="T95" fmla="*/ 906 h 3696"/>
              <a:gd name="T96" fmla="*/ 1099 w 3696"/>
              <a:gd name="T97" fmla="*/ 786 h 3696"/>
              <a:gd name="T98" fmla="*/ 2550 w 3696"/>
              <a:gd name="T99" fmla="*/ 765 h 3696"/>
              <a:gd name="T100" fmla="*/ 2320 w 3696"/>
              <a:gd name="T101" fmla="*/ 570 h 3696"/>
              <a:gd name="T102" fmla="*/ 1593 w 3696"/>
              <a:gd name="T103" fmla="*/ 474 h 3696"/>
              <a:gd name="T104" fmla="*/ 2166 w 3696"/>
              <a:gd name="T105" fmla="*/ 523 h 3696"/>
              <a:gd name="T106" fmla="*/ 1866 w 3696"/>
              <a:gd name="T107" fmla="*/ 557 h 3696"/>
              <a:gd name="T108" fmla="*/ 1848 w 3696"/>
              <a:gd name="T109" fmla="*/ 1960 h 3696"/>
              <a:gd name="T110" fmla="*/ 2064 w 3696"/>
              <a:gd name="T111" fmla="*/ 12 h 3696"/>
              <a:gd name="T112" fmla="*/ 1033 w 3696"/>
              <a:gd name="T113" fmla="*/ 316 h 3696"/>
              <a:gd name="T114" fmla="*/ 316 w 3696"/>
              <a:gd name="T115" fmla="*/ 2663 h 3696"/>
              <a:gd name="T116" fmla="*/ 2663 w 3696"/>
              <a:gd name="T117" fmla="*/ 3380 h 3696"/>
              <a:gd name="T118" fmla="*/ 3399 w 3696"/>
              <a:gd name="T119" fmla="*/ 1070 h 3696"/>
              <a:gd name="T120" fmla="*/ 3191 w 3696"/>
              <a:gd name="T121" fmla="*/ 3116 h 3696"/>
              <a:gd name="T122" fmla="*/ 659 w 3696"/>
              <a:gd name="T123" fmla="*/ 3260 h 3696"/>
              <a:gd name="T124" fmla="*/ 370 w 3696"/>
              <a:gd name="T125" fmla="*/ 740 h 3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96" h="3696">
                <a:moveTo>
                  <a:pt x="1848" y="3136"/>
                </a:moveTo>
                <a:lnTo>
                  <a:pt x="1866" y="3139"/>
                </a:lnTo>
                <a:lnTo>
                  <a:pt x="1882" y="3147"/>
                </a:lnTo>
                <a:lnTo>
                  <a:pt x="1893" y="3158"/>
                </a:lnTo>
                <a:lnTo>
                  <a:pt x="1901" y="3174"/>
                </a:lnTo>
                <a:lnTo>
                  <a:pt x="1904" y="3192"/>
                </a:lnTo>
                <a:lnTo>
                  <a:pt x="1901" y="3210"/>
                </a:lnTo>
                <a:lnTo>
                  <a:pt x="1893" y="3226"/>
                </a:lnTo>
                <a:lnTo>
                  <a:pt x="1882" y="3237"/>
                </a:lnTo>
                <a:lnTo>
                  <a:pt x="1866" y="3245"/>
                </a:lnTo>
                <a:lnTo>
                  <a:pt x="1848" y="3248"/>
                </a:lnTo>
                <a:lnTo>
                  <a:pt x="1830" y="3245"/>
                </a:lnTo>
                <a:lnTo>
                  <a:pt x="1814" y="3237"/>
                </a:lnTo>
                <a:lnTo>
                  <a:pt x="1803" y="3226"/>
                </a:lnTo>
                <a:lnTo>
                  <a:pt x="1795" y="3210"/>
                </a:lnTo>
                <a:lnTo>
                  <a:pt x="1792" y="3192"/>
                </a:lnTo>
                <a:lnTo>
                  <a:pt x="1795" y="3174"/>
                </a:lnTo>
                <a:lnTo>
                  <a:pt x="1803" y="3158"/>
                </a:lnTo>
                <a:lnTo>
                  <a:pt x="1814" y="3147"/>
                </a:lnTo>
                <a:lnTo>
                  <a:pt x="1830" y="3139"/>
                </a:lnTo>
                <a:lnTo>
                  <a:pt x="1848" y="3136"/>
                </a:lnTo>
                <a:close/>
                <a:moveTo>
                  <a:pt x="2117" y="3110"/>
                </a:moveTo>
                <a:lnTo>
                  <a:pt x="2134" y="3116"/>
                </a:lnTo>
                <a:lnTo>
                  <a:pt x="2148" y="3125"/>
                </a:lnTo>
                <a:lnTo>
                  <a:pt x="2158" y="3138"/>
                </a:lnTo>
                <a:lnTo>
                  <a:pt x="2165" y="3155"/>
                </a:lnTo>
                <a:lnTo>
                  <a:pt x="2166" y="3173"/>
                </a:lnTo>
                <a:lnTo>
                  <a:pt x="2160" y="3190"/>
                </a:lnTo>
                <a:lnTo>
                  <a:pt x="2152" y="3204"/>
                </a:lnTo>
                <a:lnTo>
                  <a:pt x="2138" y="3214"/>
                </a:lnTo>
                <a:lnTo>
                  <a:pt x="2121" y="3221"/>
                </a:lnTo>
                <a:lnTo>
                  <a:pt x="2103" y="3222"/>
                </a:lnTo>
                <a:lnTo>
                  <a:pt x="2087" y="3217"/>
                </a:lnTo>
                <a:lnTo>
                  <a:pt x="2072" y="3208"/>
                </a:lnTo>
                <a:lnTo>
                  <a:pt x="2062" y="3194"/>
                </a:lnTo>
                <a:lnTo>
                  <a:pt x="2055" y="3177"/>
                </a:lnTo>
                <a:lnTo>
                  <a:pt x="2055" y="3160"/>
                </a:lnTo>
                <a:lnTo>
                  <a:pt x="2060" y="3143"/>
                </a:lnTo>
                <a:lnTo>
                  <a:pt x="2069" y="3128"/>
                </a:lnTo>
                <a:lnTo>
                  <a:pt x="2082" y="3118"/>
                </a:lnTo>
                <a:lnTo>
                  <a:pt x="2099" y="3111"/>
                </a:lnTo>
                <a:lnTo>
                  <a:pt x="2117" y="3110"/>
                </a:lnTo>
                <a:close/>
                <a:moveTo>
                  <a:pt x="1586" y="3110"/>
                </a:moveTo>
                <a:lnTo>
                  <a:pt x="1597" y="3111"/>
                </a:lnTo>
                <a:lnTo>
                  <a:pt x="1614" y="3118"/>
                </a:lnTo>
                <a:lnTo>
                  <a:pt x="1627" y="3128"/>
                </a:lnTo>
                <a:lnTo>
                  <a:pt x="1636" y="3143"/>
                </a:lnTo>
                <a:lnTo>
                  <a:pt x="1641" y="3160"/>
                </a:lnTo>
                <a:lnTo>
                  <a:pt x="1641" y="3177"/>
                </a:lnTo>
                <a:lnTo>
                  <a:pt x="1634" y="3194"/>
                </a:lnTo>
                <a:lnTo>
                  <a:pt x="1624" y="3208"/>
                </a:lnTo>
                <a:lnTo>
                  <a:pt x="1609" y="3217"/>
                </a:lnTo>
                <a:lnTo>
                  <a:pt x="1593" y="3222"/>
                </a:lnTo>
                <a:lnTo>
                  <a:pt x="1575" y="3221"/>
                </a:lnTo>
                <a:lnTo>
                  <a:pt x="1558" y="3214"/>
                </a:lnTo>
                <a:lnTo>
                  <a:pt x="1544" y="3204"/>
                </a:lnTo>
                <a:lnTo>
                  <a:pt x="1536" y="3190"/>
                </a:lnTo>
                <a:lnTo>
                  <a:pt x="1530" y="3173"/>
                </a:lnTo>
                <a:lnTo>
                  <a:pt x="1531" y="3155"/>
                </a:lnTo>
                <a:lnTo>
                  <a:pt x="1537" y="3139"/>
                </a:lnTo>
                <a:lnTo>
                  <a:pt x="1547" y="3126"/>
                </a:lnTo>
                <a:lnTo>
                  <a:pt x="1559" y="3117"/>
                </a:lnTo>
                <a:lnTo>
                  <a:pt x="1575" y="3111"/>
                </a:lnTo>
                <a:lnTo>
                  <a:pt x="1586" y="3110"/>
                </a:lnTo>
                <a:close/>
                <a:moveTo>
                  <a:pt x="2363" y="3034"/>
                </a:moveTo>
                <a:lnTo>
                  <a:pt x="2379" y="3036"/>
                </a:lnTo>
                <a:lnTo>
                  <a:pt x="2393" y="3043"/>
                </a:lnTo>
                <a:lnTo>
                  <a:pt x="2406" y="3054"/>
                </a:lnTo>
                <a:lnTo>
                  <a:pt x="2414" y="3068"/>
                </a:lnTo>
                <a:lnTo>
                  <a:pt x="2418" y="3086"/>
                </a:lnTo>
                <a:lnTo>
                  <a:pt x="2417" y="3104"/>
                </a:lnTo>
                <a:lnTo>
                  <a:pt x="2410" y="3119"/>
                </a:lnTo>
                <a:lnTo>
                  <a:pt x="2399" y="3132"/>
                </a:lnTo>
                <a:lnTo>
                  <a:pt x="2383" y="3142"/>
                </a:lnTo>
                <a:lnTo>
                  <a:pt x="2367" y="3146"/>
                </a:lnTo>
                <a:lnTo>
                  <a:pt x="2349" y="3144"/>
                </a:lnTo>
                <a:lnTo>
                  <a:pt x="2333" y="3137"/>
                </a:lnTo>
                <a:lnTo>
                  <a:pt x="2320" y="3127"/>
                </a:lnTo>
                <a:lnTo>
                  <a:pt x="2311" y="3111"/>
                </a:lnTo>
                <a:lnTo>
                  <a:pt x="2306" y="3093"/>
                </a:lnTo>
                <a:lnTo>
                  <a:pt x="2308" y="3077"/>
                </a:lnTo>
                <a:lnTo>
                  <a:pt x="2315" y="3061"/>
                </a:lnTo>
                <a:lnTo>
                  <a:pt x="2325" y="3048"/>
                </a:lnTo>
                <a:lnTo>
                  <a:pt x="2341" y="3039"/>
                </a:lnTo>
                <a:lnTo>
                  <a:pt x="2352" y="3035"/>
                </a:lnTo>
                <a:lnTo>
                  <a:pt x="2363" y="3034"/>
                </a:lnTo>
                <a:close/>
                <a:moveTo>
                  <a:pt x="1333" y="3034"/>
                </a:moveTo>
                <a:lnTo>
                  <a:pt x="1344" y="3035"/>
                </a:lnTo>
                <a:lnTo>
                  <a:pt x="1355" y="3039"/>
                </a:lnTo>
                <a:lnTo>
                  <a:pt x="1371" y="3048"/>
                </a:lnTo>
                <a:lnTo>
                  <a:pt x="1381" y="3061"/>
                </a:lnTo>
                <a:lnTo>
                  <a:pt x="1388" y="3077"/>
                </a:lnTo>
                <a:lnTo>
                  <a:pt x="1390" y="3093"/>
                </a:lnTo>
                <a:lnTo>
                  <a:pt x="1385" y="3111"/>
                </a:lnTo>
                <a:lnTo>
                  <a:pt x="1376" y="3127"/>
                </a:lnTo>
                <a:lnTo>
                  <a:pt x="1363" y="3137"/>
                </a:lnTo>
                <a:lnTo>
                  <a:pt x="1347" y="3144"/>
                </a:lnTo>
                <a:lnTo>
                  <a:pt x="1329" y="3146"/>
                </a:lnTo>
                <a:lnTo>
                  <a:pt x="1313" y="3142"/>
                </a:lnTo>
                <a:lnTo>
                  <a:pt x="1297" y="3132"/>
                </a:lnTo>
                <a:lnTo>
                  <a:pt x="1286" y="3119"/>
                </a:lnTo>
                <a:lnTo>
                  <a:pt x="1279" y="3104"/>
                </a:lnTo>
                <a:lnTo>
                  <a:pt x="1278" y="3086"/>
                </a:lnTo>
                <a:lnTo>
                  <a:pt x="1282" y="3068"/>
                </a:lnTo>
                <a:lnTo>
                  <a:pt x="1290" y="3054"/>
                </a:lnTo>
                <a:lnTo>
                  <a:pt x="1303" y="3043"/>
                </a:lnTo>
                <a:lnTo>
                  <a:pt x="1317" y="3036"/>
                </a:lnTo>
                <a:lnTo>
                  <a:pt x="1333" y="3034"/>
                </a:lnTo>
                <a:close/>
                <a:moveTo>
                  <a:pt x="2601" y="2910"/>
                </a:moveTo>
                <a:lnTo>
                  <a:pt x="2616" y="2913"/>
                </a:lnTo>
                <a:lnTo>
                  <a:pt x="2630" y="2922"/>
                </a:lnTo>
                <a:lnTo>
                  <a:pt x="2641" y="2934"/>
                </a:lnTo>
                <a:lnTo>
                  <a:pt x="2649" y="2951"/>
                </a:lnTo>
                <a:lnTo>
                  <a:pt x="2651" y="2968"/>
                </a:lnTo>
                <a:lnTo>
                  <a:pt x="2648" y="2985"/>
                </a:lnTo>
                <a:lnTo>
                  <a:pt x="2639" y="2999"/>
                </a:lnTo>
                <a:lnTo>
                  <a:pt x="2626" y="3012"/>
                </a:lnTo>
                <a:lnTo>
                  <a:pt x="2610" y="3020"/>
                </a:lnTo>
                <a:lnTo>
                  <a:pt x="2593" y="3022"/>
                </a:lnTo>
                <a:lnTo>
                  <a:pt x="2576" y="3018"/>
                </a:lnTo>
                <a:lnTo>
                  <a:pt x="2560" y="3009"/>
                </a:lnTo>
                <a:lnTo>
                  <a:pt x="2548" y="2997"/>
                </a:lnTo>
                <a:lnTo>
                  <a:pt x="2540" y="2980"/>
                </a:lnTo>
                <a:lnTo>
                  <a:pt x="2539" y="2964"/>
                </a:lnTo>
                <a:lnTo>
                  <a:pt x="2542" y="2947"/>
                </a:lnTo>
                <a:lnTo>
                  <a:pt x="2550" y="2931"/>
                </a:lnTo>
                <a:lnTo>
                  <a:pt x="2564" y="2919"/>
                </a:lnTo>
                <a:lnTo>
                  <a:pt x="2574" y="2913"/>
                </a:lnTo>
                <a:lnTo>
                  <a:pt x="2584" y="2911"/>
                </a:lnTo>
                <a:lnTo>
                  <a:pt x="2601" y="2910"/>
                </a:lnTo>
                <a:close/>
                <a:moveTo>
                  <a:pt x="1095" y="2910"/>
                </a:moveTo>
                <a:lnTo>
                  <a:pt x="1112" y="2911"/>
                </a:lnTo>
                <a:lnTo>
                  <a:pt x="1122" y="2913"/>
                </a:lnTo>
                <a:lnTo>
                  <a:pt x="1132" y="2919"/>
                </a:lnTo>
                <a:lnTo>
                  <a:pt x="1146" y="2931"/>
                </a:lnTo>
                <a:lnTo>
                  <a:pt x="1154" y="2947"/>
                </a:lnTo>
                <a:lnTo>
                  <a:pt x="1157" y="2964"/>
                </a:lnTo>
                <a:lnTo>
                  <a:pt x="1156" y="2980"/>
                </a:lnTo>
                <a:lnTo>
                  <a:pt x="1148" y="2997"/>
                </a:lnTo>
                <a:lnTo>
                  <a:pt x="1136" y="3009"/>
                </a:lnTo>
                <a:lnTo>
                  <a:pt x="1120" y="3018"/>
                </a:lnTo>
                <a:lnTo>
                  <a:pt x="1103" y="3022"/>
                </a:lnTo>
                <a:lnTo>
                  <a:pt x="1086" y="3020"/>
                </a:lnTo>
                <a:lnTo>
                  <a:pt x="1070" y="3012"/>
                </a:lnTo>
                <a:lnTo>
                  <a:pt x="1057" y="2999"/>
                </a:lnTo>
                <a:lnTo>
                  <a:pt x="1048" y="2985"/>
                </a:lnTo>
                <a:lnTo>
                  <a:pt x="1045" y="2968"/>
                </a:lnTo>
                <a:lnTo>
                  <a:pt x="1047" y="2951"/>
                </a:lnTo>
                <a:lnTo>
                  <a:pt x="1055" y="2934"/>
                </a:lnTo>
                <a:lnTo>
                  <a:pt x="1066" y="2922"/>
                </a:lnTo>
                <a:lnTo>
                  <a:pt x="1080" y="2913"/>
                </a:lnTo>
                <a:lnTo>
                  <a:pt x="1095" y="2910"/>
                </a:lnTo>
                <a:close/>
                <a:moveTo>
                  <a:pt x="2798" y="2742"/>
                </a:moveTo>
                <a:lnTo>
                  <a:pt x="2812" y="2744"/>
                </a:lnTo>
                <a:lnTo>
                  <a:pt x="2826" y="2750"/>
                </a:lnTo>
                <a:lnTo>
                  <a:pt x="2838" y="2759"/>
                </a:lnTo>
                <a:lnTo>
                  <a:pt x="2848" y="2773"/>
                </a:lnTo>
                <a:lnTo>
                  <a:pt x="2854" y="2790"/>
                </a:lnTo>
                <a:lnTo>
                  <a:pt x="2854" y="2807"/>
                </a:lnTo>
                <a:lnTo>
                  <a:pt x="2848" y="2824"/>
                </a:lnTo>
                <a:lnTo>
                  <a:pt x="2838" y="2838"/>
                </a:lnTo>
                <a:lnTo>
                  <a:pt x="2824" y="2848"/>
                </a:lnTo>
                <a:lnTo>
                  <a:pt x="2807" y="2854"/>
                </a:lnTo>
                <a:lnTo>
                  <a:pt x="2790" y="2854"/>
                </a:lnTo>
                <a:lnTo>
                  <a:pt x="2773" y="2848"/>
                </a:lnTo>
                <a:lnTo>
                  <a:pt x="2759" y="2838"/>
                </a:lnTo>
                <a:lnTo>
                  <a:pt x="2748" y="2824"/>
                </a:lnTo>
                <a:lnTo>
                  <a:pt x="2743" y="2807"/>
                </a:lnTo>
                <a:lnTo>
                  <a:pt x="2743" y="2790"/>
                </a:lnTo>
                <a:lnTo>
                  <a:pt x="2748" y="2773"/>
                </a:lnTo>
                <a:lnTo>
                  <a:pt x="2759" y="2759"/>
                </a:lnTo>
                <a:lnTo>
                  <a:pt x="2771" y="2750"/>
                </a:lnTo>
                <a:lnTo>
                  <a:pt x="2784" y="2744"/>
                </a:lnTo>
                <a:lnTo>
                  <a:pt x="2798" y="2742"/>
                </a:lnTo>
                <a:close/>
                <a:moveTo>
                  <a:pt x="898" y="2742"/>
                </a:moveTo>
                <a:lnTo>
                  <a:pt x="912" y="2744"/>
                </a:lnTo>
                <a:lnTo>
                  <a:pt x="925" y="2750"/>
                </a:lnTo>
                <a:lnTo>
                  <a:pt x="937" y="2759"/>
                </a:lnTo>
                <a:lnTo>
                  <a:pt x="948" y="2773"/>
                </a:lnTo>
                <a:lnTo>
                  <a:pt x="953" y="2790"/>
                </a:lnTo>
                <a:lnTo>
                  <a:pt x="953" y="2807"/>
                </a:lnTo>
                <a:lnTo>
                  <a:pt x="948" y="2824"/>
                </a:lnTo>
                <a:lnTo>
                  <a:pt x="937" y="2838"/>
                </a:lnTo>
                <a:lnTo>
                  <a:pt x="923" y="2848"/>
                </a:lnTo>
                <a:lnTo>
                  <a:pt x="906" y="2854"/>
                </a:lnTo>
                <a:lnTo>
                  <a:pt x="889" y="2854"/>
                </a:lnTo>
                <a:lnTo>
                  <a:pt x="872" y="2848"/>
                </a:lnTo>
                <a:lnTo>
                  <a:pt x="858" y="2838"/>
                </a:lnTo>
                <a:lnTo>
                  <a:pt x="848" y="2824"/>
                </a:lnTo>
                <a:lnTo>
                  <a:pt x="842" y="2807"/>
                </a:lnTo>
                <a:lnTo>
                  <a:pt x="842" y="2790"/>
                </a:lnTo>
                <a:lnTo>
                  <a:pt x="848" y="2773"/>
                </a:lnTo>
                <a:lnTo>
                  <a:pt x="858" y="2759"/>
                </a:lnTo>
                <a:lnTo>
                  <a:pt x="870" y="2750"/>
                </a:lnTo>
                <a:lnTo>
                  <a:pt x="884" y="2744"/>
                </a:lnTo>
                <a:lnTo>
                  <a:pt x="898" y="2742"/>
                </a:lnTo>
                <a:close/>
                <a:moveTo>
                  <a:pt x="1848" y="2688"/>
                </a:moveTo>
                <a:lnTo>
                  <a:pt x="1866" y="2691"/>
                </a:lnTo>
                <a:lnTo>
                  <a:pt x="1882" y="2699"/>
                </a:lnTo>
                <a:lnTo>
                  <a:pt x="1893" y="2710"/>
                </a:lnTo>
                <a:lnTo>
                  <a:pt x="1901" y="2726"/>
                </a:lnTo>
                <a:lnTo>
                  <a:pt x="1904" y="2744"/>
                </a:lnTo>
                <a:lnTo>
                  <a:pt x="1901" y="2762"/>
                </a:lnTo>
                <a:lnTo>
                  <a:pt x="1893" y="2778"/>
                </a:lnTo>
                <a:lnTo>
                  <a:pt x="1882" y="2789"/>
                </a:lnTo>
                <a:lnTo>
                  <a:pt x="1866" y="2797"/>
                </a:lnTo>
                <a:lnTo>
                  <a:pt x="1848" y="2800"/>
                </a:lnTo>
                <a:lnTo>
                  <a:pt x="1830" y="2797"/>
                </a:lnTo>
                <a:lnTo>
                  <a:pt x="1814" y="2789"/>
                </a:lnTo>
                <a:lnTo>
                  <a:pt x="1803" y="2778"/>
                </a:lnTo>
                <a:lnTo>
                  <a:pt x="1795" y="2762"/>
                </a:lnTo>
                <a:lnTo>
                  <a:pt x="1792" y="2744"/>
                </a:lnTo>
                <a:lnTo>
                  <a:pt x="1795" y="2726"/>
                </a:lnTo>
                <a:lnTo>
                  <a:pt x="1803" y="2710"/>
                </a:lnTo>
                <a:lnTo>
                  <a:pt x="1814" y="2699"/>
                </a:lnTo>
                <a:lnTo>
                  <a:pt x="1830" y="2691"/>
                </a:lnTo>
                <a:lnTo>
                  <a:pt x="1848" y="2688"/>
                </a:lnTo>
                <a:close/>
                <a:moveTo>
                  <a:pt x="2082" y="2658"/>
                </a:moveTo>
                <a:lnTo>
                  <a:pt x="2100" y="2661"/>
                </a:lnTo>
                <a:lnTo>
                  <a:pt x="2115" y="2670"/>
                </a:lnTo>
                <a:lnTo>
                  <a:pt x="2127" y="2682"/>
                </a:lnTo>
                <a:lnTo>
                  <a:pt x="2134" y="2699"/>
                </a:lnTo>
                <a:lnTo>
                  <a:pt x="2136" y="2717"/>
                </a:lnTo>
                <a:lnTo>
                  <a:pt x="2132" y="2734"/>
                </a:lnTo>
                <a:lnTo>
                  <a:pt x="2124" y="2748"/>
                </a:lnTo>
                <a:lnTo>
                  <a:pt x="2111" y="2761"/>
                </a:lnTo>
                <a:lnTo>
                  <a:pt x="2094" y="2768"/>
                </a:lnTo>
                <a:lnTo>
                  <a:pt x="2076" y="2770"/>
                </a:lnTo>
                <a:lnTo>
                  <a:pt x="2060" y="2765"/>
                </a:lnTo>
                <a:lnTo>
                  <a:pt x="2045" y="2757"/>
                </a:lnTo>
                <a:lnTo>
                  <a:pt x="2033" y="2744"/>
                </a:lnTo>
                <a:lnTo>
                  <a:pt x="2026" y="2728"/>
                </a:lnTo>
                <a:lnTo>
                  <a:pt x="2024" y="2710"/>
                </a:lnTo>
                <a:lnTo>
                  <a:pt x="2027" y="2694"/>
                </a:lnTo>
                <a:lnTo>
                  <a:pt x="2036" y="2678"/>
                </a:lnTo>
                <a:lnTo>
                  <a:pt x="2048" y="2667"/>
                </a:lnTo>
                <a:lnTo>
                  <a:pt x="2065" y="2659"/>
                </a:lnTo>
                <a:lnTo>
                  <a:pt x="2073" y="2658"/>
                </a:lnTo>
                <a:lnTo>
                  <a:pt x="2082" y="2658"/>
                </a:lnTo>
                <a:close/>
                <a:moveTo>
                  <a:pt x="1615" y="2658"/>
                </a:moveTo>
                <a:lnTo>
                  <a:pt x="1623" y="2658"/>
                </a:lnTo>
                <a:lnTo>
                  <a:pt x="1631" y="2659"/>
                </a:lnTo>
                <a:lnTo>
                  <a:pt x="1646" y="2667"/>
                </a:lnTo>
                <a:lnTo>
                  <a:pt x="1660" y="2678"/>
                </a:lnTo>
                <a:lnTo>
                  <a:pt x="1669" y="2694"/>
                </a:lnTo>
                <a:lnTo>
                  <a:pt x="1672" y="2710"/>
                </a:lnTo>
                <a:lnTo>
                  <a:pt x="1670" y="2728"/>
                </a:lnTo>
                <a:lnTo>
                  <a:pt x="1663" y="2744"/>
                </a:lnTo>
                <a:lnTo>
                  <a:pt x="1651" y="2757"/>
                </a:lnTo>
                <a:lnTo>
                  <a:pt x="1636" y="2765"/>
                </a:lnTo>
                <a:lnTo>
                  <a:pt x="1620" y="2770"/>
                </a:lnTo>
                <a:lnTo>
                  <a:pt x="1602" y="2768"/>
                </a:lnTo>
                <a:lnTo>
                  <a:pt x="1585" y="2761"/>
                </a:lnTo>
                <a:lnTo>
                  <a:pt x="1572" y="2748"/>
                </a:lnTo>
                <a:lnTo>
                  <a:pt x="1564" y="2734"/>
                </a:lnTo>
                <a:lnTo>
                  <a:pt x="1560" y="2717"/>
                </a:lnTo>
                <a:lnTo>
                  <a:pt x="1562" y="2699"/>
                </a:lnTo>
                <a:lnTo>
                  <a:pt x="1569" y="2682"/>
                </a:lnTo>
                <a:lnTo>
                  <a:pt x="1581" y="2669"/>
                </a:lnTo>
                <a:lnTo>
                  <a:pt x="1597" y="2661"/>
                </a:lnTo>
                <a:lnTo>
                  <a:pt x="1615" y="2658"/>
                </a:lnTo>
                <a:close/>
                <a:moveTo>
                  <a:pt x="1398" y="2568"/>
                </a:moveTo>
                <a:lnTo>
                  <a:pt x="1413" y="2569"/>
                </a:lnTo>
                <a:lnTo>
                  <a:pt x="1428" y="2575"/>
                </a:lnTo>
                <a:lnTo>
                  <a:pt x="1439" y="2584"/>
                </a:lnTo>
                <a:lnTo>
                  <a:pt x="1448" y="2596"/>
                </a:lnTo>
                <a:lnTo>
                  <a:pt x="1454" y="2610"/>
                </a:lnTo>
                <a:lnTo>
                  <a:pt x="1456" y="2624"/>
                </a:lnTo>
                <a:lnTo>
                  <a:pt x="1454" y="2639"/>
                </a:lnTo>
                <a:lnTo>
                  <a:pt x="1448" y="2652"/>
                </a:lnTo>
                <a:lnTo>
                  <a:pt x="1439" y="2663"/>
                </a:lnTo>
                <a:lnTo>
                  <a:pt x="1428" y="2672"/>
                </a:lnTo>
                <a:lnTo>
                  <a:pt x="1415" y="2678"/>
                </a:lnTo>
                <a:lnTo>
                  <a:pt x="1400" y="2680"/>
                </a:lnTo>
                <a:lnTo>
                  <a:pt x="1385" y="2678"/>
                </a:lnTo>
                <a:lnTo>
                  <a:pt x="1372" y="2672"/>
                </a:lnTo>
                <a:lnTo>
                  <a:pt x="1359" y="2661"/>
                </a:lnTo>
                <a:lnTo>
                  <a:pt x="1348" y="2647"/>
                </a:lnTo>
                <a:lnTo>
                  <a:pt x="1344" y="2630"/>
                </a:lnTo>
                <a:lnTo>
                  <a:pt x="1345" y="2613"/>
                </a:lnTo>
                <a:lnTo>
                  <a:pt x="1352" y="2596"/>
                </a:lnTo>
                <a:lnTo>
                  <a:pt x="1360" y="2585"/>
                </a:lnTo>
                <a:lnTo>
                  <a:pt x="1371" y="2576"/>
                </a:lnTo>
                <a:lnTo>
                  <a:pt x="1383" y="2570"/>
                </a:lnTo>
                <a:lnTo>
                  <a:pt x="1398" y="2568"/>
                </a:lnTo>
                <a:close/>
                <a:moveTo>
                  <a:pt x="2295" y="2568"/>
                </a:moveTo>
                <a:lnTo>
                  <a:pt x="2309" y="2569"/>
                </a:lnTo>
                <a:lnTo>
                  <a:pt x="2323" y="2575"/>
                </a:lnTo>
                <a:lnTo>
                  <a:pt x="2335" y="2584"/>
                </a:lnTo>
                <a:lnTo>
                  <a:pt x="2344" y="2596"/>
                </a:lnTo>
                <a:lnTo>
                  <a:pt x="2351" y="2613"/>
                </a:lnTo>
                <a:lnTo>
                  <a:pt x="2352" y="2630"/>
                </a:lnTo>
                <a:lnTo>
                  <a:pt x="2348" y="2647"/>
                </a:lnTo>
                <a:lnTo>
                  <a:pt x="2337" y="2661"/>
                </a:lnTo>
                <a:lnTo>
                  <a:pt x="2324" y="2672"/>
                </a:lnTo>
                <a:lnTo>
                  <a:pt x="2307" y="2679"/>
                </a:lnTo>
                <a:lnTo>
                  <a:pt x="2290" y="2679"/>
                </a:lnTo>
                <a:lnTo>
                  <a:pt x="2274" y="2675"/>
                </a:lnTo>
                <a:lnTo>
                  <a:pt x="2259" y="2666"/>
                </a:lnTo>
                <a:lnTo>
                  <a:pt x="2248" y="2652"/>
                </a:lnTo>
                <a:lnTo>
                  <a:pt x="2242" y="2639"/>
                </a:lnTo>
                <a:lnTo>
                  <a:pt x="2240" y="2624"/>
                </a:lnTo>
                <a:lnTo>
                  <a:pt x="2242" y="2610"/>
                </a:lnTo>
                <a:lnTo>
                  <a:pt x="2248" y="2596"/>
                </a:lnTo>
                <a:lnTo>
                  <a:pt x="2257" y="2584"/>
                </a:lnTo>
                <a:lnTo>
                  <a:pt x="2268" y="2575"/>
                </a:lnTo>
                <a:lnTo>
                  <a:pt x="2280" y="2570"/>
                </a:lnTo>
                <a:lnTo>
                  <a:pt x="2295" y="2568"/>
                </a:lnTo>
                <a:close/>
                <a:moveTo>
                  <a:pt x="2960" y="2539"/>
                </a:moveTo>
                <a:lnTo>
                  <a:pt x="2976" y="2540"/>
                </a:lnTo>
                <a:lnTo>
                  <a:pt x="2987" y="2542"/>
                </a:lnTo>
                <a:lnTo>
                  <a:pt x="2997" y="2548"/>
                </a:lnTo>
                <a:lnTo>
                  <a:pt x="3009" y="2560"/>
                </a:lnTo>
                <a:lnTo>
                  <a:pt x="3018" y="2576"/>
                </a:lnTo>
                <a:lnTo>
                  <a:pt x="3022" y="2593"/>
                </a:lnTo>
                <a:lnTo>
                  <a:pt x="3020" y="2610"/>
                </a:lnTo>
                <a:lnTo>
                  <a:pt x="3012" y="2626"/>
                </a:lnTo>
                <a:lnTo>
                  <a:pt x="2999" y="2639"/>
                </a:lnTo>
                <a:lnTo>
                  <a:pt x="2985" y="2648"/>
                </a:lnTo>
                <a:lnTo>
                  <a:pt x="2968" y="2651"/>
                </a:lnTo>
                <a:lnTo>
                  <a:pt x="2951" y="2649"/>
                </a:lnTo>
                <a:lnTo>
                  <a:pt x="2934" y="2641"/>
                </a:lnTo>
                <a:lnTo>
                  <a:pt x="2921" y="2629"/>
                </a:lnTo>
                <a:lnTo>
                  <a:pt x="2913" y="2614"/>
                </a:lnTo>
                <a:lnTo>
                  <a:pt x="2910" y="2597"/>
                </a:lnTo>
                <a:lnTo>
                  <a:pt x="2912" y="2579"/>
                </a:lnTo>
                <a:lnTo>
                  <a:pt x="2919" y="2564"/>
                </a:lnTo>
                <a:lnTo>
                  <a:pt x="2930" y="2551"/>
                </a:lnTo>
                <a:lnTo>
                  <a:pt x="2944" y="2542"/>
                </a:lnTo>
                <a:lnTo>
                  <a:pt x="2960" y="2539"/>
                </a:lnTo>
                <a:close/>
                <a:moveTo>
                  <a:pt x="736" y="2539"/>
                </a:moveTo>
                <a:lnTo>
                  <a:pt x="752" y="2542"/>
                </a:lnTo>
                <a:lnTo>
                  <a:pt x="766" y="2551"/>
                </a:lnTo>
                <a:lnTo>
                  <a:pt x="777" y="2564"/>
                </a:lnTo>
                <a:lnTo>
                  <a:pt x="784" y="2579"/>
                </a:lnTo>
                <a:lnTo>
                  <a:pt x="786" y="2597"/>
                </a:lnTo>
                <a:lnTo>
                  <a:pt x="783" y="2614"/>
                </a:lnTo>
                <a:lnTo>
                  <a:pt x="775" y="2629"/>
                </a:lnTo>
                <a:lnTo>
                  <a:pt x="762" y="2641"/>
                </a:lnTo>
                <a:lnTo>
                  <a:pt x="745" y="2649"/>
                </a:lnTo>
                <a:lnTo>
                  <a:pt x="728" y="2651"/>
                </a:lnTo>
                <a:lnTo>
                  <a:pt x="711" y="2648"/>
                </a:lnTo>
                <a:lnTo>
                  <a:pt x="697" y="2639"/>
                </a:lnTo>
                <a:lnTo>
                  <a:pt x="684" y="2626"/>
                </a:lnTo>
                <a:lnTo>
                  <a:pt x="676" y="2610"/>
                </a:lnTo>
                <a:lnTo>
                  <a:pt x="674" y="2593"/>
                </a:lnTo>
                <a:lnTo>
                  <a:pt x="678" y="2576"/>
                </a:lnTo>
                <a:lnTo>
                  <a:pt x="687" y="2560"/>
                </a:lnTo>
                <a:lnTo>
                  <a:pt x="699" y="2548"/>
                </a:lnTo>
                <a:lnTo>
                  <a:pt x="709" y="2542"/>
                </a:lnTo>
                <a:lnTo>
                  <a:pt x="720" y="2540"/>
                </a:lnTo>
                <a:lnTo>
                  <a:pt x="736" y="2539"/>
                </a:lnTo>
                <a:close/>
                <a:moveTo>
                  <a:pt x="2482" y="2426"/>
                </a:moveTo>
                <a:lnTo>
                  <a:pt x="2496" y="2428"/>
                </a:lnTo>
                <a:lnTo>
                  <a:pt x="2510" y="2434"/>
                </a:lnTo>
                <a:lnTo>
                  <a:pt x="2521" y="2442"/>
                </a:lnTo>
                <a:lnTo>
                  <a:pt x="2531" y="2456"/>
                </a:lnTo>
                <a:lnTo>
                  <a:pt x="2537" y="2473"/>
                </a:lnTo>
                <a:lnTo>
                  <a:pt x="2537" y="2490"/>
                </a:lnTo>
                <a:lnTo>
                  <a:pt x="2531" y="2507"/>
                </a:lnTo>
                <a:lnTo>
                  <a:pt x="2521" y="2521"/>
                </a:lnTo>
                <a:lnTo>
                  <a:pt x="2507" y="2531"/>
                </a:lnTo>
                <a:lnTo>
                  <a:pt x="2490" y="2537"/>
                </a:lnTo>
                <a:lnTo>
                  <a:pt x="2473" y="2537"/>
                </a:lnTo>
                <a:lnTo>
                  <a:pt x="2456" y="2531"/>
                </a:lnTo>
                <a:lnTo>
                  <a:pt x="2442" y="2521"/>
                </a:lnTo>
                <a:lnTo>
                  <a:pt x="2432" y="2507"/>
                </a:lnTo>
                <a:lnTo>
                  <a:pt x="2426" y="2490"/>
                </a:lnTo>
                <a:lnTo>
                  <a:pt x="2426" y="2473"/>
                </a:lnTo>
                <a:lnTo>
                  <a:pt x="2432" y="2456"/>
                </a:lnTo>
                <a:lnTo>
                  <a:pt x="2442" y="2442"/>
                </a:lnTo>
                <a:lnTo>
                  <a:pt x="2454" y="2433"/>
                </a:lnTo>
                <a:lnTo>
                  <a:pt x="2467" y="2427"/>
                </a:lnTo>
                <a:lnTo>
                  <a:pt x="2482" y="2426"/>
                </a:lnTo>
                <a:close/>
                <a:moveTo>
                  <a:pt x="1215" y="2426"/>
                </a:moveTo>
                <a:lnTo>
                  <a:pt x="1230" y="2428"/>
                </a:lnTo>
                <a:lnTo>
                  <a:pt x="1242" y="2434"/>
                </a:lnTo>
                <a:lnTo>
                  <a:pt x="1254" y="2442"/>
                </a:lnTo>
                <a:lnTo>
                  <a:pt x="1264" y="2456"/>
                </a:lnTo>
                <a:lnTo>
                  <a:pt x="1270" y="2473"/>
                </a:lnTo>
                <a:lnTo>
                  <a:pt x="1270" y="2490"/>
                </a:lnTo>
                <a:lnTo>
                  <a:pt x="1264" y="2507"/>
                </a:lnTo>
                <a:lnTo>
                  <a:pt x="1254" y="2521"/>
                </a:lnTo>
                <a:lnTo>
                  <a:pt x="1240" y="2531"/>
                </a:lnTo>
                <a:lnTo>
                  <a:pt x="1223" y="2537"/>
                </a:lnTo>
                <a:lnTo>
                  <a:pt x="1206" y="2537"/>
                </a:lnTo>
                <a:lnTo>
                  <a:pt x="1189" y="2531"/>
                </a:lnTo>
                <a:lnTo>
                  <a:pt x="1175" y="2521"/>
                </a:lnTo>
                <a:lnTo>
                  <a:pt x="1165" y="2507"/>
                </a:lnTo>
                <a:lnTo>
                  <a:pt x="1159" y="2490"/>
                </a:lnTo>
                <a:lnTo>
                  <a:pt x="1159" y="2473"/>
                </a:lnTo>
                <a:lnTo>
                  <a:pt x="1165" y="2456"/>
                </a:lnTo>
                <a:lnTo>
                  <a:pt x="1175" y="2442"/>
                </a:lnTo>
                <a:lnTo>
                  <a:pt x="1187" y="2433"/>
                </a:lnTo>
                <a:lnTo>
                  <a:pt x="1201" y="2427"/>
                </a:lnTo>
                <a:lnTo>
                  <a:pt x="1215" y="2426"/>
                </a:lnTo>
                <a:close/>
                <a:moveTo>
                  <a:pt x="3089" y="2306"/>
                </a:moveTo>
                <a:lnTo>
                  <a:pt x="3100" y="2307"/>
                </a:lnTo>
                <a:lnTo>
                  <a:pt x="3111" y="2311"/>
                </a:lnTo>
                <a:lnTo>
                  <a:pt x="3127" y="2320"/>
                </a:lnTo>
                <a:lnTo>
                  <a:pt x="3137" y="2333"/>
                </a:lnTo>
                <a:lnTo>
                  <a:pt x="3144" y="2349"/>
                </a:lnTo>
                <a:lnTo>
                  <a:pt x="3146" y="2367"/>
                </a:lnTo>
                <a:lnTo>
                  <a:pt x="3142" y="2383"/>
                </a:lnTo>
                <a:lnTo>
                  <a:pt x="3132" y="2399"/>
                </a:lnTo>
                <a:lnTo>
                  <a:pt x="3119" y="2410"/>
                </a:lnTo>
                <a:lnTo>
                  <a:pt x="3104" y="2417"/>
                </a:lnTo>
                <a:lnTo>
                  <a:pt x="3086" y="2418"/>
                </a:lnTo>
                <a:lnTo>
                  <a:pt x="3068" y="2414"/>
                </a:lnTo>
                <a:lnTo>
                  <a:pt x="3053" y="2405"/>
                </a:lnTo>
                <a:lnTo>
                  <a:pt x="3042" y="2391"/>
                </a:lnTo>
                <a:lnTo>
                  <a:pt x="3035" y="2376"/>
                </a:lnTo>
                <a:lnTo>
                  <a:pt x="3034" y="2359"/>
                </a:lnTo>
                <a:lnTo>
                  <a:pt x="3039" y="2341"/>
                </a:lnTo>
                <a:lnTo>
                  <a:pt x="3046" y="2326"/>
                </a:lnTo>
                <a:lnTo>
                  <a:pt x="3059" y="2316"/>
                </a:lnTo>
                <a:lnTo>
                  <a:pt x="3073" y="2308"/>
                </a:lnTo>
                <a:lnTo>
                  <a:pt x="3089" y="2306"/>
                </a:lnTo>
                <a:close/>
                <a:moveTo>
                  <a:pt x="607" y="2306"/>
                </a:moveTo>
                <a:lnTo>
                  <a:pt x="623" y="2308"/>
                </a:lnTo>
                <a:lnTo>
                  <a:pt x="637" y="2316"/>
                </a:lnTo>
                <a:lnTo>
                  <a:pt x="650" y="2326"/>
                </a:lnTo>
                <a:lnTo>
                  <a:pt x="657" y="2341"/>
                </a:lnTo>
                <a:lnTo>
                  <a:pt x="662" y="2359"/>
                </a:lnTo>
                <a:lnTo>
                  <a:pt x="661" y="2376"/>
                </a:lnTo>
                <a:lnTo>
                  <a:pt x="654" y="2391"/>
                </a:lnTo>
                <a:lnTo>
                  <a:pt x="643" y="2405"/>
                </a:lnTo>
                <a:lnTo>
                  <a:pt x="628" y="2414"/>
                </a:lnTo>
                <a:lnTo>
                  <a:pt x="610" y="2418"/>
                </a:lnTo>
                <a:lnTo>
                  <a:pt x="592" y="2417"/>
                </a:lnTo>
                <a:lnTo>
                  <a:pt x="577" y="2410"/>
                </a:lnTo>
                <a:lnTo>
                  <a:pt x="564" y="2399"/>
                </a:lnTo>
                <a:lnTo>
                  <a:pt x="554" y="2383"/>
                </a:lnTo>
                <a:lnTo>
                  <a:pt x="550" y="2367"/>
                </a:lnTo>
                <a:lnTo>
                  <a:pt x="552" y="2349"/>
                </a:lnTo>
                <a:lnTo>
                  <a:pt x="559" y="2333"/>
                </a:lnTo>
                <a:lnTo>
                  <a:pt x="569" y="2320"/>
                </a:lnTo>
                <a:lnTo>
                  <a:pt x="585" y="2311"/>
                </a:lnTo>
                <a:lnTo>
                  <a:pt x="596" y="2307"/>
                </a:lnTo>
                <a:lnTo>
                  <a:pt x="607" y="2306"/>
                </a:lnTo>
                <a:close/>
                <a:moveTo>
                  <a:pt x="2621" y="2240"/>
                </a:moveTo>
                <a:lnTo>
                  <a:pt x="2638" y="2242"/>
                </a:lnTo>
                <a:lnTo>
                  <a:pt x="2652" y="2248"/>
                </a:lnTo>
                <a:lnTo>
                  <a:pt x="2666" y="2259"/>
                </a:lnTo>
                <a:lnTo>
                  <a:pt x="2675" y="2274"/>
                </a:lnTo>
                <a:lnTo>
                  <a:pt x="2679" y="2290"/>
                </a:lnTo>
                <a:lnTo>
                  <a:pt x="2679" y="2307"/>
                </a:lnTo>
                <a:lnTo>
                  <a:pt x="2672" y="2324"/>
                </a:lnTo>
                <a:lnTo>
                  <a:pt x="2661" y="2337"/>
                </a:lnTo>
                <a:lnTo>
                  <a:pt x="2647" y="2348"/>
                </a:lnTo>
                <a:lnTo>
                  <a:pt x="2630" y="2352"/>
                </a:lnTo>
                <a:lnTo>
                  <a:pt x="2613" y="2351"/>
                </a:lnTo>
                <a:lnTo>
                  <a:pt x="2596" y="2344"/>
                </a:lnTo>
                <a:lnTo>
                  <a:pt x="2582" y="2333"/>
                </a:lnTo>
                <a:lnTo>
                  <a:pt x="2573" y="2318"/>
                </a:lnTo>
                <a:lnTo>
                  <a:pt x="2568" y="2302"/>
                </a:lnTo>
                <a:lnTo>
                  <a:pt x="2569" y="2285"/>
                </a:lnTo>
                <a:lnTo>
                  <a:pt x="2575" y="2268"/>
                </a:lnTo>
                <a:lnTo>
                  <a:pt x="2584" y="2257"/>
                </a:lnTo>
                <a:lnTo>
                  <a:pt x="2595" y="2248"/>
                </a:lnTo>
                <a:lnTo>
                  <a:pt x="2607" y="2242"/>
                </a:lnTo>
                <a:lnTo>
                  <a:pt x="2621" y="2240"/>
                </a:lnTo>
                <a:close/>
                <a:moveTo>
                  <a:pt x="1848" y="2240"/>
                </a:moveTo>
                <a:lnTo>
                  <a:pt x="1866" y="2243"/>
                </a:lnTo>
                <a:lnTo>
                  <a:pt x="1882" y="2251"/>
                </a:lnTo>
                <a:lnTo>
                  <a:pt x="1893" y="2262"/>
                </a:lnTo>
                <a:lnTo>
                  <a:pt x="1901" y="2278"/>
                </a:lnTo>
                <a:lnTo>
                  <a:pt x="1904" y="2296"/>
                </a:lnTo>
                <a:lnTo>
                  <a:pt x="1901" y="2314"/>
                </a:lnTo>
                <a:lnTo>
                  <a:pt x="1893" y="2330"/>
                </a:lnTo>
                <a:lnTo>
                  <a:pt x="1882" y="2341"/>
                </a:lnTo>
                <a:lnTo>
                  <a:pt x="1866" y="2349"/>
                </a:lnTo>
                <a:lnTo>
                  <a:pt x="1848" y="2352"/>
                </a:lnTo>
                <a:lnTo>
                  <a:pt x="1830" y="2349"/>
                </a:lnTo>
                <a:lnTo>
                  <a:pt x="1814" y="2341"/>
                </a:lnTo>
                <a:lnTo>
                  <a:pt x="1803" y="2330"/>
                </a:lnTo>
                <a:lnTo>
                  <a:pt x="1795" y="2314"/>
                </a:lnTo>
                <a:lnTo>
                  <a:pt x="1792" y="2296"/>
                </a:lnTo>
                <a:lnTo>
                  <a:pt x="1795" y="2278"/>
                </a:lnTo>
                <a:lnTo>
                  <a:pt x="1803" y="2262"/>
                </a:lnTo>
                <a:lnTo>
                  <a:pt x="1814" y="2251"/>
                </a:lnTo>
                <a:lnTo>
                  <a:pt x="1830" y="2243"/>
                </a:lnTo>
                <a:lnTo>
                  <a:pt x="1848" y="2240"/>
                </a:lnTo>
                <a:close/>
                <a:moveTo>
                  <a:pt x="1071" y="2240"/>
                </a:moveTo>
                <a:lnTo>
                  <a:pt x="1085" y="2241"/>
                </a:lnTo>
                <a:lnTo>
                  <a:pt x="1100" y="2247"/>
                </a:lnTo>
                <a:lnTo>
                  <a:pt x="1111" y="2256"/>
                </a:lnTo>
                <a:lnTo>
                  <a:pt x="1121" y="2268"/>
                </a:lnTo>
                <a:lnTo>
                  <a:pt x="1127" y="2281"/>
                </a:lnTo>
                <a:lnTo>
                  <a:pt x="1128" y="2296"/>
                </a:lnTo>
                <a:lnTo>
                  <a:pt x="1126" y="2311"/>
                </a:lnTo>
                <a:lnTo>
                  <a:pt x="1121" y="2324"/>
                </a:lnTo>
                <a:lnTo>
                  <a:pt x="1112" y="2335"/>
                </a:lnTo>
                <a:lnTo>
                  <a:pt x="1100" y="2344"/>
                </a:lnTo>
                <a:lnTo>
                  <a:pt x="1086" y="2350"/>
                </a:lnTo>
                <a:lnTo>
                  <a:pt x="1072" y="2352"/>
                </a:lnTo>
                <a:lnTo>
                  <a:pt x="1057" y="2350"/>
                </a:lnTo>
                <a:lnTo>
                  <a:pt x="1044" y="2344"/>
                </a:lnTo>
                <a:lnTo>
                  <a:pt x="1033" y="2335"/>
                </a:lnTo>
                <a:lnTo>
                  <a:pt x="1024" y="2324"/>
                </a:lnTo>
                <a:lnTo>
                  <a:pt x="1017" y="2307"/>
                </a:lnTo>
                <a:lnTo>
                  <a:pt x="1016" y="2290"/>
                </a:lnTo>
                <a:lnTo>
                  <a:pt x="1020" y="2274"/>
                </a:lnTo>
                <a:lnTo>
                  <a:pt x="1030" y="2259"/>
                </a:lnTo>
                <a:lnTo>
                  <a:pt x="1044" y="2248"/>
                </a:lnTo>
                <a:lnTo>
                  <a:pt x="1057" y="2242"/>
                </a:lnTo>
                <a:lnTo>
                  <a:pt x="1071" y="2240"/>
                </a:lnTo>
                <a:close/>
                <a:moveTo>
                  <a:pt x="1622" y="2181"/>
                </a:moveTo>
                <a:lnTo>
                  <a:pt x="1637" y="2182"/>
                </a:lnTo>
                <a:lnTo>
                  <a:pt x="1652" y="2187"/>
                </a:lnTo>
                <a:lnTo>
                  <a:pt x="1663" y="2196"/>
                </a:lnTo>
                <a:lnTo>
                  <a:pt x="1672" y="2208"/>
                </a:lnTo>
                <a:lnTo>
                  <a:pt x="1678" y="2222"/>
                </a:lnTo>
                <a:lnTo>
                  <a:pt x="1680" y="2237"/>
                </a:lnTo>
                <a:lnTo>
                  <a:pt x="1678" y="2250"/>
                </a:lnTo>
                <a:lnTo>
                  <a:pt x="1672" y="2265"/>
                </a:lnTo>
                <a:lnTo>
                  <a:pt x="1663" y="2276"/>
                </a:lnTo>
                <a:lnTo>
                  <a:pt x="1652" y="2285"/>
                </a:lnTo>
                <a:lnTo>
                  <a:pt x="1639" y="2290"/>
                </a:lnTo>
                <a:lnTo>
                  <a:pt x="1624" y="2293"/>
                </a:lnTo>
                <a:lnTo>
                  <a:pt x="1609" y="2290"/>
                </a:lnTo>
                <a:lnTo>
                  <a:pt x="1596" y="2285"/>
                </a:lnTo>
                <a:lnTo>
                  <a:pt x="1583" y="2274"/>
                </a:lnTo>
                <a:lnTo>
                  <a:pt x="1572" y="2259"/>
                </a:lnTo>
                <a:lnTo>
                  <a:pt x="1568" y="2242"/>
                </a:lnTo>
                <a:lnTo>
                  <a:pt x="1569" y="2224"/>
                </a:lnTo>
                <a:lnTo>
                  <a:pt x="1576" y="2209"/>
                </a:lnTo>
                <a:lnTo>
                  <a:pt x="1584" y="2196"/>
                </a:lnTo>
                <a:lnTo>
                  <a:pt x="1595" y="2188"/>
                </a:lnTo>
                <a:lnTo>
                  <a:pt x="1607" y="2183"/>
                </a:lnTo>
                <a:lnTo>
                  <a:pt x="1622" y="2181"/>
                </a:lnTo>
                <a:close/>
                <a:moveTo>
                  <a:pt x="2071" y="2180"/>
                </a:moveTo>
                <a:lnTo>
                  <a:pt x="2085" y="2182"/>
                </a:lnTo>
                <a:lnTo>
                  <a:pt x="2099" y="2187"/>
                </a:lnTo>
                <a:lnTo>
                  <a:pt x="2111" y="2196"/>
                </a:lnTo>
                <a:lnTo>
                  <a:pt x="2120" y="2208"/>
                </a:lnTo>
                <a:lnTo>
                  <a:pt x="2127" y="2224"/>
                </a:lnTo>
                <a:lnTo>
                  <a:pt x="2128" y="2242"/>
                </a:lnTo>
                <a:lnTo>
                  <a:pt x="2124" y="2259"/>
                </a:lnTo>
                <a:lnTo>
                  <a:pt x="2113" y="2274"/>
                </a:lnTo>
                <a:lnTo>
                  <a:pt x="2100" y="2285"/>
                </a:lnTo>
                <a:lnTo>
                  <a:pt x="2083" y="2290"/>
                </a:lnTo>
                <a:lnTo>
                  <a:pt x="2066" y="2292"/>
                </a:lnTo>
                <a:lnTo>
                  <a:pt x="2050" y="2287"/>
                </a:lnTo>
                <a:lnTo>
                  <a:pt x="2035" y="2278"/>
                </a:lnTo>
                <a:lnTo>
                  <a:pt x="2024" y="2264"/>
                </a:lnTo>
                <a:lnTo>
                  <a:pt x="2018" y="2250"/>
                </a:lnTo>
                <a:lnTo>
                  <a:pt x="2016" y="2236"/>
                </a:lnTo>
                <a:lnTo>
                  <a:pt x="2018" y="2221"/>
                </a:lnTo>
                <a:lnTo>
                  <a:pt x="2024" y="2208"/>
                </a:lnTo>
                <a:lnTo>
                  <a:pt x="2033" y="2196"/>
                </a:lnTo>
                <a:lnTo>
                  <a:pt x="2044" y="2187"/>
                </a:lnTo>
                <a:lnTo>
                  <a:pt x="2056" y="2182"/>
                </a:lnTo>
                <a:lnTo>
                  <a:pt x="2071" y="2180"/>
                </a:lnTo>
                <a:close/>
                <a:moveTo>
                  <a:pt x="536" y="2055"/>
                </a:moveTo>
                <a:lnTo>
                  <a:pt x="553" y="2060"/>
                </a:lnTo>
                <a:lnTo>
                  <a:pt x="568" y="2069"/>
                </a:lnTo>
                <a:lnTo>
                  <a:pt x="578" y="2082"/>
                </a:lnTo>
                <a:lnTo>
                  <a:pt x="585" y="2099"/>
                </a:lnTo>
                <a:lnTo>
                  <a:pt x="586" y="2117"/>
                </a:lnTo>
                <a:lnTo>
                  <a:pt x="580" y="2134"/>
                </a:lnTo>
                <a:lnTo>
                  <a:pt x="571" y="2148"/>
                </a:lnTo>
                <a:lnTo>
                  <a:pt x="558" y="2158"/>
                </a:lnTo>
                <a:lnTo>
                  <a:pt x="541" y="2165"/>
                </a:lnTo>
                <a:lnTo>
                  <a:pt x="523" y="2166"/>
                </a:lnTo>
                <a:lnTo>
                  <a:pt x="506" y="2160"/>
                </a:lnTo>
                <a:lnTo>
                  <a:pt x="492" y="2152"/>
                </a:lnTo>
                <a:lnTo>
                  <a:pt x="482" y="2138"/>
                </a:lnTo>
                <a:lnTo>
                  <a:pt x="475" y="2121"/>
                </a:lnTo>
                <a:lnTo>
                  <a:pt x="474" y="2103"/>
                </a:lnTo>
                <a:lnTo>
                  <a:pt x="479" y="2087"/>
                </a:lnTo>
                <a:lnTo>
                  <a:pt x="488" y="2072"/>
                </a:lnTo>
                <a:lnTo>
                  <a:pt x="502" y="2062"/>
                </a:lnTo>
                <a:lnTo>
                  <a:pt x="519" y="2055"/>
                </a:lnTo>
                <a:lnTo>
                  <a:pt x="536" y="2055"/>
                </a:lnTo>
                <a:close/>
                <a:moveTo>
                  <a:pt x="3166" y="2054"/>
                </a:moveTo>
                <a:lnTo>
                  <a:pt x="3177" y="2055"/>
                </a:lnTo>
                <a:lnTo>
                  <a:pt x="3194" y="2062"/>
                </a:lnTo>
                <a:lnTo>
                  <a:pt x="3208" y="2072"/>
                </a:lnTo>
                <a:lnTo>
                  <a:pt x="3217" y="2087"/>
                </a:lnTo>
                <a:lnTo>
                  <a:pt x="3222" y="2103"/>
                </a:lnTo>
                <a:lnTo>
                  <a:pt x="3221" y="2121"/>
                </a:lnTo>
                <a:lnTo>
                  <a:pt x="3214" y="2138"/>
                </a:lnTo>
                <a:lnTo>
                  <a:pt x="3204" y="2152"/>
                </a:lnTo>
                <a:lnTo>
                  <a:pt x="3190" y="2160"/>
                </a:lnTo>
                <a:lnTo>
                  <a:pt x="3173" y="2166"/>
                </a:lnTo>
                <a:lnTo>
                  <a:pt x="3155" y="2165"/>
                </a:lnTo>
                <a:lnTo>
                  <a:pt x="3138" y="2158"/>
                </a:lnTo>
                <a:lnTo>
                  <a:pt x="3125" y="2148"/>
                </a:lnTo>
                <a:lnTo>
                  <a:pt x="3116" y="2134"/>
                </a:lnTo>
                <a:lnTo>
                  <a:pt x="3110" y="2117"/>
                </a:lnTo>
                <a:lnTo>
                  <a:pt x="3111" y="2099"/>
                </a:lnTo>
                <a:lnTo>
                  <a:pt x="3117" y="2083"/>
                </a:lnTo>
                <a:lnTo>
                  <a:pt x="3127" y="2071"/>
                </a:lnTo>
                <a:lnTo>
                  <a:pt x="3139" y="2061"/>
                </a:lnTo>
                <a:lnTo>
                  <a:pt x="3155" y="2055"/>
                </a:lnTo>
                <a:lnTo>
                  <a:pt x="3166" y="2054"/>
                </a:lnTo>
                <a:close/>
                <a:moveTo>
                  <a:pt x="2713" y="2024"/>
                </a:moveTo>
                <a:lnTo>
                  <a:pt x="2720" y="2024"/>
                </a:lnTo>
                <a:lnTo>
                  <a:pt x="2728" y="2026"/>
                </a:lnTo>
                <a:lnTo>
                  <a:pt x="2744" y="2033"/>
                </a:lnTo>
                <a:lnTo>
                  <a:pt x="2757" y="2045"/>
                </a:lnTo>
                <a:lnTo>
                  <a:pt x="2765" y="2060"/>
                </a:lnTo>
                <a:lnTo>
                  <a:pt x="2770" y="2076"/>
                </a:lnTo>
                <a:lnTo>
                  <a:pt x="2768" y="2094"/>
                </a:lnTo>
                <a:lnTo>
                  <a:pt x="2761" y="2111"/>
                </a:lnTo>
                <a:lnTo>
                  <a:pt x="2748" y="2124"/>
                </a:lnTo>
                <a:lnTo>
                  <a:pt x="2734" y="2132"/>
                </a:lnTo>
                <a:lnTo>
                  <a:pt x="2717" y="2136"/>
                </a:lnTo>
                <a:lnTo>
                  <a:pt x="2699" y="2134"/>
                </a:lnTo>
                <a:lnTo>
                  <a:pt x="2682" y="2127"/>
                </a:lnTo>
                <a:lnTo>
                  <a:pt x="2670" y="2115"/>
                </a:lnTo>
                <a:lnTo>
                  <a:pt x="2661" y="2100"/>
                </a:lnTo>
                <a:lnTo>
                  <a:pt x="2658" y="2083"/>
                </a:lnTo>
                <a:lnTo>
                  <a:pt x="2659" y="2065"/>
                </a:lnTo>
                <a:lnTo>
                  <a:pt x="2667" y="2048"/>
                </a:lnTo>
                <a:lnTo>
                  <a:pt x="2679" y="2036"/>
                </a:lnTo>
                <a:lnTo>
                  <a:pt x="2695" y="2027"/>
                </a:lnTo>
                <a:lnTo>
                  <a:pt x="2713" y="2024"/>
                </a:lnTo>
                <a:close/>
                <a:moveTo>
                  <a:pt x="979" y="2024"/>
                </a:moveTo>
                <a:lnTo>
                  <a:pt x="983" y="2024"/>
                </a:lnTo>
                <a:lnTo>
                  <a:pt x="1001" y="2027"/>
                </a:lnTo>
                <a:lnTo>
                  <a:pt x="1017" y="2036"/>
                </a:lnTo>
                <a:lnTo>
                  <a:pt x="1029" y="2048"/>
                </a:lnTo>
                <a:lnTo>
                  <a:pt x="1037" y="2065"/>
                </a:lnTo>
                <a:lnTo>
                  <a:pt x="1038" y="2083"/>
                </a:lnTo>
                <a:lnTo>
                  <a:pt x="1035" y="2100"/>
                </a:lnTo>
                <a:lnTo>
                  <a:pt x="1026" y="2115"/>
                </a:lnTo>
                <a:lnTo>
                  <a:pt x="1014" y="2127"/>
                </a:lnTo>
                <a:lnTo>
                  <a:pt x="997" y="2134"/>
                </a:lnTo>
                <a:lnTo>
                  <a:pt x="979" y="2136"/>
                </a:lnTo>
                <a:lnTo>
                  <a:pt x="962" y="2132"/>
                </a:lnTo>
                <a:lnTo>
                  <a:pt x="948" y="2124"/>
                </a:lnTo>
                <a:lnTo>
                  <a:pt x="935" y="2111"/>
                </a:lnTo>
                <a:lnTo>
                  <a:pt x="928" y="2094"/>
                </a:lnTo>
                <a:lnTo>
                  <a:pt x="926" y="2076"/>
                </a:lnTo>
                <a:lnTo>
                  <a:pt x="931" y="2060"/>
                </a:lnTo>
                <a:lnTo>
                  <a:pt x="939" y="2045"/>
                </a:lnTo>
                <a:lnTo>
                  <a:pt x="952" y="2033"/>
                </a:lnTo>
                <a:lnTo>
                  <a:pt x="968" y="2026"/>
                </a:lnTo>
                <a:lnTo>
                  <a:pt x="973" y="2025"/>
                </a:lnTo>
                <a:lnTo>
                  <a:pt x="979" y="2024"/>
                </a:lnTo>
                <a:close/>
                <a:moveTo>
                  <a:pt x="2233" y="2016"/>
                </a:moveTo>
                <a:lnTo>
                  <a:pt x="2249" y="2018"/>
                </a:lnTo>
                <a:lnTo>
                  <a:pt x="2264" y="2024"/>
                </a:lnTo>
                <a:lnTo>
                  <a:pt x="2278" y="2035"/>
                </a:lnTo>
                <a:lnTo>
                  <a:pt x="2287" y="2050"/>
                </a:lnTo>
                <a:lnTo>
                  <a:pt x="2292" y="2066"/>
                </a:lnTo>
                <a:lnTo>
                  <a:pt x="2290" y="2083"/>
                </a:lnTo>
                <a:lnTo>
                  <a:pt x="2285" y="2100"/>
                </a:lnTo>
                <a:lnTo>
                  <a:pt x="2274" y="2113"/>
                </a:lnTo>
                <a:lnTo>
                  <a:pt x="2259" y="2124"/>
                </a:lnTo>
                <a:lnTo>
                  <a:pt x="2242" y="2128"/>
                </a:lnTo>
                <a:lnTo>
                  <a:pt x="2224" y="2127"/>
                </a:lnTo>
                <a:lnTo>
                  <a:pt x="2208" y="2120"/>
                </a:lnTo>
                <a:lnTo>
                  <a:pt x="2194" y="2109"/>
                </a:lnTo>
                <a:lnTo>
                  <a:pt x="2185" y="2094"/>
                </a:lnTo>
                <a:lnTo>
                  <a:pt x="2181" y="2078"/>
                </a:lnTo>
                <a:lnTo>
                  <a:pt x="2181" y="2061"/>
                </a:lnTo>
                <a:lnTo>
                  <a:pt x="2187" y="2044"/>
                </a:lnTo>
                <a:lnTo>
                  <a:pt x="2196" y="2033"/>
                </a:lnTo>
                <a:lnTo>
                  <a:pt x="2206" y="2024"/>
                </a:lnTo>
                <a:lnTo>
                  <a:pt x="2220" y="2018"/>
                </a:lnTo>
                <a:lnTo>
                  <a:pt x="2233" y="2016"/>
                </a:lnTo>
                <a:close/>
                <a:moveTo>
                  <a:pt x="1458" y="2016"/>
                </a:moveTo>
                <a:lnTo>
                  <a:pt x="1474" y="2018"/>
                </a:lnTo>
                <a:lnTo>
                  <a:pt x="1487" y="2023"/>
                </a:lnTo>
                <a:lnTo>
                  <a:pt x="1500" y="2032"/>
                </a:lnTo>
                <a:lnTo>
                  <a:pt x="1509" y="2044"/>
                </a:lnTo>
                <a:lnTo>
                  <a:pt x="1515" y="2061"/>
                </a:lnTo>
                <a:lnTo>
                  <a:pt x="1515" y="2078"/>
                </a:lnTo>
                <a:lnTo>
                  <a:pt x="1511" y="2094"/>
                </a:lnTo>
                <a:lnTo>
                  <a:pt x="1502" y="2109"/>
                </a:lnTo>
                <a:lnTo>
                  <a:pt x="1488" y="2120"/>
                </a:lnTo>
                <a:lnTo>
                  <a:pt x="1472" y="2127"/>
                </a:lnTo>
                <a:lnTo>
                  <a:pt x="1454" y="2128"/>
                </a:lnTo>
                <a:lnTo>
                  <a:pt x="1437" y="2124"/>
                </a:lnTo>
                <a:lnTo>
                  <a:pt x="1422" y="2113"/>
                </a:lnTo>
                <a:lnTo>
                  <a:pt x="1411" y="2100"/>
                </a:lnTo>
                <a:lnTo>
                  <a:pt x="1406" y="2087"/>
                </a:lnTo>
                <a:lnTo>
                  <a:pt x="1403" y="2072"/>
                </a:lnTo>
                <a:lnTo>
                  <a:pt x="1406" y="2057"/>
                </a:lnTo>
                <a:lnTo>
                  <a:pt x="1411" y="2044"/>
                </a:lnTo>
                <a:lnTo>
                  <a:pt x="1420" y="2033"/>
                </a:lnTo>
                <a:lnTo>
                  <a:pt x="1432" y="2024"/>
                </a:lnTo>
                <a:lnTo>
                  <a:pt x="1445" y="2018"/>
                </a:lnTo>
                <a:lnTo>
                  <a:pt x="1458" y="2016"/>
                </a:lnTo>
                <a:close/>
                <a:moveTo>
                  <a:pt x="3192" y="1792"/>
                </a:moveTo>
                <a:lnTo>
                  <a:pt x="3210" y="1795"/>
                </a:lnTo>
                <a:lnTo>
                  <a:pt x="3226" y="1803"/>
                </a:lnTo>
                <a:lnTo>
                  <a:pt x="3237" y="1814"/>
                </a:lnTo>
                <a:lnTo>
                  <a:pt x="3245" y="1830"/>
                </a:lnTo>
                <a:lnTo>
                  <a:pt x="3248" y="1848"/>
                </a:lnTo>
                <a:lnTo>
                  <a:pt x="3245" y="1866"/>
                </a:lnTo>
                <a:lnTo>
                  <a:pt x="3237" y="1882"/>
                </a:lnTo>
                <a:lnTo>
                  <a:pt x="3226" y="1893"/>
                </a:lnTo>
                <a:lnTo>
                  <a:pt x="3210" y="1901"/>
                </a:lnTo>
                <a:lnTo>
                  <a:pt x="3192" y="1904"/>
                </a:lnTo>
                <a:lnTo>
                  <a:pt x="3174" y="1901"/>
                </a:lnTo>
                <a:lnTo>
                  <a:pt x="3158" y="1893"/>
                </a:lnTo>
                <a:lnTo>
                  <a:pt x="3147" y="1882"/>
                </a:lnTo>
                <a:lnTo>
                  <a:pt x="3139" y="1866"/>
                </a:lnTo>
                <a:lnTo>
                  <a:pt x="3136" y="1848"/>
                </a:lnTo>
                <a:lnTo>
                  <a:pt x="3139" y="1830"/>
                </a:lnTo>
                <a:lnTo>
                  <a:pt x="3147" y="1814"/>
                </a:lnTo>
                <a:lnTo>
                  <a:pt x="3158" y="1803"/>
                </a:lnTo>
                <a:lnTo>
                  <a:pt x="3174" y="1795"/>
                </a:lnTo>
                <a:lnTo>
                  <a:pt x="3192" y="1792"/>
                </a:lnTo>
                <a:close/>
                <a:moveTo>
                  <a:pt x="2744" y="1792"/>
                </a:moveTo>
                <a:lnTo>
                  <a:pt x="2762" y="1795"/>
                </a:lnTo>
                <a:lnTo>
                  <a:pt x="2778" y="1803"/>
                </a:lnTo>
                <a:lnTo>
                  <a:pt x="2789" y="1814"/>
                </a:lnTo>
                <a:lnTo>
                  <a:pt x="2797" y="1830"/>
                </a:lnTo>
                <a:lnTo>
                  <a:pt x="2800" y="1848"/>
                </a:lnTo>
                <a:lnTo>
                  <a:pt x="2797" y="1866"/>
                </a:lnTo>
                <a:lnTo>
                  <a:pt x="2789" y="1882"/>
                </a:lnTo>
                <a:lnTo>
                  <a:pt x="2778" y="1893"/>
                </a:lnTo>
                <a:lnTo>
                  <a:pt x="2762" y="1901"/>
                </a:lnTo>
                <a:lnTo>
                  <a:pt x="2744" y="1904"/>
                </a:lnTo>
                <a:lnTo>
                  <a:pt x="2726" y="1901"/>
                </a:lnTo>
                <a:lnTo>
                  <a:pt x="2710" y="1893"/>
                </a:lnTo>
                <a:lnTo>
                  <a:pt x="2699" y="1882"/>
                </a:lnTo>
                <a:lnTo>
                  <a:pt x="2691" y="1866"/>
                </a:lnTo>
                <a:lnTo>
                  <a:pt x="2688" y="1848"/>
                </a:lnTo>
                <a:lnTo>
                  <a:pt x="2691" y="1830"/>
                </a:lnTo>
                <a:lnTo>
                  <a:pt x="2699" y="1814"/>
                </a:lnTo>
                <a:lnTo>
                  <a:pt x="2710" y="1803"/>
                </a:lnTo>
                <a:lnTo>
                  <a:pt x="2726" y="1795"/>
                </a:lnTo>
                <a:lnTo>
                  <a:pt x="2744" y="1792"/>
                </a:lnTo>
                <a:close/>
                <a:moveTo>
                  <a:pt x="2296" y="1792"/>
                </a:moveTo>
                <a:lnTo>
                  <a:pt x="2314" y="1795"/>
                </a:lnTo>
                <a:lnTo>
                  <a:pt x="2330" y="1803"/>
                </a:lnTo>
                <a:lnTo>
                  <a:pt x="2341" y="1814"/>
                </a:lnTo>
                <a:lnTo>
                  <a:pt x="2349" y="1830"/>
                </a:lnTo>
                <a:lnTo>
                  <a:pt x="2352" y="1848"/>
                </a:lnTo>
                <a:lnTo>
                  <a:pt x="2349" y="1866"/>
                </a:lnTo>
                <a:lnTo>
                  <a:pt x="2341" y="1882"/>
                </a:lnTo>
                <a:lnTo>
                  <a:pt x="2330" y="1893"/>
                </a:lnTo>
                <a:lnTo>
                  <a:pt x="2314" y="1901"/>
                </a:lnTo>
                <a:lnTo>
                  <a:pt x="2296" y="1904"/>
                </a:lnTo>
                <a:lnTo>
                  <a:pt x="2278" y="1901"/>
                </a:lnTo>
                <a:lnTo>
                  <a:pt x="2262" y="1893"/>
                </a:lnTo>
                <a:lnTo>
                  <a:pt x="2251" y="1882"/>
                </a:lnTo>
                <a:lnTo>
                  <a:pt x="2243" y="1866"/>
                </a:lnTo>
                <a:lnTo>
                  <a:pt x="2240" y="1848"/>
                </a:lnTo>
                <a:lnTo>
                  <a:pt x="2243" y="1830"/>
                </a:lnTo>
                <a:lnTo>
                  <a:pt x="2251" y="1814"/>
                </a:lnTo>
                <a:lnTo>
                  <a:pt x="2262" y="1803"/>
                </a:lnTo>
                <a:lnTo>
                  <a:pt x="2278" y="1795"/>
                </a:lnTo>
                <a:lnTo>
                  <a:pt x="2296" y="1792"/>
                </a:lnTo>
                <a:close/>
                <a:moveTo>
                  <a:pt x="1400" y="1792"/>
                </a:moveTo>
                <a:lnTo>
                  <a:pt x="1418" y="1795"/>
                </a:lnTo>
                <a:lnTo>
                  <a:pt x="1434" y="1803"/>
                </a:lnTo>
                <a:lnTo>
                  <a:pt x="1445" y="1814"/>
                </a:lnTo>
                <a:lnTo>
                  <a:pt x="1453" y="1830"/>
                </a:lnTo>
                <a:lnTo>
                  <a:pt x="1456" y="1848"/>
                </a:lnTo>
                <a:lnTo>
                  <a:pt x="1453" y="1866"/>
                </a:lnTo>
                <a:lnTo>
                  <a:pt x="1445" y="1882"/>
                </a:lnTo>
                <a:lnTo>
                  <a:pt x="1434" y="1893"/>
                </a:lnTo>
                <a:lnTo>
                  <a:pt x="1418" y="1901"/>
                </a:lnTo>
                <a:lnTo>
                  <a:pt x="1400" y="1904"/>
                </a:lnTo>
                <a:lnTo>
                  <a:pt x="1382" y="1901"/>
                </a:lnTo>
                <a:lnTo>
                  <a:pt x="1366" y="1893"/>
                </a:lnTo>
                <a:lnTo>
                  <a:pt x="1355" y="1882"/>
                </a:lnTo>
                <a:lnTo>
                  <a:pt x="1347" y="1866"/>
                </a:lnTo>
                <a:lnTo>
                  <a:pt x="1344" y="1848"/>
                </a:lnTo>
                <a:lnTo>
                  <a:pt x="1347" y="1830"/>
                </a:lnTo>
                <a:lnTo>
                  <a:pt x="1355" y="1814"/>
                </a:lnTo>
                <a:lnTo>
                  <a:pt x="1366" y="1803"/>
                </a:lnTo>
                <a:lnTo>
                  <a:pt x="1382" y="1795"/>
                </a:lnTo>
                <a:lnTo>
                  <a:pt x="1400" y="1792"/>
                </a:lnTo>
                <a:close/>
                <a:moveTo>
                  <a:pt x="952" y="1792"/>
                </a:moveTo>
                <a:lnTo>
                  <a:pt x="970" y="1795"/>
                </a:lnTo>
                <a:lnTo>
                  <a:pt x="986" y="1803"/>
                </a:lnTo>
                <a:lnTo>
                  <a:pt x="997" y="1814"/>
                </a:lnTo>
                <a:lnTo>
                  <a:pt x="1005" y="1830"/>
                </a:lnTo>
                <a:lnTo>
                  <a:pt x="1008" y="1848"/>
                </a:lnTo>
                <a:lnTo>
                  <a:pt x="1005" y="1866"/>
                </a:lnTo>
                <a:lnTo>
                  <a:pt x="997" y="1882"/>
                </a:lnTo>
                <a:lnTo>
                  <a:pt x="986" y="1893"/>
                </a:lnTo>
                <a:lnTo>
                  <a:pt x="970" y="1901"/>
                </a:lnTo>
                <a:lnTo>
                  <a:pt x="952" y="1904"/>
                </a:lnTo>
                <a:lnTo>
                  <a:pt x="934" y="1901"/>
                </a:lnTo>
                <a:lnTo>
                  <a:pt x="918" y="1893"/>
                </a:lnTo>
                <a:lnTo>
                  <a:pt x="907" y="1882"/>
                </a:lnTo>
                <a:lnTo>
                  <a:pt x="899" y="1866"/>
                </a:lnTo>
                <a:lnTo>
                  <a:pt x="896" y="1848"/>
                </a:lnTo>
                <a:lnTo>
                  <a:pt x="899" y="1830"/>
                </a:lnTo>
                <a:lnTo>
                  <a:pt x="907" y="1814"/>
                </a:lnTo>
                <a:lnTo>
                  <a:pt x="918" y="1803"/>
                </a:lnTo>
                <a:lnTo>
                  <a:pt x="934" y="1795"/>
                </a:lnTo>
                <a:lnTo>
                  <a:pt x="952" y="1792"/>
                </a:lnTo>
                <a:close/>
                <a:moveTo>
                  <a:pt x="504" y="1792"/>
                </a:moveTo>
                <a:lnTo>
                  <a:pt x="522" y="1795"/>
                </a:lnTo>
                <a:lnTo>
                  <a:pt x="538" y="1803"/>
                </a:lnTo>
                <a:lnTo>
                  <a:pt x="549" y="1814"/>
                </a:lnTo>
                <a:lnTo>
                  <a:pt x="557" y="1830"/>
                </a:lnTo>
                <a:lnTo>
                  <a:pt x="560" y="1848"/>
                </a:lnTo>
                <a:lnTo>
                  <a:pt x="557" y="1866"/>
                </a:lnTo>
                <a:lnTo>
                  <a:pt x="549" y="1882"/>
                </a:lnTo>
                <a:lnTo>
                  <a:pt x="538" y="1893"/>
                </a:lnTo>
                <a:lnTo>
                  <a:pt x="522" y="1901"/>
                </a:lnTo>
                <a:lnTo>
                  <a:pt x="504" y="1904"/>
                </a:lnTo>
                <a:lnTo>
                  <a:pt x="486" y="1901"/>
                </a:lnTo>
                <a:lnTo>
                  <a:pt x="470" y="1893"/>
                </a:lnTo>
                <a:lnTo>
                  <a:pt x="459" y="1882"/>
                </a:lnTo>
                <a:lnTo>
                  <a:pt x="451" y="1866"/>
                </a:lnTo>
                <a:lnTo>
                  <a:pt x="448" y="1848"/>
                </a:lnTo>
                <a:lnTo>
                  <a:pt x="451" y="1830"/>
                </a:lnTo>
                <a:lnTo>
                  <a:pt x="459" y="1814"/>
                </a:lnTo>
                <a:lnTo>
                  <a:pt x="470" y="1803"/>
                </a:lnTo>
                <a:lnTo>
                  <a:pt x="486" y="1795"/>
                </a:lnTo>
                <a:lnTo>
                  <a:pt x="504" y="1792"/>
                </a:lnTo>
                <a:close/>
                <a:moveTo>
                  <a:pt x="1457" y="1568"/>
                </a:moveTo>
                <a:lnTo>
                  <a:pt x="1473" y="1569"/>
                </a:lnTo>
                <a:lnTo>
                  <a:pt x="1488" y="1576"/>
                </a:lnTo>
                <a:lnTo>
                  <a:pt x="1502" y="1587"/>
                </a:lnTo>
                <a:lnTo>
                  <a:pt x="1511" y="1602"/>
                </a:lnTo>
                <a:lnTo>
                  <a:pt x="1515" y="1618"/>
                </a:lnTo>
                <a:lnTo>
                  <a:pt x="1515" y="1635"/>
                </a:lnTo>
                <a:lnTo>
                  <a:pt x="1509" y="1652"/>
                </a:lnTo>
                <a:lnTo>
                  <a:pt x="1500" y="1663"/>
                </a:lnTo>
                <a:lnTo>
                  <a:pt x="1488" y="1672"/>
                </a:lnTo>
                <a:lnTo>
                  <a:pt x="1474" y="1678"/>
                </a:lnTo>
                <a:lnTo>
                  <a:pt x="1459" y="1680"/>
                </a:lnTo>
                <a:lnTo>
                  <a:pt x="1446" y="1678"/>
                </a:lnTo>
                <a:lnTo>
                  <a:pt x="1432" y="1672"/>
                </a:lnTo>
                <a:lnTo>
                  <a:pt x="1420" y="1663"/>
                </a:lnTo>
                <a:lnTo>
                  <a:pt x="1411" y="1652"/>
                </a:lnTo>
                <a:lnTo>
                  <a:pt x="1406" y="1639"/>
                </a:lnTo>
                <a:lnTo>
                  <a:pt x="1403" y="1624"/>
                </a:lnTo>
                <a:lnTo>
                  <a:pt x="1406" y="1609"/>
                </a:lnTo>
                <a:lnTo>
                  <a:pt x="1411" y="1596"/>
                </a:lnTo>
                <a:lnTo>
                  <a:pt x="1420" y="1585"/>
                </a:lnTo>
                <a:lnTo>
                  <a:pt x="1431" y="1576"/>
                </a:lnTo>
                <a:lnTo>
                  <a:pt x="1444" y="1570"/>
                </a:lnTo>
                <a:lnTo>
                  <a:pt x="1457" y="1568"/>
                </a:lnTo>
                <a:close/>
                <a:moveTo>
                  <a:pt x="2710" y="1560"/>
                </a:moveTo>
                <a:lnTo>
                  <a:pt x="2714" y="1560"/>
                </a:lnTo>
                <a:lnTo>
                  <a:pt x="2732" y="1564"/>
                </a:lnTo>
                <a:lnTo>
                  <a:pt x="2747" y="1571"/>
                </a:lnTo>
                <a:lnTo>
                  <a:pt x="2760" y="1585"/>
                </a:lnTo>
                <a:lnTo>
                  <a:pt x="2768" y="1602"/>
                </a:lnTo>
                <a:lnTo>
                  <a:pt x="2770" y="1620"/>
                </a:lnTo>
                <a:lnTo>
                  <a:pt x="2765" y="1636"/>
                </a:lnTo>
                <a:lnTo>
                  <a:pt x="2757" y="1651"/>
                </a:lnTo>
                <a:lnTo>
                  <a:pt x="2744" y="1663"/>
                </a:lnTo>
                <a:lnTo>
                  <a:pt x="2728" y="1670"/>
                </a:lnTo>
                <a:lnTo>
                  <a:pt x="2710" y="1672"/>
                </a:lnTo>
                <a:lnTo>
                  <a:pt x="2694" y="1669"/>
                </a:lnTo>
                <a:lnTo>
                  <a:pt x="2678" y="1660"/>
                </a:lnTo>
                <a:lnTo>
                  <a:pt x="2667" y="1648"/>
                </a:lnTo>
                <a:lnTo>
                  <a:pt x="2659" y="1631"/>
                </a:lnTo>
                <a:lnTo>
                  <a:pt x="2658" y="1613"/>
                </a:lnTo>
                <a:lnTo>
                  <a:pt x="2661" y="1596"/>
                </a:lnTo>
                <a:lnTo>
                  <a:pt x="2670" y="1581"/>
                </a:lnTo>
                <a:lnTo>
                  <a:pt x="2682" y="1569"/>
                </a:lnTo>
                <a:lnTo>
                  <a:pt x="2699" y="1562"/>
                </a:lnTo>
                <a:lnTo>
                  <a:pt x="2705" y="1561"/>
                </a:lnTo>
                <a:lnTo>
                  <a:pt x="2710" y="1560"/>
                </a:lnTo>
                <a:close/>
                <a:moveTo>
                  <a:pt x="982" y="1560"/>
                </a:moveTo>
                <a:lnTo>
                  <a:pt x="989" y="1560"/>
                </a:lnTo>
                <a:lnTo>
                  <a:pt x="997" y="1562"/>
                </a:lnTo>
                <a:lnTo>
                  <a:pt x="1014" y="1569"/>
                </a:lnTo>
                <a:lnTo>
                  <a:pt x="1026" y="1581"/>
                </a:lnTo>
                <a:lnTo>
                  <a:pt x="1035" y="1596"/>
                </a:lnTo>
                <a:lnTo>
                  <a:pt x="1038" y="1613"/>
                </a:lnTo>
                <a:lnTo>
                  <a:pt x="1037" y="1631"/>
                </a:lnTo>
                <a:lnTo>
                  <a:pt x="1029" y="1648"/>
                </a:lnTo>
                <a:lnTo>
                  <a:pt x="1018" y="1660"/>
                </a:lnTo>
                <a:lnTo>
                  <a:pt x="1002" y="1669"/>
                </a:lnTo>
                <a:lnTo>
                  <a:pt x="986" y="1672"/>
                </a:lnTo>
                <a:lnTo>
                  <a:pt x="968" y="1670"/>
                </a:lnTo>
                <a:lnTo>
                  <a:pt x="952" y="1663"/>
                </a:lnTo>
                <a:lnTo>
                  <a:pt x="939" y="1651"/>
                </a:lnTo>
                <a:lnTo>
                  <a:pt x="931" y="1636"/>
                </a:lnTo>
                <a:lnTo>
                  <a:pt x="926" y="1620"/>
                </a:lnTo>
                <a:lnTo>
                  <a:pt x="928" y="1602"/>
                </a:lnTo>
                <a:lnTo>
                  <a:pt x="936" y="1585"/>
                </a:lnTo>
                <a:lnTo>
                  <a:pt x="949" y="1571"/>
                </a:lnTo>
                <a:lnTo>
                  <a:pt x="964" y="1564"/>
                </a:lnTo>
                <a:lnTo>
                  <a:pt x="982" y="1560"/>
                </a:lnTo>
                <a:close/>
                <a:moveTo>
                  <a:pt x="3173" y="1530"/>
                </a:moveTo>
                <a:lnTo>
                  <a:pt x="3190" y="1536"/>
                </a:lnTo>
                <a:lnTo>
                  <a:pt x="3204" y="1544"/>
                </a:lnTo>
                <a:lnTo>
                  <a:pt x="3214" y="1558"/>
                </a:lnTo>
                <a:lnTo>
                  <a:pt x="3221" y="1575"/>
                </a:lnTo>
                <a:lnTo>
                  <a:pt x="3222" y="1593"/>
                </a:lnTo>
                <a:lnTo>
                  <a:pt x="3217" y="1609"/>
                </a:lnTo>
                <a:lnTo>
                  <a:pt x="3208" y="1624"/>
                </a:lnTo>
                <a:lnTo>
                  <a:pt x="3194" y="1634"/>
                </a:lnTo>
                <a:lnTo>
                  <a:pt x="3177" y="1641"/>
                </a:lnTo>
                <a:lnTo>
                  <a:pt x="3160" y="1641"/>
                </a:lnTo>
                <a:lnTo>
                  <a:pt x="3143" y="1636"/>
                </a:lnTo>
                <a:lnTo>
                  <a:pt x="3128" y="1627"/>
                </a:lnTo>
                <a:lnTo>
                  <a:pt x="3118" y="1614"/>
                </a:lnTo>
                <a:lnTo>
                  <a:pt x="3111" y="1597"/>
                </a:lnTo>
                <a:lnTo>
                  <a:pt x="3110" y="1579"/>
                </a:lnTo>
                <a:lnTo>
                  <a:pt x="3116" y="1562"/>
                </a:lnTo>
                <a:lnTo>
                  <a:pt x="3125" y="1548"/>
                </a:lnTo>
                <a:lnTo>
                  <a:pt x="3138" y="1538"/>
                </a:lnTo>
                <a:lnTo>
                  <a:pt x="3155" y="1531"/>
                </a:lnTo>
                <a:lnTo>
                  <a:pt x="3173" y="1530"/>
                </a:lnTo>
                <a:close/>
                <a:moveTo>
                  <a:pt x="530" y="1530"/>
                </a:moveTo>
                <a:lnTo>
                  <a:pt x="541" y="1531"/>
                </a:lnTo>
                <a:lnTo>
                  <a:pt x="558" y="1538"/>
                </a:lnTo>
                <a:lnTo>
                  <a:pt x="571" y="1548"/>
                </a:lnTo>
                <a:lnTo>
                  <a:pt x="580" y="1562"/>
                </a:lnTo>
                <a:lnTo>
                  <a:pt x="586" y="1579"/>
                </a:lnTo>
                <a:lnTo>
                  <a:pt x="585" y="1597"/>
                </a:lnTo>
                <a:lnTo>
                  <a:pt x="578" y="1614"/>
                </a:lnTo>
                <a:lnTo>
                  <a:pt x="568" y="1627"/>
                </a:lnTo>
                <a:lnTo>
                  <a:pt x="553" y="1636"/>
                </a:lnTo>
                <a:lnTo>
                  <a:pt x="536" y="1641"/>
                </a:lnTo>
                <a:lnTo>
                  <a:pt x="519" y="1641"/>
                </a:lnTo>
                <a:lnTo>
                  <a:pt x="502" y="1634"/>
                </a:lnTo>
                <a:lnTo>
                  <a:pt x="488" y="1624"/>
                </a:lnTo>
                <a:lnTo>
                  <a:pt x="479" y="1609"/>
                </a:lnTo>
                <a:lnTo>
                  <a:pt x="474" y="1593"/>
                </a:lnTo>
                <a:lnTo>
                  <a:pt x="475" y="1575"/>
                </a:lnTo>
                <a:lnTo>
                  <a:pt x="480" y="1559"/>
                </a:lnTo>
                <a:lnTo>
                  <a:pt x="491" y="1546"/>
                </a:lnTo>
                <a:lnTo>
                  <a:pt x="503" y="1537"/>
                </a:lnTo>
                <a:lnTo>
                  <a:pt x="519" y="1531"/>
                </a:lnTo>
                <a:lnTo>
                  <a:pt x="530" y="1530"/>
                </a:lnTo>
                <a:close/>
                <a:moveTo>
                  <a:pt x="1623" y="1404"/>
                </a:moveTo>
                <a:lnTo>
                  <a:pt x="1637" y="1406"/>
                </a:lnTo>
                <a:lnTo>
                  <a:pt x="1651" y="1411"/>
                </a:lnTo>
                <a:lnTo>
                  <a:pt x="1663" y="1420"/>
                </a:lnTo>
                <a:lnTo>
                  <a:pt x="1672" y="1432"/>
                </a:lnTo>
                <a:lnTo>
                  <a:pt x="1678" y="1446"/>
                </a:lnTo>
                <a:lnTo>
                  <a:pt x="1680" y="1459"/>
                </a:lnTo>
                <a:lnTo>
                  <a:pt x="1678" y="1474"/>
                </a:lnTo>
                <a:lnTo>
                  <a:pt x="1672" y="1488"/>
                </a:lnTo>
                <a:lnTo>
                  <a:pt x="1663" y="1500"/>
                </a:lnTo>
                <a:lnTo>
                  <a:pt x="1652" y="1509"/>
                </a:lnTo>
                <a:lnTo>
                  <a:pt x="1639" y="1514"/>
                </a:lnTo>
                <a:lnTo>
                  <a:pt x="1624" y="1516"/>
                </a:lnTo>
                <a:lnTo>
                  <a:pt x="1609" y="1514"/>
                </a:lnTo>
                <a:lnTo>
                  <a:pt x="1596" y="1509"/>
                </a:lnTo>
                <a:lnTo>
                  <a:pt x="1585" y="1500"/>
                </a:lnTo>
                <a:lnTo>
                  <a:pt x="1576" y="1488"/>
                </a:lnTo>
                <a:lnTo>
                  <a:pt x="1569" y="1472"/>
                </a:lnTo>
                <a:lnTo>
                  <a:pt x="1568" y="1454"/>
                </a:lnTo>
                <a:lnTo>
                  <a:pt x="1572" y="1437"/>
                </a:lnTo>
                <a:lnTo>
                  <a:pt x="1583" y="1422"/>
                </a:lnTo>
                <a:lnTo>
                  <a:pt x="1596" y="1411"/>
                </a:lnTo>
                <a:lnTo>
                  <a:pt x="1608" y="1406"/>
                </a:lnTo>
                <a:lnTo>
                  <a:pt x="1623" y="1404"/>
                </a:lnTo>
                <a:close/>
                <a:moveTo>
                  <a:pt x="2623" y="1344"/>
                </a:moveTo>
                <a:lnTo>
                  <a:pt x="2638" y="1346"/>
                </a:lnTo>
                <a:lnTo>
                  <a:pt x="2651" y="1351"/>
                </a:lnTo>
                <a:lnTo>
                  <a:pt x="2663" y="1360"/>
                </a:lnTo>
                <a:lnTo>
                  <a:pt x="2672" y="1372"/>
                </a:lnTo>
                <a:lnTo>
                  <a:pt x="2679" y="1389"/>
                </a:lnTo>
                <a:lnTo>
                  <a:pt x="2679" y="1406"/>
                </a:lnTo>
                <a:lnTo>
                  <a:pt x="2675" y="1422"/>
                </a:lnTo>
                <a:lnTo>
                  <a:pt x="2666" y="1437"/>
                </a:lnTo>
                <a:lnTo>
                  <a:pt x="2652" y="1448"/>
                </a:lnTo>
                <a:lnTo>
                  <a:pt x="2639" y="1454"/>
                </a:lnTo>
                <a:lnTo>
                  <a:pt x="2624" y="1456"/>
                </a:lnTo>
                <a:lnTo>
                  <a:pt x="2610" y="1454"/>
                </a:lnTo>
                <a:lnTo>
                  <a:pt x="2596" y="1448"/>
                </a:lnTo>
                <a:lnTo>
                  <a:pt x="2584" y="1439"/>
                </a:lnTo>
                <a:lnTo>
                  <a:pt x="2575" y="1428"/>
                </a:lnTo>
                <a:lnTo>
                  <a:pt x="2569" y="1415"/>
                </a:lnTo>
                <a:lnTo>
                  <a:pt x="2568" y="1400"/>
                </a:lnTo>
                <a:lnTo>
                  <a:pt x="2569" y="1385"/>
                </a:lnTo>
                <a:lnTo>
                  <a:pt x="2575" y="1372"/>
                </a:lnTo>
                <a:lnTo>
                  <a:pt x="2584" y="1361"/>
                </a:lnTo>
                <a:lnTo>
                  <a:pt x="2596" y="1352"/>
                </a:lnTo>
                <a:lnTo>
                  <a:pt x="2608" y="1346"/>
                </a:lnTo>
                <a:lnTo>
                  <a:pt x="2623" y="1344"/>
                </a:lnTo>
                <a:close/>
                <a:moveTo>
                  <a:pt x="1848" y="1344"/>
                </a:moveTo>
                <a:lnTo>
                  <a:pt x="1866" y="1347"/>
                </a:lnTo>
                <a:lnTo>
                  <a:pt x="1882" y="1355"/>
                </a:lnTo>
                <a:lnTo>
                  <a:pt x="1893" y="1366"/>
                </a:lnTo>
                <a:lnTo>
                  <a:pt x="1901" y="1382"/>
                </a:lnTo>
                <a:lnTo>
                  <a:pt x="1904" y="1400"/>
                </a:lnTo>
                <a:lnTo>
                  <a:pt x="1901" y="1418"/>
                </a:lnTo>
                <a:lnTo>
                  <a:pt x="1893" y="1434"/>
                </a:lnTo>
                <a:lnTo>
                  <a:pt x="1882" y="1445"/>
                </a:lnTo>
                <a:lnTo>
                  <a:pt x="1866" y="1453"/>
                </a:lnTo>
                <a:lnTo>
                  <a:pt x="1848" y="1456"/>
                </a:lnTo>
                <a:lnTo>
                  <a:pt x="1830" y="1453"/>
                </a:lnTo>
                <a:lnTo>
                  <a:pt x="1814" y="1445"/>
                </a:lnTo>
                <a:lnTo>
                  <a:pt x="1803" y="1434"/>
                </a:lnTo>
                <a:lnTo>
                  <a:pt x="1795" y="1418"/>
                </a:lnTo>
                <a:lnTo>
                  <a:pt x="1792" y="1400"/>
                </a:lnTo>
                <a:lnTo>
                  <a:pt x="1795" y="1382"/>
                </a:lnTo>
                <a:lnTo>
                  <a:pt x="1803" y="1366"/>
                </a:lnTo>
                <a:lnTo>
                  <a:pt x="1814" y="1355"/>
                </a:lnTo>
                <a:lnTo>
                  <a:pt x="1830" y="1347"/>
                </a:lnTo>
                <a:lnTo>
                  <a:pt x="1848" y="1344"/>
                </a:lnTo>
                <a:close/>
                <a:moveTo>
                  <a:pt x="1070" y="1344"/>
                </a:moveTo>
                <a:lnTo>
                  <a:pt x="1085" y="1345"/>
                </a:lnTo>
                <a:lnTo>
                  <a:pt x="1100" y="1352"/>
                </a:lnTo>
                <a:lnTo>
                  <a:pt x="1114" y="1363"/>
                </a:lnTo>
                <a:lnTo>
                  <a:pt x="1123" y="1378"/>
                </a:lnTo>
                <a:lnTo>
                  <a:pt x="1128" y="1394"/>
                </a:lnTo>
                <a:lnTo>
                  <a:pt x="1127" y="1411"/>
                </a:lnTo>
                <a:lnTo>
                  <a:pt x="1121" y="1428"/>
                </a:lnTo>
                <a:lnTo>
                  <a:pt x="1112" y="1439"/>
                </a:lnTo>
                <a:lnTo>
                  <a:pt x="1100" y="1448"/>
                </a:lnTo>
                <a:lnTo>
                  <a:pt x="1086" y="1454"/>
                </a:lnTo>
                <a:lnTo>
                  <a:pt x="1072" y="1456"/>
                </a:lnTo>
                <a:lnTo>
                  <a:pt x="1057" y="1454"/>
                </a:lnTo>
                <a:lnTo>
                  <a:pt x="1044" y="1448"/>
                </a:lnTo>
                <a:lnTo>
                  <a:pt x="1033" y="1439"/>
                </a:lnTo>
                <a:lnTo>
                  <a:pt x="1024" y="1428"/>
                </a:lnTo>
                <a:lnTo>
                  <a:pt x="1018" y="1415"/>
                </a:lnTo>
                <a:lnTo>
                  <a:pt x="1016" y="1400"/>
                </a:lnTo>
                <a:lnTo>
                  <a:pt x="1018" y="1385"/>
                </a:lnTo>
                <a:lnTo>
                  <a:pt x="1024" y="1372"/>
                </a:lnTo>
                <a:lnTo>
                  <a:pt x="1032" y="1361"/>
                </a:lnTo>
                <a:lnTo>
                  <a:pt x="1043" y="1352"/>
                </a:lnTo>
                <a:lnTo>
                  <a:pt x="1055" y="1346"/>
                </a:lnTo>
                <a:lnTo>
                  <a:pt x="1070" y="1344"/>
                </a:lnTo>
                <a:close/>
                <a:moveTo>
                  <a:pt x="606" y="1278"/>
                </a:moveTo>
                <a:lnTo>
                  <a:pt x="617" y="1279"/>
                </a:lnTo>
                <a:lnTo>
                  <a:pt x="628" y="1282"/>
                </a:lnTo>
                <a:lnTo>
                  <a:pt x="643" y="1291"/>
                </a:lnTo>
                <a:lnTo>
                  <a:pt x="654" y="1305"/>
                </a:lnTo>
                <a:lnTo>
                  <a:pt x="661" y="1320"/>
                </a:lnTo>
                <a:lnTo>
                  <a:pt x="662" y="1337"/>
                </a:lnTo>
                <a:lnTo>
                  <a:pt x="657" y="1355"/>
                </a:lnTo>
                <a:lnTo>
                  <a:pt x="648" y="1371"/>
                </a:lnTo>
                <a:lnTo>
                  <a:pt x="635" y="1382"/>
                </a:lnTo>
                <a:lnTo>
                  <a:pt x="619" y="1388"/>
                </a:lnTo>
                <a:lnTo>
                  <a:pt x="603" y="1390"/>
                </a:lnTo>
                <a:lnTo>
                  <a:pt x="585" y="1385"/>
                </a:lnTo>
                <a:lnTo>
                  <a:pt x="569" y="1376"/>
                </a:lnTo>
                <a:lnTo>
                  <a:pt x="559" y="1363"/>
                </a:lnTo>
                <a:lnTo>
                  <a:pt x="552" y="1347"/>
                </a:lnTo>
                <a:lnTo>
                  <a:pt x="550" y="1329"/>
                </a:lnTo>
                <a:lnTo>
                  <a:pt x="554" y="1313"/>
                </a:lnTo>
                <a:lnTo>
                  <a:pt x="563" y="1298"/>
                </a:lnTo>
                <a:lnTo>
                  <a:pt x="576" y="1287"/>
                </a:lnTo>
                <a:lnTo>
                  <a:pt x="590" y="1280"/>
                </a:lnTo>
                <a:lnTo>
                  <a:pt x="606" y="1278"/>
                </a:lnTo>
                <a:close/>
                <a:moveTo>
                  <a:pt x="3090" y="1278"/>
                </a:moveTo>
                <a:lnTo>
                  <a:pt x="3106" y="1280"/>
                </a:lnTo>
                <a:lnTo>
                  <a:pt x="3120" y="1287"/>
                </a:lnTo>
                <a:lnTo>
                  <a:pt x="3133" y="1298"/>
                </a:lnTo>
                <a:lnTo>
                  <a:pt x="3142" y="1313"/>
                </a:lnTo>
                <a:lnTo>
                  <a:pt x="3146" y="1329"/>
                </a:lnTo>
                <a:lnTo>
                  <a:pt x="3144" y="1347"/>
                </a:lnTo>
                <a:lnTo>
                  <a:pt x="3137" y="1363"/>
                </a:lnTo>
                <a:lnTo>
                  <a:pt x="3127" y="1376"/>
                </a:lnTo>
                <a:lnTo>
                  <a:pt x="3111" y="1385"/>
                </a:lnTo>
                <a:lnTo>
                  <a:pt x="3093" y="1390"/>
                </a:lnTo>
                <a:lnTo>
                  <a:pt x="3077" y="1388"/>
                </a:lnTo>
                <a:lnTo>
                  <a:pt x="3061" y="1381"/>
                </a:lnTo>
                <a:lnTo>
                  <a:pt x="3048" y="1371"/>
                </a:lnTo>
                <a:lnTo>
                  <a:pt x="3039" y="1355"/>
                </a:lnTo>
                <a:lnTo>
                  <a:pt x="3034" y="1337"/>
                </a:lnTo>
                <a:lnTo>
                  <a:pt x="3035" y="1320"/>
                </a:lnTo>
                <a:lnTo>
                  <a:pt x="3042" y="1305"/>
                </a:lnTo>
                <a:lnTo>
                  <a:pt x="3053" y="1291"/>
                </a:lnTo>
                <a:lnTo>
                  <a:pt x="3068" y="1282"/>
                </a:lnTo>
                <a:lnTo>
                  <a:pt x="3079" y="1279"/>
                </a:lnTo>
                <a:lnTo>
                  <a:pt x="3090" y="1278"/>
                </a:lnTo>
                <a:close/>
                <a:moveTo>
                  <a:pt x="1215" y="1158"/>
                </a:moveTo>
                <a:lnTo>
                  <a:pt x="1230" y="1160"/>
                </a:lnTo>
                <a:lnTo>
                  <a:pt x="1242" y="1166"/>
                </a:lnTo>
                <a:lnTo>
                  <a:pt x="1254" y="1175"/>
                </a:lnTo>
                <a:lnTo>
                  <a:pt x="1264" y="1189"/>
                </a:lnTo>
                <a:lnTo>
                  <a:pt x="1270" y="1206"/>
                </a:lnTo>
                <a:lnTo>
                  <a:pt x="1270" y="1223"/>
                </a:lnTo>
                <a:lnTo>
                  <a:pt x="1264" y="1240"/>
                </a:lnTo>
                <a:lnTo>
                  <a:pt x="1254" y="1254"/>
                </a:lnTo>
                <a:lnTo>
                  <a:pt x="1240" y="1264"/>
                </a:lnTo>
                <a:lnTo>
                  <a:pt x="1223" y="1270"/>
                </a:lnTo>
                <a:lnTo>
                  <a:pt x="1206" y="1270"/>
                </a:lnTo>
                <a:lnTo>
                  <a:pt x="1189" y="1264"/>
                </a:lnTo>
                <a:lnTo>
                  <a:pt x="1175" y="1254"/>
                </a:lnTo>
                <a:lnTo>
                  <a:pt x="1165" y="1240"/>
                </a:lnTo>
                <a:lnTo>
                  <a:pt x="1159" y="1223"/>
                </a:lnTo>
                <a:lnTo>
                  <a:pt x="1159" y="1206"/>
                </a:lnTo>
                <a:lnTo>
                  <a:pt x="1165" y="1189"/>
                </a:lnTo>
                <a:lnTo>
                  <a:pt x="1175" y="1175"/>
                </a:lnTo>
                <a:lnTo>
                  <a:pt x="1187" y="1166"/>
                </a:lnTo>
                <a:lnTo>
                  <a:pt x="1201" y="1160"/>
                </a:lnTo>
                <a:lnTo>
                  <a:pt x="1215" y="1158"/>
                </a:lnTo>
                <a:close/>
                <a:moveTo>
                  <a:pt x="2971" y="1046"/>
                </a:moveTo>
                <a:lnTo>
                  <a:pt x="2987" y="1049"/>
                </a:lnTo>
                <a:lnTo>
                  <a:pt x="3000" y="1057"/>
                </a:lnTo>
                <a:lnTo>
                  <a:pt x="3012" y="1070"/>
                </a:lnTo>
                <a:lnTo>
                  <a:pt x="3020" y="1086"/>
                </a:lnTo>
                <a:lnTo>
                  <a:pt x="3022" y="1103"/>
                </a:lnTo>
                <a:lnTo>
                  <a:pt x="3018" y="1120"/>
                </a:lnTo>
                <a:lnTo>
                  <a:pt x="3009" y="1136"/>
                </a:lnTo>
                <a:lnTo>
                  <a:pt x="2997" y="1148"/>
                </a:lnTo>
                <a:lnTo>
                  <a:pt x="2980" y="1156"/>
                </a:lnTo>
                <a:lnTo>
                  <a:pt x="2964" y="1157"/>
                </a:lnTo>
                <a:lnTo>
                  <a:pt x="2947" y="1154"/>
                </a:lnTo>
                <a:lnTo>
                  <a:pt x="2931" y="1146"/>
                </a:lnTo>
                <a:lnTo>
                  <a:pt x="2919" y="1132"/>
                </a:lnTo>
                <a:lnTo>
                  <a:pt x="2912" y="1117"/>
                </a:lnTo>
                <a:lnTo>
                  <a:pt x="2910" y="1099"/>
                </a:lnTo>
                <a:lnTo>
                  <a:pt x="2913" y="1082"/>
                </a:lnTo>
                <a:lnTo>
                  <a:pt x="2921" y="1067"/>
                </a:lnTo>
                <a:lnTo>
                  <a:pt x="2934" y="1055"/>
                </a:lnTo>
                <a:lnTo>
                  <a:pt x="2944" y="1049"/>
                </a:lnTo>
                <a:lnTo>
                  <a:pt x="2955" y="1046"/>
                </a:lnTo>
                <a:lnTo>
                  <a:pt x="2971" y="1046"/>
                </a:lnTo>
                <a:close/>
                <a:moveTo>
                  <a:pt x="725" y="1046"/>
                </a:moveTo>
                <a:lnTo>
                  <a:pt x="741" y="1046"/>
                </a:lnTo>
                <a:lnTo>
                  <a:pt x="752" y="1049"/>
                </a:lnTo>
                <a:lnTo>
                  <a:pt x="762" y="1055"/>
                </a:lnTo>
                <a:lnTo>
                  <a:pt x="775" y="1067"/>
                </a:lnTo>
                <a:lnTo>
                  <a:pt x="783" y="1082"/>
                </a:lnTo>
                <a:lnTo>
                  <a:pt x="786" y="1099"/>
                </a:lnTo>
                <a:lnTo>
                  <a:pt x="784" y="1117"/>
                </a:lnTo>
                <a:lnTo>
                  <a:pt x="777" y="1132"/>
                </a:lnTo>
                <a:lnTo>
                  <a:pt x="765" y="1146"/>
                </a:lnTo>
                <a:lnTo>
                  <a:pt x="749" y="1154"/>
                </a:lnTo>
                <a:lnTo>
                  <a:pt x="732" y="1157"/>
                </a:lnTo>
                <a:lnTo>
                  <a:pt x="716" y="1156"/>
                </a:lnTo>
                <a:lnTo>
                  <a:pt x="699" y="1148"/>
                </a:lnTo>
                <a:lnTo>
                  <a:pt x="687" y="1136"/>
                </a:lnTo>
                <a:lnTo>
                  <a:pt x="678" y="1120"/>
                </a:lnTo>
                <a:lnTo>
                  <a:pt x="674" y="1103"/>
                </a:lnTo>
                <a:lnTo>
                  <a:pt x="676" y="1086"/>
                </a:lnTo>
                <a:lnTo>
                  <a:pt x="684" y="1070"/>
                </a:lnTo>
                <a:lnTo>
                  <a:pt x="696" y="1057"/>
                </a:lnTo>
                <a:lnTo>
                  <a:pt x="709" y="1049"/>
                </a:lnTo>
                <a:lnTo>
                  <a:pt x="725" y="1046"/>
                </a:lnTo>
                <a:close/>
                <a:moveTo>
                  <a:pt x="2294" y="1016"/>
                </a:moveTo>
                <a:lnTo>
                  <a:pt x="2309" y="1018"/>
                </a:lnTo>
                <a:lnTo>
                  <a:pt x="2324" y="1024"/>
                </a:lnTo>
                <a:lnTo>
                  <a:pt x="2337" y="1035"/>
                </a:lnTo>
                <a:lnTo>
                  <a:pt x="2348" y="1049"/>
                </a:lnTo>
                <a:lnTo>
                  <a:pt x="2352" y="1066"/>
                </a:lnTo>
                <a:lnTo>
                  <a:pt x="2351" y="1083"/>
                </a:lnTo>
                <a:lnTo>
                  <a:pt x="2344" y="1100"/>
                </a:lnTo>
                <a:lnTo>
                  <a:pt x="2333" y="1114"/>
                </a:lnTo>
                <a:lnTo>
                  <a:pt x="2318" y="1123"/>
                </a:lnTo>
                <a:lnTo>
                  <a:pt x="2302" y="1128"/>
                </a:lnTo>
                <a:lnTo>
                  <a:pt x="2285" y="1127"/>
                </a:lnTo>
                <a:lnTo>
                  <a:pt x="2268" y="1121"/>
                </a:lnTo>
                <a:lnTo>
                  <a:pt x="2255" y="1109"/>
                </a:lnTo>
                <a:lnTo>
                  <a:pt x="2244" y="1094"/>
                </a:lnTo>
                <a:lnTo>
                  <a:pt x="2240" y="1079"/>
                </a:lnTo>
                <a:lnTo>
                  <a:pt x="2241" y="1061"/>
                </a:lnTo>
                <a:lnTo>
                  <a:pt x="2248" y="1044"/>
                </a:lnTo>
                <a:lnTo>
                  <a:pt x="2256" y="1033"/>
                </a:lnTo>
                <a:lnTo>
                  <a:pt x="2267" y="1025"/>
                </a:lnTo>
                <a:lnTo>
                  <a:pt x="2279" y="1018"/>
                </a:lnTo>
                <a:lnTo>
                  <a:pt x="2294" y="1016"/>
                </a:lnTo>
                <a:close/>
                <a:moveTo>
                  <a:pt x="1399" y="1016"/>
                </a:moveTo>
                <a:lnTo>
                  <a:pt x="1413" y="1018"/>
                </a:lnTo>
                <a:lnTo>
                  <a:pt x="1428" y="1023"/>
                </a:lnTo>
                <a:lnTo>
                  <a:pt x="1439" y="1032"/>
                </a:lnTo>
                <a:lnTo>
                  <a:pt x="1448" y="1044"/>
                </a:lnTo>
                <a:lnTo>
                  <a:pt x="1454" y="1057"/>
                </a:lnTo>
                <a:lnTo>
                  <a:pt x="1456" y="1072"/>
                </a:lnTo>
                <a:lnTo>
                  <a:pt x="1454" y="1086"/>
                </a:lnTo>
                <a:lnTo>
                  <a:pt x="1448" y="1100"/>
                </a:lnTo>
                <a:lnTo>
                  <a:pt x="1439" y="1112"/>
                </a:lnTo>
                <a:lnTo>
                  <a:pt x="1428" y="1121"/>
                </a:lnTo>
                <a:lnTo>
                  <a:pt x="1415" y="1127"/>
                </a:lnTo>
                <a:lnTo>
                  <a:pt x="1400" y="1128"/>
                </a:lnTo>
                <a:lnTo>
                  <a:pt x="1385" y="1126"/>
                </a:lnTo>
                <a:lnTo>
                  <a:pt x="1372" y="1120"/>
                </a:lnTo>
                <a:lnTo>
                  <a:pt x="1361" y="1111"/>
                </a:lnTo>
                <a:lnTo>
                  <a:pt x="1352" y="1100"/>
                </a:lnTo>
                <a:lnTo>
                  <a:pt x="1345" y="1083"/>
                </a:lnTo>
                <a:lnTo>
                  <a:pt x="1344" y="1066"/>
                </a:lnTo>
                <a:lnTo>
                  <a:pt x="1348" y="1049"/>
                </a:lnTo>
                <a:lnTo>
                  <a:pt x="1359" y="1035"/>
                </a:lnTo>
                <a:lnTo>
                  <a:pt x="1372" y="1024"/>
                </a:lnTo>
                <a:lnTo>
                  <a:pt x="1384" y="1018"/>
                </a:lnTo>
                <a:lnTo>
                  <a:pt x="1399" y="1016"/>
                </a:lnTo>
                <a:close/>
                <a:moveTo>
                  <a:pt x="2079" y="926"/>
                </a:moveTo>
                <a:lnTo>
                  <a:pt x="2087" y="927"/>
                </a:lnTo>
                <a:lnTo>
                  <a:pt x="2094" y="928"/>
                </a:lnTo>
                <a:lnTo>
                  <a:pt x="2111" y="935"/>
                </a:lnTo>
                <a:lnTo>
                  <a:pt x="2124" y="948"/>
                </a:lnTo>
                <a:lnTo>
                  <a:pt x="2132" y="962"/>
                </a:lnTo>
                <a:lnTo>
                  <a:pt x="2136" y="979"/>
                </a:lnTo>
                <a:lnTo>
                  <a:pt x="2134" y="997"/>
                </a:lnTo>
                <a:lnTo>
                  <a:pt x="2127" y="1014"/>
                </a:lnTo>
                <a:lnTo>
                  <a:pt x="2115" y="1026"/>
                </a:lnTo>
                <a:lnTo>
                  <a:pt x="2100" y="1035"/>
                </a:lnTo>
                <a:lnTo>
                  <a:pt x="2083" y="1038"/>
                </a:lnTo>
                <a:lnTo>
                  <a:pt x="2065" y="1037"/>
                </a:lnTo>
                <a:lnTo>
                  <a:pt x="2050" y="1029"/>
                </a:lnTo>
                <a:lnTo>
                  <a:pt x="2036" y="1018"/>
                </a:lnTo>
                <a:lnTo>
                  <a:pt x="2027" y="1002"/>
                </a:lnTo>
                <a:lnTo>
                  <a:pt x="2024" y="986"/>
                </a:lnTo>
                <a:lnTo>
                  <a:pt x="2026" y="968"/>
                </a:lnTo>
                <a:lnTo>
                  <a:pt x="2034" y="951"/>
                </a:lnTo>
                <a:lnTo>
                  <a:pt x="2045" y="939"/>
                </a:lnTo>
                <a:lnTo>
                  <a:pt x="2061" y="930"/>
                </a:lnTo>
                <a:lnTo>
                  <a:pt x="2079" y="926"/>
                </a:lnTo>
                <a:close/>
                <a:moveTo>
                  <a:pt x="1615" y="926"/>
                </a:moveTo>
                <a:lnTo>
                  <a:pt x="1616" y="926"/>
                </a:lnTo>
                <a:lnTo>
                  <a:pt x="1634" y="930"/>
                </a:lnTo>
                <a:lnTo>
                  <a:pt x="1651" y="939"/>
                </a:lnTo>
                <a:lnTo>
                  <a:pt x="1662" y="951"/>
                </a:lnTo>
                <a:lnTo>
                  <a:pt x="1670" y="968"/>
                </a:lnTo>
                <a:lnTo>
                  <a:pt x="1672" y="986"/>
                </a:lnTo>
                <a:lnTo>
                  <a:pt x="1669" y="1002"/>
                </a:lnTo>
                <a:lnTo>
                  <a:pt x="1660" y="1018"/>
                </a:lnTo>
                <a:lnTo>
                  <a:pt x="1646" y="1029"/>
                </a:lnTo>
                <a:lnTo>
                  <a:pt x="1631" y="1037"/>
                </a:lnTo>
                <a:lnTo>
                  <a:pt x="1613" y="1038"/>
                </a:lnTo>
                <a:lnTo>
                  <a:pt x="1596" y="1035"/>
                </a:lnTo>
                <a:lnTo>
                  <a:pt x="1581" y="1026"/>
                </a:lnTo>
                <a:lnTo>
                  <a:pt x="1569" y="1014"/>
                </a:lnTo>
                <a:lnTo>
                  <a:pt x="1562" y="997"/>
                </a:lnTo>
                <a:lnTo>
                  <a:pt x="1560" y="979"/>
                </a:lnTo>
                <a:lnTo>
                  <a:pt x="1564" y="962"/>
                </a:lnTo>
                <a:lnTo>
                  <a:pt x="1572" y="948"/>
                </a:lnTo>
                <a:lnTo>
                  <a:pt x="1585" y="935"/>
                </a:lnTo>
                <a:lnTo>
                  <a:pt x="1602" y="928"/>
                </a:lnTo>
                <a:lnTo>
                  <a:pt x="1607" y="927"/>
                </a:lnTo>
                <a:lnTo>
                  <a:pt x="1613" y="926"/>
                </a:lnTo>
                <a:lnTo>
                  <a:pt x="1615" y="926"/>
                </a:lnTo>
                <a:close/>
                <a:moveTo>
                  <a:pt x="1848" y="896"/>
                </a:moveTo>
                <a:lnTo>
                  <a:pt x="1866" y="899"/>
                </a:lnTo>
                <a:lnTo>
                  <a:pt x="1882" y="907"/>
                </a:lnTo>
                <a:lnTo>
                  <a:pt x="1893" y="918"/>
                </a:lnTo>
                <a:lnTo>
                  <a:pt x="1901" y="934"/>
                </a:lnTo>
                <a:lnTo>
                  <a:pt x="1904" y="952"/>
                </a:lnTo>
                <a:lnTo>
                  <a:pt x="1901" y="970"/>
                </a:lnTo>
                <a:lnTo>
                  <a:pt x="1893" y="986"/>
                </a:lnTo>
                <a:lnTo>
                  <a:pt x="1882" y="997"/>
                </a:lnTo>
                <a:lnTo>
                  <a:pt x="1866" y="1005"/>
                </a:lnTo>
                <a:lnTo>
                  <a:pt x="1848" y="1008"/>
                </a:lnTo>
                <a:lnTo>
                  <a:pt x="1830" y="1005"/>
                </a:lnTo>
                <a:lnTo>
                  <a:pt x="1814" y="997"/>
                </a:lnTo>
                <a:lnTo>
                  <a:pt x="1803" y="986"/>
                </a:lnTo>
                <a:lnTo>
                  <a:pt x="1795" y="970"/>
                </a:lnTo>
                <a:lnTo>
                  <a:pt x="1792" y="952"/>
                </a:lnTo>
                <a:lnTo>
                  <a:pt x="1795" y="934"/>
                </a:lnTo>
                <a:lnTo>
                  <a:pt x="1803" y="918"/>
                </a:lnTo>
                <a:lnTo>
                  <a:pt x="1814" y="907"/>
                </a:lnTo>
                <a:lnTo>
                  <a:pt x="1830" y="899"/>
                </a:lnTo>
                <a:lnTo>
                  <a:pt x="1848" y="896"/>
                </a:lnTo>
                <a:close/>
                <a:moveTo>
                  <a:pt x="898" y="842"/>
                </a:moveTo>
                <a:lnTo>
                  <a:pt x="912" y="843"/>
                </a:lnTo>
                <a:lnTo>
                  <a:pt x="925" y="849"/>
                </a:lnTo>
                <a:lnTo>
                  <a:pt x="937" y="858"/>
                </a:lnTo>
                <a:lnTo>
                  <a:pt x="948" y="872"/>
                </a:lnTo>
                <a:lnTo>
                  <a:pt x="953" y="889"/>
                </a:lnTo>
                <a:lnTo>
                  <a:pt x="953" y="906"/>
                </a:lnTo>
                <a:lnTo>
                  <a:pt x="948" y="923"/>
                </a:lnTo>
                <a:lnTo>
                  <a:pt x="937" y="937"/>
                </a:lnTo>
                <a:lnTo>
                  <a:pt x="923" y="948"/>
                </a:lnTo>
                <a:lnTo>
                  <a:pt x="906" y="953"/>
                </a:lnTo>
                <a:lnTo>
                  <a:pt x="889" y="953"/>
                </a:lnTo>
                <a:lnTo>
                  <a:pt x="872" y="948"/>
                </a:lnTo>
                <a:lnTo>
                  <a:pt x="858" y="937"/>
                </a:lnTo>
                <a:lnTo>
                  <a:pt x="848" y="923"/>
                </a:lnTo>
                <a:lnTo>
                  <a:pt x="842" y="906"/>
                </a:lnTo>
                <a:lnTo>
                  <a:pt x="842" y="889"/>
                </a:lnTo>
                <a:lnTo>
                  <a:pt x="848" y="872"/>
                </a:lnTo>
                <a:lnTo>
                  <a:pt x="858" y="858"/>
                </a:lnTo>
                <a:lnTo>
                  <a:pt x="870" y="849"/>
                </a:lnTo>
                <a:lnTo>
                  <a:pt x="884" y="843"/>
                </a:lnTo>
                <a:lnTo>
                  <a:pt x="898" y="842"/>
                </a:lnTo>
                <a:close/>
                <a:moveTo>
                  <a:pt x="1107" y="674"/>
                </a:moveTo>
                <a:lnTo>
                  <a:pt x="1122" y="679"/>
                </a:lnTo>
                <a:lnTo>
                  <a:pt x="1137" y="687"/>
                </a:lnTo>
                <a:lnTo>
                  <a:pt x="1148" y="699"/>
                </a:lnTo>
                <a:lnTo>
                  <a:pt x="1156" y="716"/>
                </a:lnTo>
                <a:lnTo>
                  <a:pt x="1157" y="732"/>
                </a:lnTo>
                <a:lnTo>
                  <a:pt x="1154" y="749"/>
                </a:lnTo>
                <a:lnTo>
                  <a:pt x="1146" y="765"/>
                </a:lnTo>
                <a:lnTo>
                  <a:pt x="1132" y="777"/>
                </a:lnTo>
                <a:lnTo>
                  <a:pt x="1117" y="784"/>
                </a:lnTo>
                <a:lnTo>
                  <a:pt x="1099" y="786"/>
                </a:lnTo>
                <a:lnTo>
                  <a:pt x="1082" y="783"/>
                </a:lnTo>
                <a:lnTo>
                  <a:pt x="1067" y="775"/>
                </a:lnTo>
                <a:lnTo>
                  <a:pt x="1055" y="762"/>
                </a:lnTo>
                <a:lnTo>
                  <a:pt x="1047" y="745"/>
                </a:lnTo>
                <a:lnTo>
                  <a:pt x="1045" y="728"/>
                </a:lnTo>
                <a:lnTo>
                  <a:pt x="1048" y="711"/>
                </a:lnTo>
                <a:lnTo>
                  <a:pt x="1057" y="697"/>
                </a:lnTo>
                <a:lnTo>
                  <a:pt x="1070" y="684"/>
                </a:lnTo>
                <a:lnTo>
                  <a:pt x="1081" y="679"/>
                </a:lnTo>
                <a:lnTo>
                  <a:pt x="1091" y="675"/>
                </a:lnTo>
                <a:lnTo>
                  <a:pt x="1107" y="674"/>
                </a:lnTo>
                <a:close/>
                <a:moveTo>
                  <a:pt x="2589" y="674"/>
                </a:moveTo>
                <a:lnTo>
                  <a:pt x="2605" y="675"/>
                </a:lnTo>
                <a:lnTo>
                  <a:pt x="2615" y="679"/>
                </a:lnTo>
                <a:lnTo>
                  <a:pt x="2626" y="684"/>
                </a:lnTo>
                <a:lnTo>
                  <a:pt x="2639" y="697"/>
                </a:lnTo>
                <a:lnTo>
                  <a:pt x="2648" y="711"/>
                </a:lnTo>
                <a:lnTo>
                  <a:pt x="2651" y="728"/>
                </a:lnTo>
                <a:lnTo>
                  <a:pt x="2649" y="745"/>
                </a:lnTo>
                <a:lnTo>
                  <a:pt x="2641" y="762"/>
                </a:lnTo>
                <a:lnTo>
                  <a:pt x="2629" y="775"/>
                </a:lnTo>
                <a:lnTo>
                  <a:pt x="2614" y="783"/>
                </a:lnTo>
                <a:lnTo>
                  <a:pt x="2597" y="786"/>
                </a:lnTo>
                <a:lnTo>
                  <a:pt x="2579" y="784"/>
                </a:lnTo>
                <a:lnTo>
                  <a:pt x="2564" y="777"/>
                </a:lnTo>
                <a:lnTo>
                  <a:pt x="2550" y="765"/>
                </a:lnTo>
                <a:lnTo>
                  <a:pt x="2542" y="749"/>
                </a:lnTo>
                <a:lnTo>
                  <a:pt x="2539" y="732"/>
                </a:lnTo>
                <a:lnTo>
                  <a:pt x="2540" y="716"/>
                </a:lnTo>
                <a:lnTo>
                  <a:pt x="2548" y="699"/>
                </a:lnTo>
                <a:lnTo>
                  <a:pt x="2559" y="687"/>
                </a:lnTo>
                <a:lnTo>
                  <a:pt x="2574" y="679"/>
                </a:lnTo>
                <a:lnTo>
                  <a:pt x="2589" y="674"/>
                </a:lnTo>
                <a:close/>
                <a:moveTo>
                  <a:pt x="2362" y="550"/>
                </a:moveTo>
                <a:lnTo>
                  <a:pt x="2373" y="551"/>
                </a:lnTo>
                <a:lnTo>
                  <a:pt x="2383" y="554"/>
                </a:lnTo>
                <a:lnTo>
                  <a:pt x="2399" y="564"/>
                </a:lnTo>
                <a:lnTo>
                  <a:pt x="2410" y="577"/>
                </a:lnTo>
                <a:lnTo>
                  <a:pt x="2417" y="592"/>
                </a:lnTo>
                <a:lnTo>
                  <a:pt x="2418" y="610"/>
                </a:lnTo>
                <a:lnTo>
                  <a:pt x="2414" y="628"/>
                </a:lnTo>
                <a:lnTo>
                  <a:pt x="2405" y="643"/>
                </a:lnTo>
                <a:lnTo>
                  <a:pt x="2391" y="654"/>
                </a:lnTo>
                <a:lnTo>
                  <a:pt x="2376" y="661"/>
                </a:lnTo>
                <a:lnTo>
                  <a:pt x="2359" y="662"/>
                </a:lnTo>
                <a:lnTo>
                  <a:pt x="2341" y="657"/>
                </a:lnTo>
                <a:lnTo>
                  <a:pt x="2325" y="648"/>
                </a:lnTo>
                <a:lnTo>
                  <a:pt x="2314" y="635"/>
                </a:lnTo>
                <a:lnTo>
                  <a:pt x="2308" y="619"/>
                </a:lnTo>
                <a:lnTo>
                  <a:pt x="2306" y="603"/>
                </a:lnTo>
                <a:lnTo>
                  <a:pt x="2311" y="585"/>
                </a:lnTo>
                <a:lnTo>
                  <a:pt x="2320" y="570"/>
                </a:lnTo>
                <a:lnTo>
                  <a:pt x="2332" y="560"/>
                </a:lnTo>
                <a:lnTo>
                  <a:pt x="2346" y="553"/>
                </a:lnTo>
                <a:lnTo>
                  <a:pt x="2362" y="550"/>
                </a:lnTo>
                <a:close/>
                <a:moveTo>
                  <a:pt x="1334" y="550"/>
                </a:moveTo>
                <a:lnTo>
                  <a:pt x="1350" y="553"/>
                </a:lnTo>
                <a:lnTo>
                  <a:pt x="1364" y="560"/>
                </a:lnTo>
                <a:lnTo>
                  <a:pt x="1376" y="570"/>
                </a:lnTo>
                <a:lnTo>
                  <a:pt x="1385" y="585"/>
                </a:lnTo>
                <a:lnTo>
                  <a:pt x="1390" y="603"/>
                </a:lnTo>
                <a:lnTo>
                  <a:pt x="1388" y="619"/>
                </a:lnTo>
                <a:lnTo>
                  <a:pt x="1382" y="635"/>
                </a:lnTo>
                <a:lnTo>
                  <a:pt x="1371" y="648"/>
                </a:lnTo>
                <a:lnTo>
                  <a:pt x="1355" y="657"/>
                </a:lnTo>
                <a:lnTo>
                  <a:pt x="1337" y="662"/>
                </a:lnTo>
                <a:lnTo>
                  <a:pt x="1320" y="661"/>
                </a:lnTo>
                <a:lnTo>
                  <a:pt x="1305" y="654"/>
                </a:lnTo>
                <a:lnTo>
                  <a:pt x="1291" y="643"/>
                </a:lnTo>
                <a:lnTo>
                  <a:pt x="1282" y="628"/>
                </a:lnTo>
                <a:lnTo>
                  <a:pt x="1278" y="610"/>
                </a:lnTo>
                <a:lnTo>
                  <a:pt x="1279" y="592"/>
                </a:lnTo>
                <a:lnTo>
                  <a:pt x="1286" y="577"/>
                </a:lnTo>
                <a:lnTo>
                  <a:pt x="1297" y="564"/>
                </a:lnTo>
                <a:lnTo>
                  <a:pt x="1313" y="554"/>
                </a:lnTo>
                <a:lnTo>
                  <a:pt x="1323" y="551"/>
                </a:lnTo>
                <a:lnTo>
                  <a:pt x="1334" y="550"/>
                </a:lnTo>
                <a:close/>
                <a:moveTo>
                  <a:pt x="1593" y="474"/>
                </a:moveTo>
                <a:lnTo>
                  <a:pt x="1609" y="479"/>
                </a:lnTo>
                <a:lnTo>
                  <a:pt x="1624" y="488"/>
                </a:lnTo>
                <a:lnTo>
                  <a:pt x="1634" y="502"/>
                </a:lnTo>
                <a:lnTo>
                  <a:pt x="1641" y="519"/>
                </a:lnTo>
                <a:lnTo>
                  <a:pt x="1641" y="536"/>
                </a:lnTo>
                <a:lnTo>
                  <a:pt x="1636" y="553"/>
                </a:lnTo>
                <a:lnTo>
                  <a:pt x="1627" y="568"/>
                </a:lnTo>
                <a:lnTo>
                  <a:pt x="1614" y="578"/>
                </a:lnTo>
                <a:lnTo>
                  <a:pt x="1597" y="585"/>
                </a:lnTo>
                <a:lnTo>
                  <a:pt x="1579" y="586"/>
                </a:lnTo>
                <a:lnTo>
                  <a:pt x="1562" y="580"/>
                </a:lnTo>
                <a:lnTo>
                  <a:pt x="1548" y="571"/>
                </a:lnTo>
                <a:lnTo>
                  <a:pt x="1538" y="558"/>
                </a:lnTo>
                <a:lnTo>
                  <a:pt x="1531" y="541"/>
                </a:lnTo>
                <a:lnTo>
                  <a:pt x="1530" y="523"/>
                </a:lnTo>
                <a:lnTo>
                  <a:pt x="1536" y="506"/>
                </a:lnTo>
                <a:lnTo>
                  <a:pt x="1544" y="492"/>
                </a:lnTo>
                <a:lnTo>
                  <a:pt x="1558" y="482"/>
                </a:lnTo>
                <a:lnTo>
                  <a:pt x="1575" y="475"/>
                </a:lnTo>
                <a:lnTo>
                  <a:pt x="1593" y="474"/>
                </a:lnTo>
                <a:close/>
                <a:moveTo>
                  <a:pt x="2110" y="474"/>
                </a:moveTo>
                <a:lnTo>
                  <a:pt x="2121" y="475"/>
                </a:lnTo>
                <a:lnTo>
                  <a:pt x="2138" y="482"/>
                </a:lnTo>
                <a:lnTo>
                  <a:pt x="2152" y="492"/>
                </a:lnTo>
                <a:lnTo>
                  <a:pt x="2160" y="506"/>
                </a:lnTo>
                <a:lnTo>
                  <a:pt x="2166" y="523"/>
                </a:lnTo>
                <a:lnTo>
                  <a:pt x="2165" y="541"/>
                </a:lnTo>
                <a:lnTo>
                  <a:pt x="2158" y="558"/>
                </a:lnTo>
                <a:lnTo>
                  <a:pt x="2148" y="571"/>
                </a:lnTo>
                <a:lnTo>
                  <a:pt x="2134" y="580"/>
                </a:lnTo>
                <a:lnTo>
                  <a:pt x="2117" y="586"/>
                </a:lnTo>
                <a:lnTo>
                  <a:pt x="2099" y="585"/>
                </a:lnTo>
                <a:lnTo>
                  <a:pt x="2082" y="578"/>
                </a:lnTo>
                <a:lnTo>
                  <a:pt x="2069" y="568"/>
                </a:lnTo>
                <a:lnTo>
                  <a:pt x="2060" y="553"/>
                </a:lnTo>
                <a:lnTo>
                  <a:pt x="2055" y="536"/>
                </a:lnTo>
                <a:lnTo>
                  <a:pt x="2055" y="519"/>
                </a:lnTo>
                <a:lnTo>
                  <a:pt x="2061" y="503"/>
                </a:lnTo>
                <a:lnTo>
                  <a:pt x="2071" y="489"/>
                </a:lnTo>
                <a:lnTo>
                  <a:pt x="2083" y="480"/>
                </a:lnTo>
                <a:lnTo>
                  <a:pt x="2099" y="475"/>
                </a:lnTo>
                <a:lnTo>
                  <a:pt x="2110" y="474"/>
                </a:lnTo>
                <a:close/>
                <a:moveTo>
                  <a:pt x="1848" y="448"/>
                </a:moveTo>
                <a:lnTo>
                  <a:pt x="1866" y="451"/>
                </a:lnTo>
                <a:lnTo>
                  <a:pt x="1882" y="459"/>
                </a:lnTo>
                <a:lnTo>
                  <a:pt x="1893" y="470"/>
                </a:lnTo>
                <a:lnTo>
                  <a:pt x="1901" y="486"/>
                </a:lnTo>
                <a:lnTo>
                  <a:pt x="1904" y="504"/>
                </a:lnTo>
                <a:lnTo>
                  <a:pt x="1901" y="522"/>
                </a:lnTo>
                <a:lnTo>
                  <a:pt x="1893" y="538"/>
                </a:lnTo>
                <a:lnTo>
                  <a:pt x="1882" y="549"/>
                </a:lnTo>
                <a:lnTo>
                  <a:pt x="1866" y="557"/>
                </a:lnTo>
                <a:lnTo>
                  <a:pt x="1848" y="560"/>
                </a:lnTo>
                <a:lnTo>
                  <a:pt x="1830" y="557"/>
                </a:lnTo>
                <a:lnTo>
                  <a:pt x="1814" y="549"/>
                </a:lnTo>
                <a:lnTo>
                  <a:pt x="1803" y="538"/>
                </a:lnTo>
                <a:lnTo>
                  <a:pt x="1795" y="522"/>
                </a:lnTo>
                <a:lnTo>
                  <a:pt x="1792" y="504"/>
                </a:lnTo>
                <a:lnTo>
                  <a:pt x="1795" y="486"/>
                </a:lnTo>
                <a:lnTo>
                  <a:pt x="1803" y="470"/>
                </a:lnTo>
                <a:lnTo>
                  <a:pt x="1814" y="459"/>
                </a:lnTo>
                <a:lnTo>
                  <a:pt x="1830" y="451"/>
                </a:lnTo>
                <a:lnTo>
                  <a:pt x="1848" y="448"/>
                </a:lnTo>
                <a:close/>
                <a:moveTo>
                  <a:pt x="3248" y="112"/>
                </a:moveTo>
                <a:lnTo>
                  <a:pt x="3248" y="448"/>
                </a:lnTo>
                <a:lnTo>
                  <a:pt x="3584" y="448"/>
                </a:lnTo>
                <a:lnTo>
                  <a:pt x="3192" y="840"/>
                </a:lnTo>
                <a:lnTo>
                  <a:pt x="2936" y="840"/>
                </a:lnTo>
                <a:lnTo>
                  <a:pt x="1957" y="1819"/>
                </a:lnTo>
                <a:lnTo>
                  <a:pt x="1959" y="1833"/>
                </a:lnTo>
                <a:lnTo>
                  <a:pt x="1960" y="1848"/>
                </a:lnTo>
                <a:lnTo>
                  <a:pt x="1957" y="1874"/>
                </a:lnTo>
                <a:lnTo>
                  <a:pt x="1949" y="1897"/>
                </a:lnTo>
                <a:lnTo>
                  <a:pt x="1935" y="1919"/>
                </a:lnTo>
                <a:lnTo>
                  <a:pt x="1919" y="1935"/>
                </a:lnTo>
                <a:lnTo>
                  <a:pt x="1897" y="1949"/>
                </a:lnTo>
                <a:lnTo>
                  <a:pt x="1874" y="1957"/>
                </a:lnTo>
                <a:lnTo>
                  <a:pt x="1848" y="1960"/>
                </a:lnTo>
                <a:lnTo>
                  <a:pt x="1822" y="1957"/>
                </a:lnTo>
                <a:lnTo>
                  <a:pt x="1799" y="1949"/>
                </a:lnTo>
                <a:lnTo>
                  <a:pt x="1777" y="1935"/>
                </a:lnTo>
                <a:lnTo>
                  <a:pt x="1761" y="1919"/>
                </a:lnTo>
                <a:lnTo>
                  <a:pt x="1747" y="1897"/>
                </a:lnTo>
                <a:lnTo>
                  <a:pt x="1739" y="1874"/>
                </a:lnTo>
                <a:lnTo>
                  <a:pt x="1736" y="1848"/>
                </a:lnTo>
                <a:lnTo>
                  <a:pt x="1739" y="1822"/>
                </a:lnTo>
                <a:lnTo>
                  <a:pt x="1747" y="1799"/>
                </a:lnTo>
                <a:lnTo>
                  <a:pt x="1761" y="1777"/>
                </a:lnTo>
                <a:lnTo>
                  <a:pt x="1777" y="1761"/>
                </a:lnTo>
                <a:lnTo>
                  <a:pt x="1799" y="1747"/>
                </a:lnTo>
                <a:lnTo>
                  <a:pt x="1822" y="1739"/>
                </a:lnTo>
                <a:lnTo>
                  <a:pt x="1848" y="1736"/>
                </a:lnTo>
                <a:lnTo>
                  <a:pt x="1863" y="1737"/>
                </a:lnTo>
                <a:lnTo>
                  <a:pt x="1877" y="1739"/>
                </a:lnTo>
                <a:lnTo>
                  <a:pt x="2442" y="1176"/>
                </a:lnTo>
                <a:lnTo>
                  <a:pt x="2442" y="1175"/>
                </a:lnTo>
                <a:lnTo>
                  <a:pt x="2442" y="1175"/>
                </a:lnTo>
                <a:lnTo>
                  <a:pt x="2443" y="1174"/>
                </a:lnTo>
                <a:lnTo>
                  <a:pt x="2856" y="760"/>
                </a:lnTo>
                <a:lnTo>
                  <a:pt x="2856" y="504"/>
                </a:lnTo>
                <a:lnTo>
                  <a:pt x="3248" y="112"/>
                </a:lnTo>
                <a:close/>
                <a:moveTo>
                  <a:pt x="1848" y="0"/>
                </a:moveTo>
                <a:lnTo>
                  <a:pt x="1957" y="3"/>
                </a:lnTo>
                <a:lnTo>
                  <a:pt x="2064" y="12"/>
                </a:lnTo>
                <a:lnTo>
                  <a:pt x="2171" y="28"/>
                </a:lnTo>
                <a:lnTo>
                  <a:pt x="2274" y="49"/>
                </a:lnTo>
                <a:lnTo>
                  <a:pt x="2376" y="77"/>
                </a:lnTo>
                <a:lnTo>
                  <a:pt x="2474" y="110"/>
                </a:lnTo>
                <a:lnTo>
                  <a:pt x="2570" y="148"/>
                </a:lnTo>
                <a:lnTo>
                  <a:pt x="2664" y="192"/>
                </a:lnTo>
                <a:lnTo>
                  <a:pt x="2755" y="240"/>
                </a:lnTo>
                <a:lnTo>
                  <a:pt x="2844" y="292"/>
                </a:lnTo>
                <a:lnTo>
                  <a:pt x="2762" y="374"/>
                </a:lnTo>
                <a:lnTo>
                  <a:pt x="2672" y="321"/>
                </a:lnTo>
                <a:lnTo>
                  <a:pt x="2578" y="274"/>
                </a:lnTo>
                <a:lnTo>
                  <a:pt x="2482" y="232"/>
                </a:lnTo>
                <a:lnTo>
                  <a:pt x="2382" y="196"/>
                </a:lnTo>
                <a:lnTo>
                  <a:pt x="2280" y="167"/>
                </a:lnTo>
                <a:lnTo>
                  <a:pt x="2175" y="143"/>
                </a:lnTo>
                <a:lnTo>
                  <a:pt x="2068" y="125"/>
                </a:lnTo>
                <a:lnTo>
                  <a:pt x="1959" y="115"/>
                </a:lnTo>
                <a:lnTo>
                  <a:pt x="1848" y="112"/>
                </a:lnTo>
                <a:lnTo>
                  <a:pt x="1738" y="115"/>
                </a:lnTo>
                <a:lnTo>
                  <a:pt x="1631" y="125"/>
                </a:lnTo>
                <a:lnTo>
                  <a:pt x="1524" y="142"/>
                </a:lnTo>
                <a:lnTo>
                  <a:pt x="1421" y="165"/>
                </a:lnTo>
                <a:lnTo>
                  <a:pt x="1319" y="194"/>
                </a:lnTo>
                <a:lnTo>
                  <a:pt x="1221" y="228"/>
                </a:lnTo>
                <a:lnTo>
                  <a:pt x="1126" y="270"/>
                </a:lnTo>
                <a:lnTo>
                  <a:pt x="1033" y="316"/>
                </a:lnTo>
                <a:lnTo>
                  <a:pt x="943" y="367"/>
                </a:lnTo>
                <a:lnTo>
                  <a:pt x="857" y="423"/>
                </a:lnTo>
                <a:lnTo>
                  <a:pt x="774" y="485"/>
                </a:lnTo>
                <a:lnTo>
                  <a:pt x="696" y="551"/>
                </a:lnTo>
                <a:lnTo>
                  <a:pt x="620" y="620"/>
                </a:lnTo>
                <a:lnTo>
                  <a:pt x="551" y="696"/>
                </a:lnTo>
                <a:lnTo>
                  <a:pt x="485" y="774"/>
                </a:lnTo>
                <a:lnTo>
                  <a:pt x="423" y="857"/>
                </a:lnTo>
                <a:lnTo>
                  <a:pt x="367" y="943"/>
                </a:lnTo>
                <a:lnTo>
                  <a:pt x="316" y="1033"/>
                </a:lnTo>
                <a:lnTo>
                  <a:pt x="270" y="1126"/>
                </a:lnTo>
                <a:lnTo>
                  <a:pt x="228" y="1221"/>
                </a:lnTo>
                <a:lnTo>
                  <a:pt x="194" y="1319"/>
                </a:lnTo>
                <a:lnTo>
                  <a:pt x="165" y="1421"/>
                </a:lnTo>
                <a:lnTo>
                  <a:pt x="142" y="1524"/>
                </a:lnTo>
                <a:lnTo>
                  <a:pt x="125" y="1631"/>
                </a:lnTo>
                <a:lnTo>
                  <a:pt x="115" y="1738"/>
                </a:lnTo>
                <a:lnTo>
                  <a:pt x="112" y="1848"/>
                </a:lnTo>
                <a:lnTo>
                  <a:pt x="115" y="1958"/>
                </a:lnTo>
                <a:lnTo>
                  <a:pt x="125" y="2065"/>
                </a:lnTo>
                <a:lnTo>
                  <a:pt x="142" y="2172"/>
                </a:lnTo>
                <a:lnTo>
                  <a:pt x="165" y="2275"/>
                </a:lnTo>
                <a:lnTo>
                  <a:pt x="194" y="2377"/>
                </a:lnTo>
                <a:lnTo>
                  <a:pt x="228" y="2475"/>
                </a:lnTo>
                <a:lnTo>
                  <a:pt x="270" y="2570"/>
                </a:lnTo>
                <a:lnTo>
                  <a:pt x="316" y="2663"/>
                </a:lnTo>
                <a:lnTo>
                  <a:pt x="367" y="2753"/>
                </a:lnTo>
                <a:lnTo>
                  <a:pt x="423" y="2839"/>
                </a:lnTo>
                <a:lnTo>
                  <a:pt x="485" y="2922"/>
                </a:lnTo>
                <a:lnTo>
                  <a:pt x="551" y="3000"/>
                </a:lnTo>
                <a:lnTo>
                  <a:pt x="620" y="3076"/>
                </a:lnTo>
                <a:lnTo>
                  <a:pt x="696" y="3145"/>
                </a:lnTo>
                <a:lnTo>
                  <a:pt x="774" y="3211"/>
                </a:lnTo>
                <a:lnTo>
                  <a:pt x="857" y="3273"/>
                </a:lnTo>
                <a:lnTo>
                  <a:pt x="943" y="3329"/>
                </a:lnTo>
                <a:lnTo>
                  <a:pt x="1033" y="3380"/>
                </a:lnTo>
                <a:lnTo>
                  <a:pt x="1126" y="3426"/>
                </a:lnTo>
                <a:lnTo>
                  <a:pt x="1221" y="3468"/>
                </a:lnTo>
                <a:lnTo>
                  <a:pt x="1319" y="3502"/>
                </a:lnTo>
                <a:lnTo>
                  <a:pt x="1421" y="3531"/>
                </a:lnTo>
                <a:lnTo>
                  <a:pt x="1524" y="3554"/>
                </a:lnTo>
                <a:lnTo>
                  <a:pt x="1631" y="3571"/>
                </a:lnTo>
                <a:lnTo>
                  <a:pt x="1738" y="3581"/>
                </a:lnTo>
                <a:lnTo>
                  <a:pt x="1848" y="3584"/>
                </a:lnTo>
                <a:lnTo>
                  <a:pt x="1958" y="3581"/>
                </a:lnTo>
                <a:lnTo>
                  <a:pt x="2065" y="3571"/>
                </a:lnTo>
                <a:lnTo>
                  <a:pt x="2172" y="3554"/>
                </a:lnTo>
                <a:lnTo>
                  <a:pt x="2275" y="3531"/>
                </a:lnTo>
                <a:lnTo>
                  <a:pt x="2377" y="3502"/>
                </a:lnTo>
                <a:lnTo>
                  <a:pt x="2475" y="3468"/>
                </a:lnTo>
                <a:lnTo>
                  <a:pt x="2570" y="3426"/>
                </a:lnTo>
                <a:lnTo>
                  <a:pt x="2663" y="3380"/>
                </a:lnTo>
                <a:lnTo>
                  <a:pt x="2753" y="3329"/>
                </a:lnTo>
                <a:lnTo>
                  <a:pt x="2839" y="3273"/>
                </a:lnTo>
                <a:lnTo>
                  <a:pt x="2922" y="3211"/>
                </a:lnTo>
                <a:lnTo>
                  <a:pt x="3000" y="3145"/>
                </a:lnTo>
                <a:lnTo>
                  <a:pt x="3076" y="3076"/>
                </a:lnTo>
                <a:lnTo>
                  <a:pt x="3145" y="3000"/>
                </a:lnTo>
                <a:lnTo>
                  <a:pt x="3211" y="2922"/>
                </a:lnTo>
                <a:lnTo>
                  <a:pt x="3273" y="2839"/>
                </a:lnTo>
                <a:lnTo>
                  <a:pt x="3329" y="2753"/>
                </a:lnTo>
                <a:lnTo>
                  <a:pt x="3380" y="2663"/>
                </a:lnTo>
                <a:lnTo>
                  <a:pt x="3426" y="2570"/>
                </a:lnTo>
                <a:lnTo>
                  <a:pt x="3468" y="2475"/>
                </a:lnTo>
                <a:lnTo>
                  <a:pt x="3502" y="2377"/>
                </a:lnTo>
                <a:lnTo>
                  <a:pt x="3531" y="2275"/>
                </a:lnTo>
                <a:lnTo>
                  <a:pt x="3554" y="2172"/>
                </a:lnTo>
                <a:lnTo>
                  <a:pt x="3571" y="2065"/>
                </a:lnTo>
                <a:lnTo>
                  <a:pt x="3581" y="1958"/>
                </a:lnTo>
                <a:lnTo>
                  <a:pt x="3584" y="1848"/>
                </a:lnTo>
                <a:lnTo>
                  <a:pt x="3581" y="1744"/>
                </a:lnTo>
                <a:lnTo>
                  <a:pt x="3572" y="1641"/>
                </a:lnTo>
                <a:lnTo>
                  <a:pt x="3557" y="1540"/>
                </a:lnTo>
                <a:lnTo>
                  <a:pt x="3536" y="1441"/>
                </a:lnTo>
                <a:lnTo>
                  <a:pt x="3509" y="1345"/>
                </a:lnTo>
                <a:lnTo>
                  <a:pt x="3478" y="1250"/>
                </a:lnTo>
                <a:lnTo>
                  <a:pt x="3441" y="1158"/>
                </a:lnTo>
                <a:lnTo>
                  <a:pt x="3399" y="1070"/>
                </a:lnTo>
                <a:lnTo>
                  <a:pt x="3352" y="982"/>
                </a:lnTo>
                <a:lnTo>
                  <a:pt x="3301" y="899"/>
                </a:lnTo>
                <a:lnTo>
                  <a:pt x="3382" y="818"/>
                </a:lnTo>
                <a:lnTo>
                  <a:pt x="3438" y="908"/>
                </a:lnTo>
                <a:lnTo>
                  <a:pt x="3491" y="1001"/>
                </a:lnTo>
                <a:lnTo>
                  <a:pt x="3537" y="1099"/>
                </a:lnTo>
                <a:lnTo>
                  <a:pt x="3578" y="1198"/>
                </a:lnTo>
                <a:lnTo>
                  <a:pt x="3613" y="1300"/>
                </a:lnTo>
                <a:lnTo>
                  <a:pt x="3642" y="1406"/>
                </a:lnTo>
                <a:lnTo>
                  <a:pt x="3666" y="1513"/>
                </a:lnTo>
                <a:lnTo>
                  <a:pt x="3683" y="1623"/>
                </a:lnTo>
                <a:lnTo>
                  <a:pt x="3693" y="1735"/>
                </a:lnTo>
                <a:lnTo>
                  <a:pt x="3696" y="1848"/>
                </a:lnTo>
                <a:lnTo>
                  <a:pt x="3693" y="1960"/>
                </a:lnTo>
                <a:lnTo>
                  <a:pt x="3683" y="2071"/>
                </a:lnTo>
                <a:lnTo>
                  <a:pt x="3666" y="2180"/>
                </a:lnTo>
                <a:lnTo>
                  <a:pt x="3643" y="2286"/>
                </a:lnTo>
                <a:lnTo>
                  <a:pt x="3614" y="2390"/>
                </a:lnTo>
                <a:lnTo>
                  <a:pt x="3581" y="2492"/>
                </a:lnTo>
                <a:lnTo>
                  <a:pt x="3540" y="2591"/>
                </a:lnTo>
                <a:lnTo>
                  <a:pt x="3494" y="2687"/>
                </a:lnTo>
                <a:lnTo>
                  <a:pt x="3443" y="2780"/>
                </a:lnTo>
                <a:lnTo>
                  <a:pt x="3387" y="2869"/>
                </a:lnTo>
                <a:lnTo>
                  <a:pt x="3326" y="2956"/>
                </a:lnTo>
                <a:lnTo>
                  <a:pt x="3260" y="3037"/>
                </a:lnTo>
                <a:lnTo>
                  <a:pt x="3191" y="3116"/>
                </a:lnTo>
                <a:lnTo>
                  <a:pt x="3116" y="3191"/>
                </a:lnTo>
                <a:lnTo>
                  <a:pt x="3037" y="3260"/>
                </a:lnTo>
                <a:lnTo>
                  <a:pt x="2956" y="3326"/>
                </a:lnTo>
                <a:lnTo>
                  <a:pt x="2869" y="3387"/>
                </a:lnTo>
                <a:lnTo>
                  <a:pt x="2780" y="3443"/>
                </a:lnTo>
                <a:lnTo>
                  <a:pt x="2687" y="3494"/>
                </a:lnTo>
                <a:lnTo>
                  <a:pt x="2591" y="3540"/>
                </a:lnTo>
                <a:lnTo>
                  <a:pt x="2492" y="3581"/>
                </a:lnTo>
                <a:lnTo>
                  <a:pt x="2390" y="3614"/>
                </a:lnTo>
                <a:lnTo>
                  <a:pt x="2286" y="3643"/>
                </a:lnTo>
                <a:lnTo>
                  <a:pt x="2180" y="3666"/>
                </a:lnTo>
                <a:lnTo>
                  <a:pt x="2071" y="3683"/>
                </a:lnTo>
                <a:lnTo>
                  <a:pt x="1960" y="3693"/>
                </a:lnTo>
                <a:lnTo>
                  <a:pt x="1848" y="3696"/>
                </a:lnTo>
                <a:lnTo>
                  <a:pt x="1736" y="3693"/>
                </a:lnTo>
                <a:lnTo>
                  <a:pt x="1625" y="3683"/>
                </a:lnTo>
                <a:lnTo>
                  <a:pt x="1516" y="3666"/>
                </a:lnTo>
                <a:lnTo>
                  <a:pt x="1410" y="3643"/>
                </a:lnTo>
                <a:lnTo>
                  <a:pt x="1306" y="3614"/>
                </a:lnTo>
                <a:lnTo>
                  <a:pt x="1204" y="3581"/>
                </a:lnTo>
                <a:lnTo>
                  <a:pt x="1105" y="3540"/>
                </a:lnTo>
                <a:lnTo>
                  <a:pt x="1009" y="3494"/>
                </a:lnTo>
                <a:lnTo>
                  <a:pt x="916" y="3443"/>
                </a:lnTo>
                <a:lnTo>
                  <a:pt x="827" y="3387"/>
                </a:lnTo>
                <a:lnTo>
                  <a:pt x="740" y="3326"/>
                </a:lnTo>
                <a:lnTo>
                  <a:pt x="659" y="3260"/>
                </a:lnTo>
                <a:lnTo>
                  <a:pt x="580" y="3191"/>
                </a:lnTo>
                <a:lnTo>
                  <a:pt x="505" y="3116"/>
                </a:lnTo>
                <a:lnTo>
                  <a:pt x="436" y="3037"/>
                </a:lnTo>
                <a:lnTo>
                  <a:pt x="370" y="2956"/>
                </a:lnTo>
                <a:lnTo>
                  <a:pt x="309" y="2869"/>
                </a:lnTo>
                <a:lnTo>
                  <a:pt x="253" y="2780"/>
                </a:lnTo>
                <a:lnTo>
                  <a:pt x="202" y="2687"/>
                </a:lnTo>
                <a:lnTo>
                  <a:pt x="156" y="2591"/>
                </a:lnTo>
                <a:lnTo>
                  <a:pt x="115" y="2492"/>
                </a:lnTo>
                <a:lnTo>
                  <a:pt x="82" y="2390"/>
                </a:lnTo>
                <a:lnTo>
                  <a:pt x="53" y="2286"/>
                </a:lnTo>
                <a:lnTo>
                  <a:pt x="30" y="2180"/>
                </a:lnTo>
                <a:lnTo>
                  <a:pt x="13" y="2071"/>
                </a:lnTo>
                <a:lnTo>
                  <a:pt x="3" y="1960"/>
                </a:lnTo>
                <a:lnTo>
                  <a:pt x="0" y="1848"/>
                </a:lnTo>
                <a:lnTo>
                  <a:pt x="3" y="1736"/>
                </a:lnTo>
                <a:lnTo>
                  <a:pt x="13" y="1625"/>
                </a:lnTo>
                <a:lnTo>
                  <a:pt x="30" y="1516"/>
                </a:lnTo>
                <a:lnTo>
                  <a:pt x="53" y="1410"/>
                </a:lnTo>
                <a:lnTo>
                  <a:pt x="82" y="1306"/>
                </a:lnTo>
                <a:lnTo>
                  <a:pt x="115" y="1204"/>
                </a:lnTo>
                <a:lnTo>
                  <a:pt x="156" y="1105"/>
                </a:lnTo>
                <a:lnTo>
                  <a:pt x="202" y="1009"/>
                </a:lnTo>
                <a:lnTo>
                  <a:pt x="253" y="916"/>
                </a:lnTo>
                <a:lnTo>
                  <a:pt x="309" y="827"/>
                </a:lnTo>
                <a:lnTo>
                  <a:pt x="370" y="740"/>
                </a:lnTo>
                <a:lnTo>
                  <a:pt x="436" y="659"/>
                </a:lnTo>
                <a:lnTo>
                  <a:pt x="505" y="580"/>
                </a:lnTo>
                <a:lnTo>
                  <a:pt x="580" y="505"/>
                </a:lnTo>
                <a:lnTo>
                  <a:pt x="659" y="436"/>
                </a:lnTo>
                <a:lnTo>
                  <a:pt x="740" y="370"/>
                </a:lnTo>
                <a:lnTo>
                  <a:pt x="827" y="309"/>
                </a:lnTo>
                <a:lnTo>
                  <a:pt x="916" y="253"/>
                </a:lnTo>
                <a:lnTo>
                  <a:pt x="1009" y="202"/>
                </a:lnTo>
                <a:lnTo>
                  <a:pt x="1105" y="156"/>
                </a:lnTo>
                <a:lnTo>
                  <a:pt x="1204" y="115"/>
                </a:lnTo>
                <a:lnTo>
                  <a:pt x="1306" y="82"/>
                </a:lnTo>
                <a:lnTo>
                  <a:pt x="1410" y="53"/>
                </a:lnTo>
                <a:lnTo>
                  <a:pt x="1516" y="30"/>
                </a:lnTo>
                <a:lnTo>
                  <a:pt x="1625" y="13"/>
                </a:lnTo>
                <a:lnTo>
                  <a:pt x="1736" y="3"/>
                </a:lnTo>
                <a:lnTo>
                  <a:pt x="184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359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4D90-1EBC-AACD-F5DC-B9FDAB908BCF}"/>
              </a:ext>
            </a:extLst>
          </p:cNvPr>
          <p:cNvSpPr/>
          <p:nvPr/>
        </p:nvSpPr>
        <p:spPr>
          <a:xfrm>
            <a:off x="3616071" y="3915057"/>
            <a:ext cx="4133425" cy="795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8"/>
          </a:p>
        </p:txBody>
      </p:sp>
      <p:sp>
        <p:nvSpPr>
          <p:cNvPr id="44" name="CuadroTexto 350">
            <a:extLst>
              <a:ext uri="{FF2B5EF4-FFF2-40B4-BE49-F238E27FC236}">
                <a16:creationId xmlns:a16="http://schemas.microsoft.com/office/drawing/2014/main" id="{EB85846B-B4DD-D346-BE0C-37F878C3F360}"/>
              </a:ext>
            </a:extLst>
          </p:cNvPr>
          <p:cNvSpPr txBox="1"/>
          <p:nvPr/>
        </p:nvSpPr>
        <p:spPr>
          <a:xfrm>
            <a:off x="3508738" y="213555"/>
            <a:ext cx="7159262" cy="5921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85000"/>
              </a:lnSpc>
              <a:spcBef>
                <a:spcPct val="0"/>
              </a:spcBef>
              <a:buNone/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 vs Post Transformation</a:t>
            </a:r>
          </a:p>
        </p:txBody>
      </p:sp>
      <p:sp>
        <p:nvSpPr>
          <p:cNvPr id="45" name="CuadroTexto 351">
            <a:extLst>
              <a:ext uri="{FF2B5EF4-FFF2-40B4-BE49-F238E27FC236}">
                <a16:creationId xmlns:a16="http://schemas.microsoft.com/office/drawing/2014/main" id="{14CCF53B-4E8A-804A-9EAC-C1FF6A3EC7E9}"/>
              </a:ext>
            </a:extLst>
          </p:cNvPr>
          <p:cNvSpPr txBox="1"/>
          <p:nvPr/>
        </p:nvSpPr>
        <p:spPr>
          <a:xfrm>
            <a:off x="1082295" y="932040"/>
            <a:ext cx="11948479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R="0" lvl="0" indent="0" defTabSz="1462981" fontAlgn="auto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700" b="1" i="0" u="none" strike="noStrike" cap="none" spc="0" normalizeH="0" baseline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lt"/>
                <a:cs typeface="Arial"/>
              </a:defRPr>
            </a:lvl1pPr>
          </a:lstStyle>
          <a:p>
            <a:r>
              <a:rPr lang="en-US" dirty="0"/>
              <a:t>Helped </a:t>
            </a:r>
            <a:r>
              <a:rPr lang="en-US"/>
              <a:t>bank</a:t>
            </a:r>
            <a:r>
              <a:rPr lang="en-US" dirty="0"/>
              <a:t> transition from a low throughput, high downtime environment to a high-performance platform delivering over 2000 TPS with 24/7 availability and full end-to-end transaction visibility.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7F7278-14B9-DD48-9A5F-0D473B9C2286}"/>
              </a:ext>
            </a:extLst>
          </p:cNvPr>
          <p:cNvGrpSpPr/>
          <p:nvPr/>
        </p:nvGrpSpPr>
        <p:grpSpPr>
          <a:xfrm>
            <a:off x="1100058" y="1863301"/>
            <a:ext cx="11930717" cy="4818706"/>
            <a:chOff x="2331509" y="4912662"/>
            <a:chExt cx="19884528" cy="80311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C6876A-EBE7-B440-B052-2AA727424BD2}"/>
                </a:ext>
              </a:extLst>
            </p:cNvPr>
            <p:cNvSpPr/>
            <p:nvPr/>
          </p:nvSpPr>
          <p:spPr>
            <a:xfrm>
              <a:off x="6524864" y="4912662"/>
              <a:ext cx="6889042" cy="139054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Pre-State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E3956D-ABAB-EC41-BADA-A663C47835A9}"/>
                </a:ext>
              </a:extLst>
            </p:cNvPr>
            <p:cNvSpPr/>
            <p:nvPr/>
          </p:nvSpPr>
          <p:spPr>
            <a:xfrm>
              <a:off x="15326995" y="4912662"/>
              <a:ext cx="6889042" cy="1390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Post State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DE7DA73-C9AE-994B-A5CB-7BD2F2CC63AA}"/>
                </a:ext>
              </a:extLst>
            </p:cNvPr>
            <p:cNvGrpSpPr/>
            <p:nvPr/>
          </p:nvGrpSpPr>
          <p:grpSpPr>
            <a:xfrm>
              <a:off x="6524865" y="6592100"/>
              <a:ext cx="6889041" cy="4893964"/>
              <a:chOff x="1813146" y="6232211"/>
              <a:chExt cx="6553614" cy="489396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E1C40B7-E0D1-AC46-9DFB-491DD59C3A5D}"/>
                  </a:ext>
                </a:extLst>
              </p:cNvPr>
              <p:cNvSpPr/>
              <p:nvPr/>
            </p:nvSpPr>
            <p:spPr>
              <a:xfrm>
                <a:off x="1813146" y="6294213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29DAACB-D671-6646-9751-2E11693F1FA6}"/>
                  </a:ext>
                </a:extLst>
              </p:cNvPr>
              <p:cNvSpPr/>
              <p:nvPr/>
            </p:nvSpPr>
            <p:spPr>
              <a:xfrm>
                <a:off x="1813146" y="7970707"/>
                <a:ext cx="6553614" cy="13256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en-US" sz="1500">
                  <a:solidFill>
                    <a:srgbClr val="000000"/>
                  </a:solidFill>
                  <a:latin typeface="Arial"/>
                  <a:ea typeface="+mn-lt"/>
                  <a:cs typeface="Arial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8502DF6-91AC-C744-AD56-98C494BDDE46}"/>
                  </a:ext>
                </a:extLst>
              </p:cNvPr>
              <p:cNvSpPr/>
              <p:nvPr/>
            </p:nvSpPr>
            <p:spPr>
              <a:xfrm>
                <a:off x="1813146" y="9647200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20" name="Rectangle 56">
                <a:extLst>
                  <a:ext uri="{FF2B5EF4-FFF2-40B4-BE49-F238E27FC236}">
                    <a16:creationId xmlns:a16="http://schemas.microsoft.com/office/drawing/2014/main" id="{2014AA71-94A0-BC49-9B41-40D5A3DE85B7}"/>
                  </a:ext>
                </a:extLst>
              </p:cNvPr>
              <p:cNvSpPr/>
              <p:nvPr/>
            </p:nvSpPr>
            <p:spPr>
              <a:xfrm>
                <a:off x="2601490" y="6232211"/>
                <a:ext cx="4896380" cy="1308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80-100 TPS</a:t>
                </a:r>
              </a:p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Frequent Downtime</a:t>
                </a:r>
              </a:p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Poor Transaction tracking</a:t>
                </a:r>
              </a:p>
            </p:txBody>
          </p:sp>
          <p:sp>
            <p:nvSpPr>
              <p:cNvPr id="25" name="Rectangle 56">
                <a:extLst>
                  <a:ext uri="{FF2B5EF4-FFF2-40B4-BE49-F238E27FC236}">
                    <a16:creationId xmlns:a16="http://schemas.microsoft.com/office/drawing/2014/main" id="{65B800CF-BDCA-A14D-BAE3-75FE7E7119D6}"/>
                  </a:ext>
                </a:extLst>
              </p:cNvPr>
              <p:cNvSpPr/>
              <p:nvPr/>
            </p:nvSpPr>
            <p:spPr>
              <a:xfrm>
                <a:off x="2734125" y="8249813"/>
                <a:ext cx="489638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Integration challenges</a:t>
                </a:r>
              </a:p>
              <a:p>
                <a:pPr algn="ctr"/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Data out </a:t>
                </a:r>
                <a:r>
                  <a:rPr lang="en-US" sz="1500" dirty="0">
                    <a:solidFill>
                      <a:srgbClr val="000000"/>
                    </a:solidFill>
                    <a:latin typeface="Arial" panose="020B0604020202020204" pitchFamily="34" charset="0"/>
                    <a:ea typeface="+mn-lt"/>
                    <a:cs typeface="Arial" panose="020B0604020202020204" pitchFamily="34" charset="0"/>
                  </a:rPr>
                  <a:t>of</a:t>
                </a:r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 sync between systems</a:t>
                </a:r>
              </a:p>
            </p:txBody>
          </p:sp>
          <p:sp>
            <p:nvSpPr>
              <p:cNvPr id="26" name="Rectangle 56">
                <a:extLst>
                  <a:ext uri="{FF2B5EF4-FFF2-40B4-BE49-F238E27FC236}">
                    <a16:creationId xmlns:a16="http://schemas.microsoft.com/office/drawing/2014/main" id="{31CF3F54-0760-F54C-96C8-6B3C9840B5BA}"/>
                  </a:ext>
                </a:extLst>
              </p:cNvPr>
              <p:cNvSpPr/>
              <p:nvPr/>
            </p:nvSpPr>
            <p:spPr>
              <a:xfrm>
                <a:off x="2641762" y="9818125"/>
                <a:ext cx="4896380" cy="1308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Limited configuration , mostly done by Dev/Support</a:t>
                </a:r>
              </a:p>
              <a:p>
                <a:pPr algn="ctr"/>
                <a:endParaRPr lang="en-US" sz="1500" dirty="0">
                  <a:latin typeface="Arial" panose="020B0604020202020204" pitchFamily="34" charset="0"/>
                  <a:ea typeface="Lato Light" panose="020F0502020204030203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3C2962C-D14F-FB46-9FA9-86AC23D4EB6D}"/>
                </a:ext>
              </a:extLst>
            </p:cNvPr>
            <p:cNvGrpSpPr/>
            <p:nvPr/>
          </p:nvGrpSpPr>
          <p:grpSpPr>
            <a:xfrm>
              <a:off x="15326996" y="6652700"/>
              <a:ext cx="6889041" cy="4679989"/>
              <a:chOff x="1813146" y="6292811"/>
              <a:chExt cx="6553614" cy="4679989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03FBC74-F13C-384F-BFF2-DA1CC8DF912B}"/>
                  </a:ext>
                </a:extLst>
              </p:cNvPr>
              <p:cNvSpPr/>
              <p:nvPr/>
            </p:nvSpPr>
            <p:spPr>
              <a:xfrm>
                <a:off x="1813146" y="6294213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3812D3D-3DB3-6544-B858-FF80F5C2293A}"/>
                  </a:ext>
                </a:extLst>
              </p:cNvPr>
              <p:cNvSpPr/>
              <p:nvPr/>
            </p:nvSpPr>
            <p:spPr>
              <a:xfrm>
                <a:off x="1813146" y="7970707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6FEB8DD-60BE-5F41-9910-1260561FB527}"/>
                  </a:ext>
                </a:extLst>
              </p:cNvPr>
              <p:cNvSpPr/>
              <p:nvPr/>
            </p:nvSpPr>
            <p:spPr>
              <a:xfrm>
                <a:off x="1813146" y="9647200"/>
                <a:ext cx="6553614" cy="1325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728"/>
              </a:p>
            </p:txBody>
          </p:sp>
          <p:sp>
            <p:nvSpPr>
              <p:cNvPr id="31" name="Rectangle 56">
                <a:extLst>
                  <a:ext uri="{FF2B5EF4-FFF2-40B4-BE49-F238E27FC236}">
                    <a16:creationId xmlns:a16="http://schemas.microsoft.com/office/drawing/2014/main" id="{1A2D7526-CDC6-D04D-BFBA-2557187C2354}"/>
                  </a:ext>
                </a:extLst>
              </p:cNvPr>
              <p:cNvSpPr/>
              <p:nvPr/>
            </p:nvSpPr>
            <p:spPr>
              <a:xfrm>
                <a:off x="2639635" y="6292811"/>
                <a:ext cx="4896380" cy="14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Over 2000 TPS</a:t>
                </a:r>
              </a:p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24*7 Availability</a:t>
                </a:r>
              </a:p>
              <a:p>
                <a:pPr algn="ctr"/>
                <a:r>
                  <a:rPr lang="en-US" sz="1500" dirty="0">
                    <a:solidFill>
                      <a:srgbClr val="000000"/>
                    </a:solidFill>
                    <a:latin typeface="Arial"/>
                    <a:ea typeface="+mn-lt"/>
                    <a:cs typeface="Arial"/>
                  </a:rPr>
                  <a:t>End to end tracking</a:t>
                </a:r>
              </a:p>
            </p:txBody>
          </p:sp>
          <p:sp>
            <p:nvSpPr>
              <p:cNvPr id="32" name="Rectangle 56">
                <a:extLst>
                  <a:ext uri="{FF2B5EF4-FFF2-40B4-BE49-F238E27FC236}">
                    <a16:creationId xmlns:a16="http://schemas.microsoft.com/office/drawing/2014/main" id="{839898F1-D5CB-3A47-B615-F85CC7467558}"/>
                  </a:ext>
                </a:extLst>
              </p:cNvPr>
              <p:cNvSpPr/>
              <p:nvPr/>
            </p:nvSpPr>
            <p:spPr>
              <a:xfrm>
                <a:off x="2641762" y="8150296"/>
                <a:ext cx="489638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Frictionless Connectivity</a:t>
                </a:r>
              </a:p>
              <a:p>
                <a:pPr algn="ctr"/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No Integration failures</a:t>
                </a: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4B52405-112C-F444-8C02-CC4146543B1A}"/>
                  </a:ext>
                </a:extLst>
              </p:cNvPr>
              <p:cNvSpPr/>
              <p:nvPr/>
            </p:nvSpPr>
            <p:spPr>
              <a:xfrm>
                <a:off x="2641762" y="9818125"/>
                <a:ext cx="489638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Everything is almost a config</a:t>
                </a:r>
              </a:p>
              <a:p>
                <a:pPr algn="ctr"/>
                <a:r>
                  <a:rPr lang="en-US" sz="1500" dirty="0">
                    <a:latin typeface="Arial" panose="020B0604020202020204" pitchFamily="34" charset="0"/>
                    <a:ea typeface="Lato Light" panose="020F0502020204030203" pitchFamily="34" charset="0"/>
                    <a:cs typeface="Arial" panose="020B0604020202020204" pitchFamily="34" charset="0"/>
                  </a:rPr>
                  <a:t>Rule based processing</a:t>
                </a:r>
              </a:p>
            </p:txBody>
          </p:sp>
        </p:grpSp>
        <p:sp>
          <p:nvSpPr>
            <p:cNvPr id="34" name="Triangle 33">
              <a:extLst>
                <a:ext uri="{FF2B5EF4-FFF2-40B4-BE49-F238E27FC236}">
                  <a16:creationId xmlns:a16="http://schemas.microsoft.com/office/drawing/2014/main" id="{A66541AC-007E-324C-AC85-6AC45354FD10}"/>
                </a:ext>
              </a:extLst>
            </p:cNvPr>
            <p:cNvSpPr/>
            <p:nvPr/>
          </p:nvSpPr>
          <p:spPr>
            <a:xfrm rot="5400000">
              <a:off x="10354865" y="8334069"/>
              <a:ext cx="8031172" cy="1188367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28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3A822D6-657B-6D41-8BE0-57E35851BFC9}"/>
                </a:ext>
              </a:extLst>
            </p:cNvPr>
            <p:cNvSpPr/>
            <p:nvPr/>
          </p:nvSpPr>
          <p:spPr>
            <a:xfrm>
              <a:off x="2331509" y="6657374"/>
              <a:ext cx="3830994" cy="13223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Performance &amp; Availability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1AF4DB-B877-AA45-A713-B4FBF347D0DC}"/>
                </a:ext>
              </a:extLst>
            </p:cNvPr>
            <p:cNvSpPr/>
            <p:nvPr/>
          </p:nvSpPr>
          <p:spPr>
            <a:xfrm>
              <a:off x="2331509" y="8330596"/>
              <a:ext cx="3830994" cy="13223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System Integration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D8C515F-F7B9-DE40-A2FC-3FB52FCDD131}"/>
                </a:ext>
              </a:extLst>
            </p:cNvPr>
            <p:cNvSpPr/>
            <p:nvPr/>
          </p:nvSpPr>
          <p:spPr>
            <a:xfrm>
              <a:off x="2331509" y="10010361"/>
              <a:ext cx="3830994" cy="13223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28" dirty="0">
                  <a:solidFill>
                    <a:schemeClr val="bg1"/>
                  </a:solidFill>
                  <a:latin typeface="Poppins Medium" pitchFamily="2" charset="77"/>
                  <a:ea typeface="Lato Semibold" panose="020F0502020204030203" pitchFamily="34" charset="0"/>
                  <a:cs typeface="Poppins Medium" pitchFamily="2" charset="77"/>
                </a:rPr>
                <a:t>Configurability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304869B-DAD5-576B-B47D-DFB3235625BB}"/>
              </a:ext>
            </a:extLst>
          </p:cNvPr>
          <p:cNvSpPr/>
          <p:nvPr/>
        </p:nvSpPr>
        <p:spPr>
          <a:xfrm>
            <a:off x="1082295" y="5936503"/>
            <a:ext cx="2298596" cy="7933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28" dirty="0">
                <a:solidFill>
                  <a:schemeClr val="bg1"/>
                </a:solidFill>
                <a:latin typeface="Poppins Medium" pitchFamily="2" charset="77"/>
                <a:ea typeface="Lato Semibold" panose="020F0502020204030203" pitchFamily="34" charset="0"/>
                <a:cs typeface="Poppins Medium" pitchFamily="2" charset="77"/>
              </a:rPr>
              <a:t>Fraud &amp; Client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A246D5-B933-E132-6A2C-E4CDD5762E92}"/>
              </a:ext>
            </a:extLst>
          </p:cNvPr>
          <p:cNvSpPr/>
          <p:nvPr/>
        </p:nvSpPr>
        <p:spPr>
          <a:xfrm>
            <a:off x="3590671" y="5909897"/>
            <a:ext cx="4133425" cy="795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8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7BD91E-190A-DF5E-EF63-D037F53C6B49}"/>
              </a:ext>
            </a:extLst>
          </p:cNvPr>
          <p:cNvSpPr/>
          <p:nvPr/>
        </p:nvSpPr>
        <p:spPr>
          <a:xfrm>
            <a:off x="8897349" y="5925853"/>
            <a:ext cx="4133425" cy="795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8"/>
          </a:p>
        </p:txBody>
      </p:sp>
      <p:sp>
        <p:nvSpPr>
          <p:cNvPr id="7" name="Rectangle 56">
            <a:extLst>
              <a:ext uri="{FF2B5EF4-FFF2-40B4-BE49-F238E27FC236}">
                <a16:creationId xmlns:a16="http://schemas.microsoft.com/office/drawing/2014/main" id="{49213E19-8612-2DD5-C4ED-AA8E52335A5D}"/>
              </a:ext>
            </a:extLst>
          </p:cNvPr>
          <p:cNvSpPr/>
          <p:nvPr/>
        </p:nvSpPr>
        <p:spPr>
          <a:xfrm>
            <a:off x="4188908" y="5897571"/>
            <a:ext cx="3088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Poor fraud management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High cost of change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Poor client experience</a:t>
            </a:r>
          </a:p>
          <a:p>
            <a:pPr algn="ctr"/>
            <a:endParaRPr lang="en-US" sz="15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56">
            <a:extLst>
              <a:ext uri="{FF2B5EF4-FFF2-40B4-BE49-F238E27FC236}">
                <a16:creationId xmlns:a16="http://schemas.microsoft.com/office/drawing/2014/main" id="{768E04AA-DD54-D339-4EBE-D2DC61DDB61E}"/>
              </a:ext>
            </a:extLst>
          </p:cNvPr>
          <p:cNvSpPr/>
          <p:nvPr/>
        </p:nvSpPr>
        <p:spPr>
          <a:xfrm>
            <a:off x="9445367" y="5925853"/>
            <a:ext cx="308819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Improved Fraud prevention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Faster time to market</a:t>
            </a:r>
          </a:p>
          <a:p>
            <a:pPr algn="ctr"/>
            <a:r>
              <a:rPr lang="en-US" sz="15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Improved client experience</a:t>
            </a:r>
          </a:p>
          <a:p>
            <a:pPr algn="ctr"/>
            <a:endParaRPr lang="en-US" sz="15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5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59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1003-7A0F-156A-4A1C-6A188C2D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8C3570-FB76-3700-1338-B3373144CDA3}"/>
              </a:ext>
            </a:extLst>
          </p:cNvPr>
          <p:cNvSpPr txBox="1"/>
          <p:nvPr/>
        </p:nvSpPr>
        <p:spPr>
          <a:xfrm>
            <a:off x="715888" y="1593850"/>
            <a:ext cx="3202970" cy="4984750"/>
          </a:xfrm>
          <a:prstGeom prst="round2SameRect">
            <a:avLst>
              <a:gd name="adj1" fmla="val 6609"/>
              <a:gd name="adj2" fmla="val 6933"/>
            </a:avLst>
          </a:prstGeom>
          <a:gradFill flip="none" rotWithShape="1">
            <a:gsLst>
              <a:gs pos="26000">
                <a:schemeClr val="accent1"/>
              </a:gs>
              <a:gs pos="100000">
                <a:schemeClr val="accent2"/>
              </a:gs>
            </a:gsLst>
            <a:lin ang="18900000" scaled="1"/>
            <a:tileRect/>
          </a:gradFill>
          <a:ln>
            <a:noFill/>
          </a:ln>
        </p:spPr>
        <p:txBody>
          <a:bodyPr wrap="square" lIns="150000" tIns="120000" rIns="72000" bIns="30000" rtlCol="0">
            <a:noAutofit/>
          </a:bodyPr>
          <a:lstStyle/>
          <a:p>
            <a:pPr marL="149994" marR="0" lvl="0" indent="-149994" algn="l" defTabSz="781750" rtl="0" eaLnBrk="1" fontAlgn="auto" latinLnBrk="0" hangingPunct="1">
              <a:lnSpc>
                <a:spcPct val="110000"/>
              </a:lnSpc>
              <a:spcBef>
                <a:spcPts val="250"/>
              </a:spcBef>
              <a:spcAft>
                <a:spcPts val="250"/>
              </a:spcAft>
              <a:buClr>
                <a:srgbClr val="5F249F"/>
              </a:buClr>
              <a:buSzPct val="100000"/>
              <a:buFont typeface="System Font Regular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AA4D8-5317-1516-CFFB-79476156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 – Leading British Multinational Bank</a:t>
            </a:r>
            <a:br>
              <a:rPr lang="en-US" dirty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69835-71C7-2828-53A4-74F07AE7D650}"/>
              </a:ext>
            </a:extLst>
          </p:cNvPr>
          <p:cNvSpPr txBox="1"/>
          <p:nvPr/>
        </p:nvSpPr>
        <p:spPr>
          <a:xfrm>
            <a:off x="999082" y="2898151"/>
            <a:ext cx="1574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Goal:</a:t>
            </a:r>
            <a:endParaRPr lang="uk-UA" sz="20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51EB4-9DC4-E037-C6BA-A3D3303B7DD7}"/>
              </a:ext>
            </a:extLst>
          </p:cNvPr>
          <p:cNvSpPr txBox="1"/>
          <p:nvPr/>
        </p:nvSpPr>
        <p:spPr>
          <a:xfrm>
            <a:off x="4358827" y="1652633"/>
            <a:ext cx="942248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lt"/>
                <a:cs typeface="Arial"/>
              </a:rPr>
              <a:t>Team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Size –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 members (9 EA - Engineering Analysts), 1QA, 3Dev, 1 Scrum Master)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Duration –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Kicked off from April 2025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5F249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Deliverables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5F249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Custom In-House Solution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Build new in-house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Trade Finance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US" altLang="en-US" sz="15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platform by replacing legacy IMEX platform. 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Open Account Module Live: Successfully implemented and launched Open Account module in-house for SG market.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LCs &amp; Trade Products in Progress: Currently working on building Letters of Credit (LCs), followed by Collections and Guarantees. 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Scope of work involves Requirements Gathering, Development, QA and Production Roll Out for All Trade Finance &amp; Supply Chain Finance Products.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Build End to End transaction workflow including Charges, Postings/Journal ledger, report generation, Compliance check, Advise and SWIFT generation and interaction with Core banking system for Limits, FX, Account and Balance checks. </a:t>
            </a:r>
          </a:p>
          <a:p>
            <a:pPr marL="342900" indent="-342900" defTabSz="146298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5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AI POC (In Progress) to rewrite legacy COBOL application in Java.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ABDCA-9DE4-282C-0E66-E35CD295F3D8}"/>
              </a:ext>
            </a:extLst>
          </p:cNvPr>
          <p:cNvSpPr txBox="1"/>
          <p:nvPr/>
        </p:nvSpPr>
        <p:spPr>
          <a:xfrm>
            <a:off x="963386" y="3455180"/>
            <a:ext cx="27856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46298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1600" dirty="0">
                <a:solidFill>
                  <a:schemeClr val="bg1"/>
                </a:solidFill>
              </a:rPr>
              <a:t>Build a global Trade Finance platform that is AI Driven, modular, scalable, open, flexible and available 24*7.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E222A1CA-F1B5-7707-6E22-839F265DE139}"/>
              </a:ext>
            </a:extLst>
          </p:cNvPr>
          <p:cNvSpPr>
            <a:spLocks noEditPoints="1"/>
          </p:cNvSpPr>
          <p:nvPr/>
        </p:nvSpPr>
        <p:spPr bwMode="auto">
          <a:xfrm>
            <a:off x="1078342" y="2194098"/>
            <a:ext cx="563579" cy="563579"/>
          </a:xfrm>
          <a:custGeom>
            <a:avLst/>
            <a:gdLst>
              <a:gd name="T0" fmla="*/ 2165 w 3696"/>
              <a:gd name="T1" fmla="*/ 3155 h 3696"/>
              <a:gd name="T2" fmla="*/ 1609 w 3696"/>
              <a:gd name="T3" fmla="*/ 3217 h 3696"/>
              <a:gd name="T4" fmla="*/ 2320 w 3696"/>
              <a:gd name="T5" fmla="*/ 3127 h 3696"/>
              <a:gd name="T6" fmla="*/ 1282 w 3696"/>
              <a:gd name="T7" fmla="*/ 3068 h 3696"/>
              <a:gd name="T8" fmla="*/ 2601 w 3696"/>
              <a:gd name="T9" fmla="*/ 2910 h 3696"/>
              <a:gd name="T10" fmla="*/ 2838 w 3696"/>
              <a:gd name="T11" fmla="*/ 2759 h 3696"/>
              <a:gd name="T12" fmla="*/ 948 w 3696"/>
              <a:gd name="T13" fmla="*/ 2824 h 3696"/>
              <a:gd name="T14" fmla="*/ 1830 w 3696"/>
              <a:gd name="T15" fmla="*/ 2797 h 3696"/>
              <a:gd name="T16" fmla="*/ 2027 w 3696"/>
              <a:gd name="T17" fmla="*/ 2694 h 3696"/>
              <a:gd name="T18" fmla="*/ 1597 w 3696"/>
              <a:gd name="T19" fmla="*/ 2661 h 3696"/>
              <a:gd name="T20" fmla="*/ 2295 w 3696"/>
              <a:gd name="T21" fmla="*/ 2568 h 3696"/>
              <a:gd name="T22" fmla="*/ 2997 w 3696"/>
              <a:gd name="T23" fmla="*/ 2548 h 3696"/>
              <a:gd name="T24" fmla="*/ 775 w 3696"/>
              <a:gd name="T25" fmla="*/ 2629 h 3696"/>
              <a:gd name="T26" fmla="*/ 2473 w 3696"/>
              <a:gd name="T27" fmla="*/ 2537 h 3696"/>
              <a:gd name="T28" fmla="*/ 1159 w 3696"/>
              <a:gd name="T29" fmla="*/ 2490 h 3696"/>
              <a:gd name="T30" fmla="*/ 3059 w 3696"/>
              <a:gd name="T31" fmla="*/ 2316 h 3696"/>
              <a:gd name="T32" fmla="*/ 2638 w 3696"/>
              <a:gd name="T33" fmla="*/ 2242 h 3696"/>
              <a:gd name="T34" fmla="*/ 1904 w 3696"/>
              <a:gd name="T35" fmla="*/ 2296 h 3696"/>
              <a:gd name="T36" fmla="*/ 1100 w 3696"/>
              <a:gd name="T37" fmla="*/ 2344 h 3696"/>
              <a:gd name="T38" fmla="*/ 1624 w 3696"/>
              <a:gd name="T39" fmla="*/ 2293 h 3696"/>
              <a:gd name="T40" fmla="*/ 2024 w 3696"/>
              <a:gd name="T41" fmla="*/ 2264 h 3696"/>
              <a:gd name="T42" fmla="*/ 488 w 3696"/>
              <a:gd name="T43" fmla="*/ 2072 h 3696"/>
              <a:gd name="T44" fmla="*/ 2713 w 3696"/>
              <a:gd name="T45" fmla="*/ 2024 h 3696"/>
              <a:gd name="T46" fmla="*/ 1029 w 3696"/>
              <a:gd name="T47" fmla="*/ 2048 h 3696"/>
              <a:gd name="T48" fmla="*/ 2285 w 3696"/>
              <a:gd name="T49" fmla="*/ 2100 h 3696"/>
              <a:gd name="T50" fmla="*/ 1454 w 3696"/>
              <a:gd name="T51" fmla="*/ 2128 h 3696"/>
              <a:gd name="T52" fmla="*/ 3139 w 3696"/>
              <a:gd name="T53" fmla="*/ 1866 h 3696"/>
              <a:gd name="T54" fmla="*/ 2726 w 3696"/>
              <a:gd name="T55" fmla="*/ 1795 h 3696"/>
              <a:gd name="T56" fmla="*/ 1445 w 3696"/>
              <a:gd name="T57" fmla="*/ 1814 h 3696"/>
              <a:gd name="T58" fmla="*/ 986 w 3696"/>
              <a:gd name="T59" fmla="*/ 1893 h 3696"/>
              <a:gd name="T60" fmla="*/ 459 w 3696"/>
              <a:gd name="T61" fmla="*/ 1882 h 3696"/>
              <a:gd name="T62" fmla="*/ 1406 w 3696"/>
              <a:gd name="T63" fmla="*/ 1609 h 3696"/>
              <a:gd name="T64" fmla="*/ 2699 w 3696"/>
              <a:gd name="T65" fmla="*/ 1562 h 3696"/>
              <a:gd name="T66" fmla="*/ 3190 w 3696"/>
              <a:gd name="T67" fmla="*/ 1536 h 3696"/>
              <a:gd name="T68" fmla="*/ 585 w 3696"/>
              <a:gd name="T69" fmla="*/ 1597 h 3696"/>
              <a:gd name="T70" fmla="*/ 1652 w 3696"/>
              <a:gd name="T71" fmla="*/ 1509 h 3696"/>
              <a:gd name="T72" fmla="*/ 2610 w 3696"/>
              <a:gd name="T73" fmla="*/ 1454 h 3696"/>
              <a:gd name="T74" fmla="*/ 1795 w 3696"/>
              <a:gd name="T75" fmla="*/ 1418 h 3696"/>
              <a:gd name="T76" fmla="*/ 1024 w 3696"/>
              <a:gd name="T77" fmla="*/ 1372 h 3696"/>
              <a:gd name="T78" fmla="*/ 606 w 3696"/>
              <a:gd name="T79" fmla="*/ 1278 h 3696"/>
              <a:gd name="T80" fmla="*/ 1254 w 3696"/>
              <a:gd name="T81" fmla="*/ 1175 h 3696"/>
              <a:gd name="T82" fmla="*/ 3009 w 3696"/>
              <a:gd name="T83" fmla="*/ 1136 h 3696"/>
              <a:gd name="T84" fmla="*/ 732 w 3696"/>
              <a:gd name="T85" fmla="*/ 1157 h 3696"/>
              <a:gd name="T86" fmla="*/ 2240 w 3696"/>
              <a:gd name="T87" fmla="*/ 1079 h 3696"/>
              <a:gd name="T88" fmla="*/ 1348 w 3696"/>
              <a:gd name="T89" fmla="*/ 1049 h 3696"/>
              <a:gd name="T90" fmla="*/ 2079 w 3696"/>
              <a:gd name="T91" fmla="*/ 926 h 3696"/>
              <a:gd name="T92" fmla="*/ 1866 w 3696"/>
              <a:gd name="T93" fmla="*/ 899 h 3696"/>
              <a:gd name="T94" fmla="*/ 953 w 3696"/>
              <a:gd name="T95" fmla="*/ 906 h 3696"/>
              <a:gd name="T96" fmla="*/ 1099 w 3696"/>
              <a:gd name="T97" fmla="*/ 786 h 3696"/>
              <a:gd name="T98" fmla="*/ 2550 w 3696"/>
              <a:gd name="T99" fmla="*/ 765 h 3696"/>
              <a:gd name="T100" fmla="*/ 2320 w 3696"/>
              <a:gd name="T101" fmla="*/ 570 h 3696"/>
              <a:gd name="T102" fmla="*/ 1593 w 3696"/>
              <a:gd name="T103" fmla="*/ 474 h 3696"/>
              <a:gd name="T104" fmla="*/ 2166 w 3696"/>
              <a:gd name="T105" fmla="*/ 523 h 3696"/>
              <a:gd name="T106" fmla="*/ 1866 w 3696"/>
              <a:gd name="T107" fmla="*/ 557 h 3696"/>
              <a:gd name="T108" fmla="*/ 1848 w 3696"/>
              <a:gd name="T109" fmla="*/ 1960 h 3696"/>
              <a:gd name="T110" fmla="*/ 2064 w 3696"/>
              <a:gd name="T111" fmla="*/ 12 h 3696"/>
              <a:gd name="T112" fmla="*/ 1033 w 3696"/>
              <a:gd name="T113" fmla="*/ 316 h 3696"/>
              <a:gd name="T114" fmla="*/ 316 w 3696"/>
              <a:gd name="T115" fmla="*/ 2663 h 3696"/>
              <a:gd name="T116" fmla="*/ 2663 w 3696"/>
              <a:gd name="T117" fmla="*/ 3380 h 3696"/>
              <a:gd name="T118" fmla="*/ 3399 w 3696"/>
              <a:gd name="T119" fmla="*/ 1070 h 3696"/>
              <a:gd name="T120" fmla="*/ 3191 w 3696"/>
              <a:gd name="T121" fmla="*/ 3116 h 3696"/>
              <a:gd name="T122" fmla="*/ 659 w 3696"/>
              <a:gd name="T123" fmla="*/ 3260 h 3696"/>
              <a:gd name="T124" fmla="*/ 370 w 3696"/>
              <a:gd name="T125" fmla="*/ 740 h 3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696" h="3696">
                <a:moveTo>
                  <a:pt x="1848" y="3136"/>
                </a:moveTo>
                <a:lnTo>
                  <a:pt x="1866" y="3139"/>
                </a:lnTo>
                <a:lnTo>
                  <a:pt x="1882" y="3147"/>
                </a:lnTo>
                <a:lnTo>
                  <a:pt x="1893" y="3158"/>
                </a:lnTo>
                <a:lnTo>
                  <a:pt x="1901" y="3174"/>
                </a:lnTo>
                <a:lnTo>
                  <a:pt x="1904" y="3192"/>
                </a:lnTo>
                <a:lnTo>
                  <a:pt x="1901" y="3210"/>
                </a:lnTo>
                <a:lnTo>
                  <a:pt x="1893" y="3226"/>
                </a:lnTo>
                <a:lnTo>
                  <a:pt x="1882" y="3237"/>
                </a:lnTo>
                <a:lnTo>
                  <a:pt x="1866" y="3245"/>
                </a:lnTo>
                <a:lnTo>
                  <a:pt x="1848" y="3248"/>
                </a:lnTo>
                <a:lnTo>
                  <a:pt x="1830" y="3245"/>
                </a:lnTo>
                <a:lnTo>
                  <a:pt x="1814" y="3237"/>
                </a:lnTo>
                <a:lnTo>
                  <a:pt x="1803" y="3226"/>
                </a:lnTo>
                <a:lnTo>
                  <a:pt x="1795" y="3210"/>
                </a:lnTo>
                <a:lnTo>
                  <a:pt x="1792" y="3192"/>
                </a:lnTo>
                <a:lnTo>
                  <a:pt x="1795" y="3174"/>
                </a:lnTo>
                <a:lnTo>
                  <a:pt x="1803" y="3158"/>
                </a:lnTo>
                <a:lnTo>
                  <a:pt x="1814" y="3147"/>
                </a:lnTo>
                <a:lnTo>
                  <a:pt x="1830" y="3139"/>
                </a:lnTo>
                <a:lnTo>
                  <a:pt x="1848" y="3136"/>
                </a:lnTo>
                <a:close/>
                <a:moveTo>
                  <a:pt x="2117" y="3110"/>
                </a:moveTo>
                <a:lnTo>
                  <a:pt x="2134" y="3116"/>
                </a:lnTo>
                <a:lnTo>
                  <a:pt x="2148" y="3125"/>
                </a:lnTo>
                <a:lnTo>
                  <a:pt x="2158" y="3138"/>
                </a:lnTo>
                <a:lnTo>
                  <a:pt x="2165" y="3155"/>
                </a:lnTo>
                <a:lnTo>
                  <a:pt x="2166" y="3173"/>
                </a:lnTo>
                <a:lnTo>
                  <a:pt x="2160" y="3190"/>
                </a:lnTo>
                <a:lnTo>
                  <a:pt x="2152" y="3204"/>
                </a:lnTo>
                <a:lnTo>
                  <a:pt x="2138" y="3214"/>
                </a:lnTo>
                <a:lnTo>
                  <a:pt x="2121" y="3221"/>
                </a:lnTo>
                <a:lnTo>
                  <a:pt x="2103" y="3222"/>
                </a:lnTo>
                <a:lnTo>
                  <a:pt x="2087" y="3217"/>
                </a:lnTo>
                <a:lnTo>
                  <a:pt x="2072" y="3208"/>
                </a:lnTo>
                <a:lnTo>
                  <a:pt x="2062" y="3194"/>
                </a:lnTo>
                <a:lnTo>
                  <a:pt x="2055" y="3177"/>
                </a:lnTo>
                <a:lnTo>
                  <a:pt x="2055" y="3160"/>
                </a:lnTo>
                <a:lnTo>
                  <a:pt x="2060" y="3143"/>
                </a:lnTo>
                <a:lnTo>
                  <a:pt x="2069" y="3128"/>
                </a:lnTo>
                <a:lnTo>
                  <a:pt x="2082" y="3118"/>
                </a:lnTo>
                <a:lnTo>
                  <a:pt x="2099" y="3111"/>
                </a:lnTo>
                <a:lnTo>
                  <a:pt x="2117" y="3110"/>
                </a:lnTo>
                <a:close/>
                <a:moveTo>
                  <a:pt x="1586" y="3110"/>
                </a:moveTo>
                <a:lnTo>
                  <a:pt x="1597" y="3111"/>
                </a:lnTo>
                <a:lnTo>
                  <a:pt x="1614" y="3118"/>
                </a:lnTo>
                <a:lnTo>
                  <a:pt x="1627" y="3128"/>
                </a:lnTo>
                <a:lnTo>
                  <a:pt x="1636" y="3143"/>
                </a:lnTo>
                <a:lnTo>
                  <a:pt x="1641" y="3160"/>
                </a:lnTo>
                <a:lnTo>
                  <a:pt x="1641" y="3177"/>
                </a:lnTo>
                <a:lnTo>
                  <a:pt x="1634" y="3194"/>
                </a:lnTo>
                <a:lnTo>
                  <a:pt x="1624" y="3208"/>
                </a:lnTo>
                <a:lnTo>
                  <a:pt x="1609" y="3217"/>
                </a:lnTo>
                <a:lnTo>
                  <a:pt x="1593" y="3222"/>
                </a:lnTo>
                <a:lnTo>
                  <a:pt x="1575" y="3221"/>
                </a:lnTo>
                <a:lnTo>
                  <a:pt x="1558" y="3214"/>
                </a:lnTo>
                <a:lnTo>
                  <a:pt x="1544" y="3204"/>
                </a:lnTo>
                <a:lnTo>
                  <a:pt x="1536" y="3190"/>
                </a:lnTo>
                <a:lnTo>
                  <a:pt x="1530" y="3173"/>
                </a:lnTo>
                <a:lnTo>
                  <a:pt x="1531" y="3155"/>
                </a:lnTo>
                <a:lnTo>
                  <a:pt x="1537" y="3139"/>
                </a:lnTo>
                <a:lnTo>
                  <a:pt x="1547" y="3126"/>
                </a:lnTo>
                <a:lnTo>
                  <a:pt x="1559" y="3117"/>
                </a:lnTo>
                <a:lnTo>
                  <a:pt x="1575" y="3111"/>
                </a:lnTo>
                <a:lnTo>
                  <a:pt x="1586" y="3110"/>
                </a:lnTo>
                <a:close/>
                <a:moveTo>
                  <a:pt x="2363" y="3034"/>
                </a:moveTo>
                <a:lnTo>
                  <a:pt x="2379" y="3036"/>
                </a:lnTo>
                <a:lnTo>
                  <a:pt x="2393" y="3043"/>
                </a:lnTo>
                <a:lnTo>
                  <a:pt x="2406" y="3054"/>
                </a:lnTo>
                <a:lnTo>
                  <a:pt x="2414" y="3068"/>
                </a:lnTo>
                <a:lnTo>
                  <a:pt x="2418" y="3086"/>
                </a:lnTo>
                <a:lnTo>
                  <a:pt x="2417" y="3104"/>
                </a:lnTo>
                <a:lnTo>
                  <a:pt x="2410" y="3119"/>
                </a:lnTo>
                <a:lnTo>
                  <a:pt x="2399" y="3132"/>
                </a:lnTo>
                <a:lnTo>
                  <a:pt x="2383" y="3142"/>
                </a:lnTo>
                <a:lnTo>
                  <a:pt x="2367" y="3146"/>
                </a:lnTo>
                <a:lnTo>
                  <a:pt x="2349" y="3144"/>
                </a:lnTo>
                <a:lnTo>
                  <a:pt x="2333" y="3137"/>
                </a:lnTo>
                <a:lnTo>
                  <a:pt x="2320" y="3127"/>
                </a:lnTo>
                <a:lnTo>
                  <a:pt x="2311" y="3111"/>
                </a:lnTo>
                <a:lnTo>
                  <a:pt x="2306" y="3093"/>
                </a:lnTo>
                <a:lnTo>
                  <a:pt x="2308" y="3077"/>
                </a:lnTo>
                <a:lnTo>
                  <a:pt x="2315" y="3061"/>
                </a:lnTo>
                <a:lnTo>
                  <a:pt x="2325" y="3048"/>
                </a:lnTo>
                <a:lnTo>
                  <a:pt x="2341" y="3039"/>
                </a:lnTo>
                <a:lnTo>
                  <a:pt x="2352" y="3035"/>
                </a:lnTo>
                <a:lnTo>
                  <a:pt x="2363" y="3034"/>
                </a:lnTo>
                <a:close/>
                <a:moveTo>
                  <a:pt x="1333" y="3034"/>
                </a:moveTo>
                <a:lnTo>
                  <a:pt x="1344" y="3035"/>
                </a:lnTo>
                <a:lnTo>
                  <a:pt x="1355" y="3039"/>
                </a:lnTo>
                <a:lnTo>
                  <a:pt x="1371" y="3048"/>
                </a:lnTo>
                <a:lnTo>
                  <a:pt x="1381" y="3061"/>
                </a:lnTo>
                <a:lnTo>
                  <a:pt x="1388" y="3077"/>
                </a:lnTo>
                <a:lnTo>
                  <a:pt x="1390" y="3093"/>
                </a:lnTo>
                <a:lnTo>
                  <a:pt x="1385" y="3111"/>
                </a:lnTo>
                <a:lnTo>
                  <a:pt x="1376" y="3127"/>
                </a:lnTo>
                <a:lnTo>
                  <a:pt x="1363" y="3137"/>
                </a:lnTo>
                <a:lnTo>
                  <a:pt x="1347" y="3144"/>
                </a:lnTo>
                <a:lnTo>
                  <a:pt x="1329" y="3146"/>
                </a:lnTo>
                <a:lnTo>
                  <a:pt x="1313" y="3142"/>
                </a:lnTo>
                <a:lnTo>
                  <a:pt x="1297" y="3132"/>
                </a:lnTo>
                <a:lnTo>
                  <a:pt x="1286" y="3119"/>
                </a:lnTo>
                <a:lnTo>
                  <a:pt x="1279" y="3104"/>
                </a:lnTo>
                <a:lnTo>
                  <a:pt x="1278" y="3086"/>
                </a:lnTo>
                <a:lnTo>
                  <a:pt x="1282" y="3068"/>
                </a:lnTo>
                <a:lnTo>
                  <a:pt x="1290" y="3054"/>
                </a:lnTo>
                <a:lnTo>
                  <a:pt x="1303" y="3043"/>
                </a:lnTo>
                <a:lnTo>
                  <a:pt x="1317" y="3036"/>
                </a:lnTo>
                <a:lnTo>
                  <a:pt x="1333" y="3034"/>
                </a:lnTo>
                <a:close/>
                <a:moveTo>
                  <a:pt x="2601" y="2910"/>
                </a:moveTo>
                <a:lnTo>
                  <a:pt x="2616" y="2913"/>
                </a:lnTo>
                <a:lnTo>
                  <a:pt x="2630" y="2922"/>
                </a:lnTo>
                <a:lnTo>
                  <a:pt x="2641" y="2934"/>
                </a:lnTo>
                <a:lnTo>
                  <a:pt x="2649" y="2951"/>
                </a:lnTo>
                <a:lnTo>
                  <a:pt x="2651" y="2968"/>
                </a:lnTo>
                <a:lnTo>
                  <a:pt x="2648" y="2985"/>
                </a:lnTo>
                <a:lnTo>
                  <a:pt x="2639" y="2999"/>
                </a:lnTo>
                <a:lnTo>
                  <a:pt x="2626" y="3012"/>
                </a:lnTo>
                <a:lnTo>
                  <a:pt x="2610" y="3020"/>
                </a:lnTo>
                <a:lnTo>
                  <a:pt x="2593" y="3022"/>
                </a:lnTo>
                <a:lnTo>
                  <a:pt x="2576" y="3018"/>
                </a:lnTo>
                <a:lnTo>
                  <a:pt x="2560" y="3009"/>
                </a:lnTo>
                <a:lnTo>
                  <a:pt x="2548" y="2997"/>
                </a:lnTo>
                <a:lnTo>
                  <a:pt x="2540" y="2980"/>
                </a:lnTo>
                <a:lnTo>
                  <a:pt x="2539" y="2964"/>
                </a:lnTo>
                <a:lnTo>
                  <a:pt x="2542" y="2947"/>
                </a:lnTo>
                <a:lnTo>
                  <a:pt x="2550" y="2931"/>
                </a:lnTo>
                <a:lnTo>
                  <a:pt x="2564" y="2919"/>
                </a:lnTo>
                <a:lnTo>
                  <a:pt x="2574" y="2913"/>
                </a:lnTo>
                <a:lnTo>
                  <a:pt x="2584" y="2911"/>
                </a:lnTo>
                <a:lnTo>
                  <a:pt x="2601" y="2910"/>
                </a:lnTo>
                <a:close/>
                <a:moveTo>
                  <a:pt x="1095" y="2910"/>
                </a:moveTo>
                <a:lnTo>
                  <a:pt x="1112" y="2911"/>
                </a:lnTo>
                <a:lnTo>
                  <a:pt x="1122" y="2913"/>
                </a:lnTo>
                <a:lnTo>
                  <a:pt x="1132" y="2919"/>
                </a:lnTo>
                <a:lnTo>
                  <a:pt x="1146" y="2931"/>
                </a:lnTo>
                <a:lnTo>
                  <a:pt x="1154" y="2947"/>
                </a:lnTo>
                <a:lnTo>
                  <a:pt x="1157" y="2964"/>
                </a:lnTo>
                <a:lnTo>
                  <a:pt x="1156" y="2980"/>
                </a:lnTo>
                <a:lnTo>
                  <a:pt x="1148" y="2997"/>
                </a:lnTo>
                <a:lnTo>
                  <a:pt x="1136" y="3009"/>
                </a:lnTo>
                <a:lnTo>
                  <a:pt x="1120" y="3018"/>
                </a:lnTo>
                <a:lnTo>
                  <a:pt x="1103" y="3022"/>
                </a:lnTo>
                <a:lnTo>
                  <a:pt x="1086" y="3020"/>
                </a:lnTo>
                <a:lnTo>
                  <a:pt x="1070" y="3012"/>
                </a:lnTo>
                <a:lnTo>
                  <a:pt x="1057" y="2999"/>
                </a:lnTo>
                <a:lnTo>
                  <a:pt x="1048" y="2985"/>
                </a:lnTo>
                <a:lnTo>
                  <a:pt x="1045" y="2968"/>
                </a:lnTo>
                <a:lnTo>
                  <a:pt x="1047" y="2951"/>
                </a:lnTo>
                <a:lnTo>
                  <a:pt x="1055" y="2934"/>
                </a:lnTo>
                <a:lnTo>
                  <a:pt x="1066" y="2922"/>
                </a:lnTo>
                <a:lnTo>
                  <a:pt x="1080" y="2913"/>
                </a:lnTo>
                <a:lnTo>
                  <a:pt x="1095" y="2910"/>
                </a:lnTo>
                <a:close/>
                <a:moveTo>
                  <a:pt x="2798" y="2742"/>
                </a:moveTo>
                <a:lnTo>
                  <a:pt x="2812" y="2744"/>
                </a:lnTo>
                <a:lnTo>
                  <a:pt x="2826" y="2750"/>
                </a:lnTo>
                <a:lnTo>
                  <a:pt x="2838" y="2759"/>
                </a:lnTo>
                <a:lnTo>
                  <a:pt x="2848" y="2773"/>
                </a:lnTo>
                <a:lnTo>
                  <a:pt x="2854" y="2790"/>
                </a:lnTo>
                <a:lnTo>
                  <a:pt x="2854" y="2807"/>
                </a:lnTo>
                <a:lnTo>
                  <a:pt x="2848" y="2824"/>
                </a:lnTo>
                <a:lnTo>
                  <a:pt x="2838" y="2838"/>
                </a:lnTo>
                <a:lnTo>
                  <a:pt x="2824" y="2848"/>
                </a:lnTo>
                <a:lnTo>
                  <a:pt x="2807" y="2854"/>
                </a:lnTo>
                <a:lnTo>
                  <a:pt x="2790" y="2854"/>
                </a:lnTo>
                <a:lnTo>
                  <a:pt x="2773" y="2848"/>
                </a:lnTo>
                <a:lnTo>
                  <a:pt x="2759" y="2838"/>
                </a:lnTo>
                <a:lnTo>
                  <a:pt x="2748" y="2824"/>
                </a:lnTo>
                <a:lnTo>
                  <a:pt x="2743" y="2807"/>
                </a:lnTo>
                <a:lnTo>
                  <a:pt x="2743" y="2790"/>
                </a:lnTo>
                <a:lnTo>
                  <a:pt x="2748" y="2773"/>
                </a:lnTo>
                <a:lnTo>
                  <a:pt x="2759" y="2759"/>
                </a:lnTo>
                <a:lnTo>
                  <a:pt x="2771" y="2750"/>
                </a:lnTo>
                <a:lnTo>
                  <a:pt x="2784" y="2744"/>
                </a:lnTo>
                <a:lnTo>
                  <a:pt x="2798" y="2742"/>
                </a:lnTo>
                <a:close/>
                <a:moveTo>
                  <a:pt x="898" y="2742"/>
                </a:moveTo>
                <a:lnTo>
                  <a:pt x="912" y="2744"/>
                </a:lnTo>
                <a:lnTo>
                  <a:pt x="925" y="2750"/>
                </a:lnTo>
                <a:lnTo>
                  <a:pt x="937" y="2759"/>
                </a:lnTo>
                <a:lnTo>
                  <a:pt x="948" y="2773"/>
                </a:lnTo>
                <a:lnTo>
                  <a:pt x="953" y="2790"/>
                </a:lnTo>
                <a:lnTo>
                  <a:pt x="953" y="2807"/>
                </a:lnTo>
                <a:lnTo>
                  <a:pt x="948" y="2824"/>
                </a:lnTo>
                <a:lnTo>
                  <a:pt x="937" y="2838"/>
                </a:lnTo>
                <a:lnTo>
                  <a:pt x="923" y="2848"/>
                </a:lnTo>
                <a:lnTo>
                  <a:pt x="906" y="2854"/>
                </a:lnTo>
                <a:lnTo>
                  <a:pt x="889" y="2854"/>
                </a:lnTo>
                <a:lnTo>
                  <a:pt x="872" y="2848"/>
                </a:lnTo>
                <a:lnTo>
                  <a:pt x="858" y="2838"/>
                </a:lnTo>
                <a:lnTo>
                  <a:pt x="848" y="2824"/>
                </a:lnTo>
                <a:lnTo>
                  <a:pt x="842" y="2807"/>
                </a:lnTo>
                <a:lnTo>
                  <a:pt x="842" y="2790"/>
                </a:lnTo>
                <a:lnTo>
                  <a:pt x="848" y="2773"/>
                </a:lnTo>
                <a:lnTo>
                  <a:pt x="858" y="2759"/>
                </a:lnTo>
                <a:lnTo>
                  <a:pt x="870" y="2750"/>
                </a:lnTo>
                <a:lnTo>
                  <a:pt x="884" y="2744"/>
                </a:lnTo>
                <a:lnTo>
                  <a:pt x="898" y="2742"/>
                </a:lnTo>
                <a:close/>
                <a:moveTo>
                  <a:pt x="1848" y="2688"/>
                </a:moveTo>
                <a:lnTo>
                  <a:pt x="1866" y="2691"/>
                </a:lnTo>
                <a:lnTo>
                  <a:pt x="1882" y="2699"/>
                </a:lnTo>
                <a:lnTo>
                  <a:pt x="1893" y="2710"/>
                </a:lnTo>
                <a:lnTo>
                  <a:pt x="1901" y="2726"/>
                </a:lnTo>
                <a:lnTo>
                  <a:pt x="1904" y="2744"/>
                </a:lnTo>
                <a:lnTo>
                  <a:pt x="1901" y="2762"/>
                </a:lnTo>
                <a:lnTo>
                  <a:pt x="1893" y="2778"/>
                </a:lnTo>
                <a:lnTo>
                  <a:pt x="1882" y="2789"/>
                </a:lnTo>
                <a:lnTo>
                  <a:pt x="1866" y="2797"/>
                </a:lnTo>
                <a:lnTo>
                  <a:pt x="1848" y="2800"/>
                </a:lnTo>
                <a:lnTo>
                  <a:pt x="1830" y="2797"/>
                </a:lnTo>
                <a:lnTo>
                  <a:pt x="1814" y="2789"/>
                </a:lnTo>
                <a:lnTo>
                  <a:pt x="1803" y="2778"/>
                </a:lnTo>
                <a:lnTo>
                  <a:pt x="1795" y="2762"/>
                </a:lnTo>
                <a:lnTo>
                  <a:pt x="1792" y="2744"/>
                </a:lnTo>
                <a:lnTo>
                  <a:pt x="1795" y="2726"/>
                </a:lnTo>
                <a:lnTo>
                  <a:pt x="1803" y="2710"/>
                </a:lnTo>
                <a:lnTo>
                  <a:pt x="1814" y="2699"/>
                </a:lnTo>
                <a:lnTo>
                  <a:pt x="1830" y="2691"/>
                </a:lnTo>
                <a:lnTo>
                  <a:pt x="1848" y="2688"/>
                </a:lnTo>
                <a:close/>
                <a:moveTo>
                  <a:pt x="2082" y="2658"/>
                </a:moveTo>
                <a:lnTo>
                  <a:pt x="2100" y="2661"/>
                </a:lnTo>
                <a:lnTo>
                  <a:pt x="2115" y="2670"/>
                </a:lnTo>
                <a:lnTo>
                  <a:pt x="2127" y="2682"/>
                </a:lnTo>
                <a:lnTo>
                  <a:pt x="2134" y="2699"/>
                </a:lnTo>
                <a:lnTo>
                  <a:pt x="2136" y="2717"/>
                </a:lnTo>
                <a:lnTo>
                  <a:pt x="2132" y="2734"/>
                </a:lnTo>
                <a:lnTo>
                  <a:pt x="2124" y="2748"/>
                </a:lnTo>
                <a:lnTo>
                  <a:pt x="2111" y="2761"/>
                </a:lnTo>
                <a:lnTo>
                  <a:pt x="2094" y="2768"/>
                </a:lnTo>
                <a:lnTo>
                  <a:pt x="2076" y="2770"/>
                </a:lnTo>
                <a:lnTo>
                  <a:pt x="2060" y="2765"/>
                </a:lnTo>
                <a:lnTo>
                  <a:pt x="2045" y="2757"/>
                </a:lnTo>
                <a:lnTo>
                  <a:pt x="2033" y="2744"/>
                </a:lnTo>
                <a:lnTo>
                  <a:pt x="2026" y="2728"/>
                </a:lnTo>
                <a:lnTo>
                  <a:pt x="2024" y="2710"/>
                </a:lnTo>
                <a:lnTo>
                  <a:pt x="2027" y="2694"/>
                </a:lnTo>
                <a:lnTo>
                  <a:pt x="2036" y="2678"/>
                </a:lnTo>
                <a:lnTo>
                  <a:pt x="2048" y="2667"/>
                </a:lnTo>
                <a:lnTo>
                  <a:pt x="2065" y="2659"/>
                </a:lnTo>
                <a:lnTo>
                  <a:pt x="2073" y="2658"/>
                </a:lnTo>
                <a:lnTo>
                  <a:pt x="2082" y="2658"/>
                </a:lnTo>
                <a:close/>
                <a:moveTo>
                  <a:pt x="1615" y="2658"/>
                </a:moveTo>
                <a:lnTo>
                  <a:pt x="1623" y="2658"/>
                </a:lnTo>
                <a:lnTo>
                  <a:pt x="1631" y="2659"/>
                </a:lnTo>
                <a:lnTo>
                  <a:pt x="1646" y="2667"/>
                </a:lnTo>
                <a:lnTo>
                  <a:pt x="1660" y="2678"/>
                </a:lnTo>
                <a:lnTo>
                  <a:pt x="1669" y="2694"/>
                </a:lnTo>
                <a:lnTo>
                  <a:pt x="1672" y="2710"/>
                </a:lnTo>
                <a:lnTo>
                  <a:pt x="1670" y="2728"/>
                </a:lnTo>
                <a:lnTo>
                  <a:pt x="1663" y="2744"/>
                </a:lnTo>
                <a:lnTo>
                  <a:pt x="1651" y="2757"/>
                </a:lnTo>
                <a:lnTo>
                  <a:pt x="1636" y="2765"/>
                </a:lnTo>
                <a:lnTo>
                  <a:pt x="1620" y="2770"/>
                </a:lnTo>
                <a:lnTo>
                  <a:pt x="1602" y="2768"/>
                </a:lnTo>
                <a:lnTo>
                  <a:pt x="1585" y="2761"/>
                </a:lnTo>
                <a:lnTo>
                  <a:pt x="1572" y="2748"/>
                </a:lnTo>
                <a:lnTo>
                  <a:pt x="1564" y="2734"/>
                </a:lnTo>
                <a:lnTo>
                  <a:pt x="1560" y="2717"/>
                </a:lnTo>
                <a:lnTo>
                  <a:pt x="1562" y="2699"/>
                </a:lnTo>
                <a:lnTo>
                  <a:pt x="1569" y="2682"/>
                </a:lnTo>
                <a:lnTo>
                  <a:pt x="1581" y="2669"/>
                </a:lnTo>
                <a:lnTo>
                  <a:pt x="1597" y="2661"/>
                </a:lnTo>
                <a:lnTo>
                  <a:pt x="1615" y="2658"/>
                </a:lnTo>
                <a:close/>
                <a:moveTo>
                  <a:pt x="1398" y="2568"/>
                </a:moveTo>
                <a:lnTo>
                  <a:pt x="1413" y="2569"/>
                </a:lnTo>
                <a:lnTo>
                  <a:pt x="1428" y="2575"/>
                </a:lnTo>
                <a:lnTo>
                  <a:pt x="1439" y="2584"/>
                </a:lnTo>
                <a:lnTo>
                  <a:pt x="1448" y="2596"/>
                </a:lnTo>
                <a:lnTo>
                  <a:pt x="1454" y="2610"/>
                </a:lnTo>
                <a:lnTo>
                  <a:pt x="1456" y="2624"/>
                </a:lnTo>
                <a:lnTo>
                  <a:pt x="1454" y="2639"/>
                </a:lnTo>
                <a:lnTo>
                  <a:pt x="1448" y="2652"/>
                </a:lnTo>
                <a:lnTo>
                  <a:pt x="1439" y="2663"/>
                </a:lnTo>
                <a:lnTo>
                  <a:pt x="1428" y="2672"/>
                </a:lnTo>
                <a:lnTo>
                  <a:pt x="1415" y="2678"/>
                </a:lnTo>
                <a:lnTo>
                  <a:pt x="1400" y="2680"/>
                </a:lnTo>
                <a:lnTo>
                  <a:pt x="1385" y="2678"/>
                </a:lnTo>
                <a:lnTo>
                  <a:pt x="1372" y="2672"/>
                </a:lnTo>
                <a:lnTo>
                  <a:pt x="1359" y="2661"/>
                </a:lnTo>
                <a:lnTo>
                  <a:pt x="1348" y="2647"/>
                </a:lnTo>
                <a:lnTo>
                  <a:pt x="1344" y="2630"/>
                </a:lnTo>
                <a:lnTo>
                  <a:pt x="1345" y="2613"/>
                </a:lnTo>
                <a:lnTo>
                  <a:pt x="1352" y="2596"/>
                </a:lnTo>
                <a:lnTo>
                  <a:pt x="1360" y="2585"/>
                </a:lnTo>
                <a:lnTo>
                  <a:pt x="1371" y="2576"/>
                </a:lnTo>
                <a:lnTo>
                  <a:pt x="1383" y="2570"/>
                </a:lnTo>
                <a:lnTo>
                  <a:pt x="1398" y="2568"/>
                </a:lnTo>
                <a:close/>
                <a:moveTo>
                  <a:pt x="2295" y="2568"/>
                </a:moveTo>
                <a:lnTo>
                  <a:pt x="2309" y="2569"/>
                </a:lnTo>
                <a:lnTo>
                  <a:pt x="2323" y="2575"/>
                </a:lnTo>
                <a:lnTo>
                  <a:pt x="2335" y="2584"/>
                </a:lnTo>
                <a:lnTo>
                  <a:pt x="2344" y="2596"/>
                </a:lnTo>
                <a:lnTo>
                  <a:pt x="2351" y="2613"/>
                </a:lnTo>
                <a:lnTo>
                  <a:pt x="2352" y="2630"/>
                </a:lnTo>
                <a:lnTo>
                  <a:pt x="2348" y="2647"/>
                </a:lnTo>
                <a:lnTo>
                  <a:pt x="2337" y="2661"/>
                </a:lnTo>
                <a:lnTo>
                  <a:pt x="2324" y="2672"/>
                </a:lnTo>
                <a:lnTo>
                  <a:pt x="2307" y="2679"/>
                </a:lnTo>
                <a:lnTo>
                  <a:pt x="2290" y="2679"/>
                </a:lnTo>
                <a:lnTo>
                  <a:pt x="2274" y="2675"/>
                </a:lnTo>
                <a:lnTo>
                  <a:pt x="2259" y="2666"/>
                </a:lnTo>
                <a:lnTo>
                  <a:pt x="2248" y="2652"/>
                </a:lnTo>
                <a:lnTo>
                  <a:pt x="2242" y="2639"/>
                </a:lnTo>
                <a:lnTo>
                  <a:pt x="2240" y="2624"/>
                </a:lnTo>
                <a:lnTo>
                  <a:pt x="2242" y="2610"/>
                </a:lnTo>
                <a:lnTo>
                  <a:pt x="2248" y="2596"/>
                </a:lnTo>
                <a:lnTo>
                  <a:pt x="2257" y="2584"/>
                </a:lnTo>
                <a:lnTo>
                  <a:pt x="2268" y="2575"/>
                </a:lnTo>
                <a:lnTo>
                  <a:pt x="2280" y="2570"/>
                </a:lnTo>
                <a:lnTo>
                  <a:pt x="2295" y="2568"/>
                </a:lnTo>
                <a:close/>
                <a:moveTo>
                  <a:pt x="2960" y="2539"/>
                </a:moveTo>
                <a:lnTo>
                  <a:pt x="2976" y="2540"/>
                </a:lnTo>
                <a:lnTo>
                  <a:pt x="2987" y="2542"/>
                </a:lnTo>
                <a:lnTo>
                  <a:pt x="2997" y="2548"/>
                </a:lnTo>
                <a:lnTo>
                  <a:pt x="3009" y="2560"/>
                </a:lnTo>
                <a:lnTo>
                  <a:pt x="3018" y="2576"/>
                </a:lnTo>
                <a:lnTo>
                  <a:pt x="3022" y="2593"/>
                </a:lnTo>
                <a:lnTo>
                  <a:pt x="3020" y="2610"/>
                </a:lnTo>
                <a:lnTo>
                  <a:pt x="3012" y="2626"/>
                </a:lnTo>
                <a:lnTo>
                  <a:pt x="2999" y="2639"/>
                </a:lnTo>
                <a:lnTo>
                  <a:pt x="2985" y="2648"/>
                </a:lnTo>
                <a:lnTo>
                  <a:pt x="2968" y="2651"/>
                </a:lnTo>
                <a:lnTo>
                  <a:pt x="2951" y="2649"/>
                </a:lnTo>
                <a:lnTo>
                  <a:pt x="2934" y="2641"/>
                </a:lnTo>
                <a:lnTo>
                  <a:pt x="2921" y="2629"/>
                </a:lnTo>
                <a:lnTo>
                  <a:pt x="2913" y="2614"/>
                </a:lnTo>
                <a:lnTo>
                  <a:pt x="2910" y="2597"/>
                </a:lnTo>
                <a:lnTo>
                  <a:pt x="2912" y="2579"/>
                </a:lnTo>
                <a:lnTo>
                  <a:pt x="2919" y="2564"/>
                </a:lnTo>
                <a:lnTo>
                  <a:pt x="2930" y="2551"/>
                </a:lnTo>
                <a:lnTo>
                  <a:pt x="2944" y="2542"/>
                </a:lnTo>
                <a:lnTo>
                  <a:pt x="2960" y="2539"/>
                </a:lnTo>
                <a:close/>
                <a:moveTo>
                  <a:pt x="736" y="2539"/>
                </a:moveTo>
                <a:lnTo>
                  <a:pt x="752" y="2542"/>
                </a:lnTo>
                <a:lnTo>
                  <a:pt x="766" y="2551"/>
                </a:lnTo>
                <a:lnTo>
                  <a:pt x="777" y="2564"/>
                </a:lnTo>
                <a:lnTo>
                  <a:pt x="784" y="2579"/>
                </a:lnTo>
                <a:lnTo>
                  <a:pt x="786" y="2597"/>
                </a:lnTo>
                <a:lnTo>
                  <a:pt x="783" y="2614"/>
                </a:lnTo>
                <a:lnTo>
                  <a:pt x="775" y="2629"/>
                </a:lnTo>
                <a:lnTo>
                  <a:pt x="762" y="2641"/>
                </a:lnTo>
                <a:lnTo>
                  <a:pt x="745" y="2649"/>
                </a:lnTo>
                <a:lnTo>
                  <a:pt x="728" y="2651"/>
                </a:lnTo>
                <a:lnTo>
                  <a:pt x="711" y="2648"/>
                </a:lnTo>
                <a:lnTo>
                  <a:pt x="697" y="2639"/>
                </a:lnTo>
                <a:lnTo>
                  <a:pt x="684" y="2626"/>
                </a:lnTo>
                <a:lnTo>
                  <a:pt x="676" y="2610"/>
                </a:lnTo>
                <a:lnTo>
                  <a:pt x="674" y="2593"/>
                </a:lnTo>
                <a:lnTo>
                  <a:pt x="678" y="2576"/>
                </a:lnTo>
                <a:lnTo>
                  <a:pt x="687" y="2560"/>
                </a:lnTo>
                <a:lnTo>
                  <a:pt x="699" y="2548"/>
                </a:lnTo>
                <a:lnTo>
                  <a:pt x="709" y="2542"/>
                </a:lnTo>
                <a:lnTo>
                  <a:pt x="720" y="2540"/>
                </a:lnTo>
                <a:lnTo>
                  <a:pt x="736" y="2539"/>
                </a:lnTo>
                <a:close/>
                <a:moveTo>
                  <a:pt x="2482" y="2426"/>
                </a:moveTo>
                <a:lnTo>
                  <a:pt x="2496" y="2428"/>
                </a:lnTo>
                <a:lnTo>
                  <a:pt x="2510" y="2434"/>
                </a:lnTo>
                <a:lnTo>
                  <a:pt x="2521" y="2442"/>
                </a:lnTo>
                <a:lnTo>
                  <a:pt x="2531" y="2456"/>
                </a:lnTo>
                <a:lnTo>
                  <a:pt x="2537" y="2473"/>
                </a:lnTo>
                <a:lnTo>
                  <a:pt x="2537" y="2490"/>
                </a:lnTo>
                <a:lnTo>
                  <a:pt x="2531" y="2507"/>
                </a:lnTo>
                <a:lnTo>
                  <a:pt x="2521" y="2521"/>
                </a:lnTo>
                <a:lnTo>
                  <a:pt x="2507" y="2531"/>
                </a:lnTo>
                <a:lnTo>
                  <a:pt x="2490" y="2537"/>
                </a:lnTo>
                <a:lnTo>
                  <a:pt x="2473" y="2537"/>
                </a:lnTo>
                <a:lnTo>
                  <a:pt x="2456" y="2531"/>
                </a:lnTo>
                <a:lnTo>
                  <a:pt x="2442" y="2521"/>
                </a:lnTo>
                <a:lnTo>
                  <a:pt x="2432" y="2507"/>
                </a:lnTo>
                <a:lnTo>
                  <a:pt x="2426" y="2490"/>
                </a:lnTo>
                <a:lnTo>
                  <a:pt x="2426" y="2473"/>
                </a:lnTo>
                <a:lnTo>
                  <a:pt x="2432" y="2456"/>
                </a:lnTo>
                <a:lnTo>
                  <a:pt x="2442" y="2442"/>
                </a:lnTo>
                <a:lnTo>
                  <a:pt x="2454" y="2433"/>
                </a:lnTo>
                <a:lnTo>
                  <a:pt x="2467" y="2427"/>
                </a:lnTo>
                <a:lnTo>
                  <a:pt x="2482" y="2426"/>
                </a:lnTo>
                <a:close/>
                <a:moveTo>
                  <a:pt x="1215" y="2426"/>
                </a:moveTo>
                <a:lnTo>
                  <a:pt x="1230" y="2428"/>
                </a:lnTo>
                <a:lnTo>
                  <a:pt x="1242" y="2434"/>
                </a:lnTo>
                <a:lnTo>
                  <a:pt x="1254" y="2442"/>
                </a:lnTo>
                <a:lnTo>
                  <a:pt x="1264" y="2456"/>
                </a:lnTo>
                <a:lnTo>
                  <a:pt x="1270" y="2473"/>
                </a:lnTo>
                <a:lnTo>
                  <a:pt x="1270" y="2490"/>
                </a:lnTo>
                <a:lnTo>
                  <a:pt x="1264" y="2507"/>
                </a:lnTo>
                <a:lnTo>
                  <a:pt x="1254" y="2521"/>
                </a:lnTo>
                <a:lnTo>
                  <a:pt x="1240" y="2531"/>
                </a:lnTo>
                <a:lnTo>
                  <a:pt x="1223" y="2537"/>
                </a:lnTo>
                <a:lnTo>
                  <a:pt x="1206" y="2537"/>
                </a:lnTo>
                <a:lnTo>
                  <a:pt x="1189" y="2531"/>
                </a:lnTo>
                <a:lnTo>
                  <a:pt x="1175" y="2521"/>
                </a:lnTo>
                <a:lnTo>
                  <a:pt x="1165" y="2507"/>
                </a:lnTo>
                <a:lnTo>
                  <a:pt x="1159" y="2490"/>
                </a:lnTo>
                <a:lnTo>
                  <a:pt x="1159" y="2473"/>
                </a:lnTo>
                <a:lnTo>
                  <a:pt x="1165" y="2456"/>
                </a:lnTo>
                <a:lnTo>
                  <a:pt x="1175" y="2442"/>
                </a:lnTo>
                <a:lnTo>
                  <a:pt x="1187" y="2433"/>
                </a:lnTo>
                <a:lnTo>
                  <a:pt x="1201" y="2427"/>
                </a:lnTo>
                <a:lnTo>
                  <a:pt x="1215" y="2426"/>
                </a:lnTo>
                <a:close/>
                <a:moveTo>
                  <a:pt x="3089" y="2306"/>
                </a:moveTo>
                <a:lnTo>
                  <a:pt x="3100" y="2307"/>
                </a:lnTo>
                <a:lnTo>
                  <a:pt x="3111" y="2311"/>
                </a:lnTo>
                <a:lnTo>
                  <a:pt x="3127" y="2320"/>
                </a:lnTo>
                <a:lnTo>
                  <a:pt x="3137" y="2333"/>
                </a:lnTo>
                <a:lnTo>
                  <a:pt x="3144" y="2349"/>
                </a:lnTo>
                <a:lnTo>
                  <a:pt x="3146" y="2367"/>
                </a:lnTo>
                <a:lnTo>
                  <a:pt x="3142" y="2383"/>
                </a:lnTo>
                <a:lnTo>
                  <a:pt x="3132" y="2399"/>
                </a:lnTo>
                <a:lnTo>
                  <a:pt x="3119" y="2410"/>
                </a:lnTo>
                <a:lnTo>
                  <a:pt x="3104" y="2417"/>
                </a:lnTo>
                <a:lnTo>
                  <a:pt x="3086" y="2418"/>
                </a:lnTo>
                <a:lnTo>
                  <a:pt x="3068" y="2414"/>
                </a:lnTo>
                <a:lnTo>
                  <a:pt x="3053" y="2405"/>
                </a:lnTo>
                <a:lnTo>
                  <a:pt x="3042" y="2391"/>
                </a:lnTo>
                <a:lnTo>
                  <a:pt x="3035" y="2376"/>
                </a:lnTo>
                <a:lnTo>
                  <a:pt x="3034" y="2359"/>
                </a:lnTo>
                <a:lnTo>
                  <a:pt x="3039" y="2341"/>
                </a:lnTo>
                <a:lnTo>
                  <a:pt x="3046" y="2326"/>
                </a:lnTo>
                <a:lnTo>
                  <a:pt x="3059" y="2316"/>
                </a:lnTo>
                <a:lnTo>
                  <a:pt x="3073" y="2308"/>
                </a:lnTo>
                <a:lnTo>
                  <a:pt x="3089" y="2306"/>
                </a:lnTo>
                <a:close/>
                <a:moveTo>
                  <a:pt x="607" y="2306"/>
                </a:moveTo>
                <a:lnTo>
                  <a:pt x="623" y="2308"/>
                </a:lnTo>
                <a:lnTo>
                  <a:pt x="637" y="2316"/>
                </a:lnTo>
                <a:lnTo>
                  <a:pt x="650" y="2326"/>
                </a:lnTo>
                <a:lnTo>
                  <a:pt x="657" y="2341"/>
                </a:lnTo>
                <a:lnTo>
                  <a:pt x="662" y="2359"/>
                </a:lnTo>
                <a:lnTo>
                  <a:pt x="661" y="2376"/>
                </a:lnTo>
                <a:lnTo>
                  <a:pt x="654" y="2391"/>
                </a:lnTo>
                <a:lnTo>
                  <a:pt x="643" y="2405"/>
                </a:lnTo>
                <a:lnTo>
                  <a:pt x="628" y="2414"/>
                </a:lnTo>
                <a:lnTo>
                  <a:pt x="610" y="2418"/>
                </a:lnTo>
                <a:lnTo>
                  <a:pt x="592" y="2417"/>
                </a:lnTo>
                <a:lnTo>
                  <a:pt x="577" y="2410"/>
                </a:lnTo>
                <a:lnTo>
                  <a:pt x="564" y="2399"/>
                </a:lnTo>
                <a:lnTo>
                  <a:pt x="554" y="2383"/>
                </a:lnTo>
                <a:lnTo>
                  <a:pt x="550" y="2367"/>
                </a:lnTo>
                <a:lnTo>
                  <a:pt x="552" y="2349"/>
                </a:lnTo>
                <a:lnTo>
                  <a:pt x="559" y="2333"/>
                </a:lnTo>
                <a:lnTo>
                  <a:pt x="569" y="2320"/>
                </a:lnTo>
                <a:lnTo>
                  <a:pt x="585" y="2311"/>
                </a:lnTo>
                <a:lnTo>
                  <a:pt x="596" y="2307"/>
                </a:lnTo>
                <a:lnTo>
                  <a:pt x="607" y="2306"/>
                </a:lnTo>
                <a:close/>
                <a:moveTo>
                  <a:pt x="2621" y="2240"/>
                </a:moveTo>
                <a:lnTo>
                  <a:pt x="2638" y="2242"/>
                </a:lnTo>
                <a:lnTo>
                  <a:pt x="2652" y="2248"/>
                </a:lnTo>
                <a:lnTo>
                  <a:pt x="2666" y="2259"/>
                </a:lnTo>
                <a:lnTo>
                  <a:pt x="2675" y="2274"/>
                </a:lnTo>
                <a:lnTo>
                  <a:pt x="2679" y="2290"/>
                </a:lnTo>
                <a:lnTo>
                  <a:pt x="2679" y="2307"/>
                </a:lnTo>
                <a:lnTo>
                  <a:pt x="2672" y="2324"/>
                </a:lnTo>
                <a:lnTo>
                  <a:pt x="2661" y="2337"/>
                </a:lnTo>
                <a:lnTo>
                  <a:pt x="2647" y="2348"/>
                </a:lnTo>
                <a:lnTo>
                  <a:pt x="2630" y="2352"/>
                </a:lnTo>
                <a:lnTo>
                  <a:pt x="2613" y="2351"/>
                </a:lnTo>
                <a:lnTo>
                  <a:pt x="2596" y="2344"/>
                </a:lnTo>
                <a:lnTo>
                  <a:pt x="2582" y="2333"/>
                </a:lnTo>
                <a:lnTo>
                  <a:pt x="2573" y="2318"/>
                </a:lnTo>
                <a:lnTo>
                  <a:pt x="2568" y="2302"/>
                </a:lnTo>
                <a:lnTo>
                  <a:pt x="2569" y="2285"/>
                </a:lnTo>
                <a:lnTo>
                  <a:pt x="2575" y="2268"/>
                </a:lnTo>
                <a:lnTo>
                  <a:pt x="2584" y="2257"/>
                </a:lnTo>
                <a:lnTo>
                  <a:pt x="2595" y="2248"/>
                </a:lnTo>
                <a:lnTo>
                  <a:pt x="2607" y="2242"/>
                </a:lnTo>
                <a:lnTo>
                  <a:pt x="2621" y="2240"/>
                </a:lnTo>
                <a:close/>
                <a:moveTo>
                  <a:pt x="1848" y="2240"/>
                </a:moveTo>
                <a:lnTo>
                  <a:pt x="1866" y="2243"/>
                </a:lnTo>
                <a:lnTo>
                  <a:pt x="1882" y="2251"/>
                </a:lnTo>
                <a:lnTo>
                  <a:pt x="1893" y="2262"/>
                </a:lnTo>
                <a:lnTo>
                  <a:pt x="1901" y="2278"/>
                </a:lnTo>
                <a:lnTo>
                  <a:pt x="1904" y="2296"/>
                </a:lnTo>
                <a:lnTo>
                  <a:pt x="1901" y="2314"/>
                </a:lnTo>
                <a:lnTo>
                  <a:pt x="1893" y="2330"/>
                </a:lnTo>
                <a:lnTo>
                  <a:pt x="1882" y="2341"/>
                </a:lnTo>
                <a:lnTo>
                  <a:pt x="1866" y="2349"/>
                </a:lnTo>
                <a:lnTo>
                  <a:pt x="1848" y="2352"/>
                </a:lnTo>
                <a:lnTo>
                  <a:pt x="1830" y="2349"/>
                </a:lnTo>
                <a:lnTo>
                  <a:pt x="1814" y="2341"/>
                </a:lnTo>
                <a:lnTo>
                  <a:pt x="1803" y="2330"/>
                </a:lnTo>
                <a:lnTo>
                  <a:pt x="1795" y="2314"/>
                </a:lnTo>
                <a:lnTo>
                  <a:pt x="1792" y="2296"/>
                </a:lnTo>
                <a:lnTo>
                  <a:pt x="1795" y="2278"/>
                </a:lnTo>
                <a:lnTo>
                  <a:pt x="1803" y="2262"/>
                </a:lnTo>
                <a:lnTo>
                  <a:pt x="1814" y="2251"/>
                </a:lnTo>
                <a:lnTo>
                  <a:pt x="1830" y="2243"/>
                </a:lnTo>
                <a:lnTo>
                  <a:pt x="1848" y="2240"/>
                </a:lnTo>
                <a:close/>
                <a:moveTo>
                  <a:pt x="1071" y="2240"/>
                </a:moveTo>
                <a:lnTo>
                  <a:pt x="1085" y="2241"/>
                </a:lnTo>
                <a:lnTo>
                  <a:pt x="1100" y="2247"/>
                </a:lnTo>
                <a:lnTo>
                  <a:pt x="1111" y="2256"/>
                </a:lnTo>
                <a:lnTo>
                  <a:pt x="1121" y="2268"/>
                </a:lnTo>
                <a:lnTo>
                  <a:pt x="1127" y="2281"/>
                </a:lnTo>
                <a:lnTo>
                  <a:pt x="1128" y="2296"/>
                </a:lnTo>
                <a:lnTo>
                  <a:pt x="1126" y="2311"/>
                </a:lnTo>
                <a:lnTo>
                  <a:pt x="1121" y="2324"/>
                </a:lnTo>
                <a:lnTo>
                  <a:pt x="1112" y="2335"/>
                </a:lnTo>
                <a:lnTo>
                  <a:pt x="1100" y="2344"/>
                </a:lnTo>
                <a:lnTo>
                  <a:pt x="1086" y="2350"/>
                </a:lnTo>
                <a:lnTo>
                  <a:pt x="1072" y="2352"/>
                </a:lnTo>
                <a:lnTo>
                  <a:pt x="1057" y="2350"/>
                </a:lnTo>
                <a:lnTo>
                  <a:pt x="1044" y="2344"/>
                </a:lnTo>
                <a:lnTo>
                  <a:pt x="1033" y="2335"/>
                </a:lnTo>
                <a:lnTo>
                  <a:pt x="1024" y="2324"/>
                </a:lnTo>
                <a:lnTo>
                  <a:pt x="1017" y="2307"/>
                </a:lnTo>
                <a:lnTo>
                  <a:pt x="1016" y="2290"/>
                </a:lnTo>
                <a:lnTo>
                  <a:pt x="1020" y="2274"/>
                </a:lnTo>
                <a:lnTo>
                  <a:pt x="1030" y="2259"/>
                </a:lnTo>
                <a:lnTo>
                  <a:pt x="1044" y="2248"/>
                </a:lnTo>
                <a:lnTo>
                  <a:pt x="1057" y="2242"/>
                </a:lnTo>
                <a:lnTo>
                  <a:pt x="1071" y="2240"/>
                </a:lnTo>
                <a:close/>
                <a:moveTo>
                  <a:pt x="1622" y="2181"/>
                </a:moveTo>
                <a:lnTo>
                  <a:pt x="1637" y="2182"/>
                </a:lnTo>
                <a:lnTo>
                  <a:pt x="1652" y="2187"/>
                </a:lnTo>
                <a:lnTo>
                  <a:pt x="1663" y="2196"/>
                </a:lnTo>
                <a:lnTo>
                  <a:pt x="1672" y="2208"/>
                </a:lnTo>
                <a:lnTo>
                  <a:pt x="1678" y="2222"/>
                </a:lnTo>
                <a:lnTo>
                  <a:pt x="1680" y="2237"/>
                </a:lnTo>
                <a:lnTo>
                  <a:pt x="1678" y="2250"/>
                </a:lnTo>
                <a:lnTo>
                  <a:pt x="1672" y="2265"/>
                </a:lnTo>
                <a:lnTo>
                  <a:pt x="1663" y="2276"/>
                </a:lnTo>
                <a:lnTo>
                  <a:pt x="1652" y="2285"/>
                </a:lnTo>
                <a:lnTo>
                  <a:pt x="1639" y="2290"/>
                </a:lnTo>
                <a:lnTo>
                  <a:pt x="1624" y="2293"/>
                </a:lnTo>
                <a:lnTo>
                  <a:pt x="1609" y="2290"/>
                </a:lnTo>
                <a:lnTo>
                  <a:pt x="1596" y="2285"/>
                </a:lnTo>
                <a:lnTo>
                  <a:pt x="1583" y="2274"/>
                </a:lnTo>
                <a:lnTo>
                  <a:pt x="1572" y="2259"/>
                </a:lnTo>
                <a:lnTo>
                  <a:pt x="1568" y="2242"/>
                </a:lnTo>
                <a:lnTo>
                  <a:pt x="1569" y="2224"/>
                </a:lnTo>
                <a:lnTo>
                  <a:pt x="1576" y="2209"/>
                </a:lnTo>
                <a:lnTo>
                  <a:pt x="1584" y="2196"/>
                </a:lnTo>
                <a:lnTo>
                  <a:pt x="1595" y="2188"/>
                </a:lnTo>
                <a:lnTo>
                  <a:pt x="1607" y="2183"/>
                </a:lnTo>
                <a:lnTo>
                  <a:pt x="1622" y="2181"/>
                </a:lnTo>
                <a:close/>
                <a:moveTo>
                  <a:pt x="2071" y="2180"/>
                </a:moveTo>
                <a:lnTo>
                  <a:pt x="2085" y="2182"/>
                </a:lnTo>
                <a:lnTo>
                  <a:pt x="2099" y="2187"/>
                </a:lnTo>
                <a:lnTo>
                  <a:pt x="2111" y="2196"/>
                </a:lnTo>
                <a:lnTo>
                  <a:pt x="2120" y="2208"/>
                </a:lnTo>
                <a:lnTo>
                  <a:pt x="2127" y="2224"/>
                </a:lnTo>
                <a:lnTo>
                  <a:pt x="2128" y="2242"/>
                </a:lnTo>
                <a:lnTo>
                  <a:pt x="2124" y="2259"/>
                </a:lnTo>
                <a:lnTo>
                  <a:pt x="2113" y="2274"/>
                </a:lnTo>
                <a:lnTo>
                  <a:pt x="2100" y="2285"/>
                </a:lnTo>
                <a:lnTo>
                  <a:pt x="2083" y="2290"/>
                </a:lnTo>
                <a:lnTo>
                  <a:pt x="2066" y="2292"/>
                </a:lnTo>
                <a:lnTo>
                  <a:pt x="2050" y="2287"/>
                </a:lnTo>
                <a:lnTo>
                  <a:pt x="2035" y="2278"/>
                </a:lnTo>
                <a:lnTo>
                  <a:pt x="2024" y="2264"/>
                </a:lnTo>
                <a:lnTo>
                  <a:pt x="2018" y="2250"/>
                </a:lnTo>
                <a:lnTo>
                  <a:pt x="2016" y="2236"/>
                </a:lnTo>
                <a:lnTo>
                  <a:pt x="2018" y="2221"/>
                </a:lnTo>
                <a:lnTo>
                  <a:pt x="2024" y="2208"/>
                </a:lnTo>
                <a:lnTo>
                  <a:pt x="2033" y="2196"/>
                </a:lnTo>
                <a:lnTo>
                  <a:pt x="2044" y="2187"/>
                </a:lnTo>
                <a:lnTo>
                  <a:pt x="2056" y="2182"/>
                </a:lnTo>
                <a:lnTo>
                  <a:pt x="2071" y="2180"/>
                </a:lnTo>
                <a:close/>
                <a:moveTo>
                  <a:pt x="536" y="2055"/>
                </a:moveTo>
                <a:lnTo>
                  <a:pt x="553" y="2060"/>
                </a:lnTo>
                <a:lnTo>
                  <a:pt x="568" y="2069"/>
                </a:lnTo>
                <a:lnTo>
                  <a:pt x="578" y="2082"/>
                </a:lnTo>
                <a:lnTo>
                  <a:pt x="585" y="2099"/>
                </a:lnTo>
                <a:lnTo>
                  <a:pt x="586" y="2117"/>
                </a:lnTo>
                <a:lnTo>
                  <a:pt x="580" y="2134"/>
                </a:lnTo>
                <a:lnTo>
                  <a:pt x="571" y="2148"/>
                </a:lnTo>
                <a:lnTo>
                  <a:pt x="558" y="2158"/>
                </a:lnTo>
                <a:lnTo>
                  <a:pt x="541" y="2165"/>
                </a:lnTo>
                <a:lnTo>
                  <a:pt x="523" y="2166"/>
                </a:lnTo>
                <a:lnTo>
                  <a:pt x="506" y="2160"/>
                </a:lnTo>
                <a:lnTo>
                  <a:pt x="492" y="2152"/>
                </a:lnTo>
                <a:lnTo>
                  <a:pt x="482" y="2138"/>
                </a:lnTo>
                <a:lnTo>
                  <a:pt x="475" y="2121"/>
                </a:lnTo>
                <a:lnTo>
                  <a:pt x="474" y="2103"/>
                </a:lnTo>
                <a:lnTo>
                  <a:pt x="479" y="2087"/>
                </a:lnTo>
                <a:lnTo>
                  <a:pt x="488" y="2072"/>
                </a:lnTo>
                <a:lnTo>
                  <a:pt x="502" y="2062"/>
                </a:lnTo>
                <a:lnTo>
                  <a:pt x="519" y="2055"/>
                </a:lnTo>
                <a:lnTo>
                  <a:pt x="536" y="2055"/>
                </a:lnTo>
                <a:close/>
                <a:moveTo>
                  <a:pt x="3166" y="2054"/>
                </a:moveTo>
                <a:lnTo>
                  <a:pt x="3177" y="2055"/>
                </a:lnTo>
                <a:lnTo>
                  <a:pt x="3194" y="2062"/>
                </a:lnTo>
                <a:lnTo>
                  <a:pt x="3208" y="2072"/>
                </a:lnTo>
                <a:lnTo>
                  <a:pt x="3217" y="2087"/>
                </a:lnTo>
                <a:lnTo>
                  <a:pt x="3222" y="2103"/>
                </a:lnTo>
                <a:lnTo>
                  <a:pt x="3221" y="2121"/>
                </a:lnTo>
                <a:lnTo>
                  <a:pt x="3214" y="2138"/>
                </a:lnTo>
                <a:lnTo>
                  <a:pt x="3204" y="2152"/>
                </a:lnTo>
                <a:lnTo>
                  <a:pt x="3190" y="2160"/>
                </a:lnTo>
                <a:lnTo>
                  <a:pt x="3173" y="2166"/>
                </a:lnTo>
                <a:lnTo>
                  <a:pt x="3155" y="2165"/>
                </a:lnTo>
                <a:lnTo>
                  <a:pt x="3138" y="2158"/>
                </a:lnTo>
                <a:lnTo>
                  <a:pt x="3125" y="2148"/>
                </a:lnTo>
                <a:lnTo>
                  <a:pt x="3116" y="2134"/>
                </a:lnTo>
                <a:lnTo>
                  <a:pt x="3110" y="2117"/>
                </a:lnTo>
                <a:lnTo>
                  <a:pt x="3111" y="2099"/>
                </a:lnTo>
                <a:lnTo>
                  <a:pt x="3117" y="2083"/>
                </a:lnTo>
                <a:lnTo>
                  <a:pt x="3127" y="2071"/>
                </a:lnTo>
                <a:lnTo>
                  <a:pt x="3139" y="2061"/>
                </a:lnTo>
                <a:lnTo>
                  <a:pt x="3155" y="2055"/>
                </a:lnTo>
                <a:lnTo>
                  <a:pt x="3166" y="2054"/>
                </a:lnTo>
                <a:close/>
                <a:moveTo>
                  <a:pt x="2713" y="2024"/>
                </a:moveTo>
                <a:lnTo>
                  <a:pt x="2720" y="2024"/>
                </a:lnTo>
                <a:lnTo>
                  <a:pt x="2728" y="2026"/>
                </a:lnTo>
                <a:lnTo>
                  <a:pt x="2744" y="2033"/>
                </a:lnTo>
                <a:lnTo>
                  <a:pt x="2757" y="2045"/>
                </a:lnTo>
                <a:lnTo>
                  <a:pt x="2765" y="2060"/>
                </a:lnTo>
                <a:lnTo>
                  <a:pt x="2770" y="2076"/>
                </a:lnTo>
                <a:lnTo>
                  <a:pt x="2768" y="2094"/>
                </a:lnTo>
                <a:lnTo>
                  <a:pt x="2761" y="2111"/>
                </a:lnTo>
                <a:lnTo>
                  <a:pt x="2748" y="2124"/>
                </a:lnTo>
                <a:lnTo>
                  <a:pt x="2734" y="2132"/>
                </a:lnTo>
                <a:lnTo>
                  <a:pt x="2717" y="2136"/>
                </a:lnTo>
                <a:lnTo>
                  <a:pt x="2699" y="2134"/>
                </a:lnTo>
                <a:lnTo>
                  <a:pt x="2682" y="2127"/>
                </a:lnTo>
                <a:lnTo>
                  <a:pt x="2670" y="2115"/>
                </a:lnTo>
                <a:lnTo>
                  <a:pt x="2661" y="2100"/>
                </a:lnTo>
                <a:lnTo>
                  <a:pt x="2658" y="2083"/>
                </a:lnTo>
                <a:lnTo>
                  <a:pt x="2659" y="2065"/>
                </a:lnTo>
                <a:lnTo>
                  <a:pt x="2667" y="2048"/>
                </a:lnTo>
                <a:lnTo>
                  <a:pt x="2679" y="2036"/>
                </a:lnTo>
                <a:lnTo>
                  <a:pt x="2695" y="2027"/>
                </a:lnTo>
                <a:lnTo>
                  <a:pt x="2713" y="2024"/>
                </a:lnTo>
                <a:close/>
                <a:moveTo>
                  <a:pt x="979" y="2024"/>
                </a:moveTo>
                <a:lnTo>
                  <a:pt x="983" y="2024"/>
                </a:lnTo>
                <a:lnTo>
                  <a:pt x="1001" y="2027"/>
                </a:lnTo>
                <a:lnTo>
                  <a:pt x="1017" y="2036"/>
                </a:lnTo>
                <a:lnTo>
                  <a:pt x="1029" y="2048"/>
                </a:lnTo>
                <a:lnTo>
                  <a:pt x="1037" y="2065"/>
                </a:lnTo>
                <a:lnTo>
                  <a:pt x="1038" y="2083"/>
                </a:lnTo>
                <a:lnTo>
                  <a:pt x="1035" y="2100"/>
                </a:lnTo>
                <a:lnTo>
                  <a:pt x="1026" y="2115"/>
                </a:lnTo>
                <a:lnTo>
                  <a:pt x="1014" y="2127"/>
                </a:lnTo>
                <a:lnTo>
                  <a:pt x="997" y="2134"/>
                </a:lnTo>
                <a:lnTo>
                  <a:pt x="979" y="2136"/>
                </a:lnTo>
                <a:lnTo>
                  <a:pt x="962" y="2132"/>
                </a:lnTo>
                <a:lnTo>
                  <a:pt x="948" y="2124"/>
                </a:lnTo>
                <a:lnTo>
                  <a:pt x="935" y="2111"/>
                </a:lnTo>
                <a:lnTo>
                  <a:pt x="928" y="2094"/>
                </a:lnTo>
                <a:lnTo>
                  <a:pt x="926" y="2076"/>
                </a:lnTo>
                <a:lnTo>
                  <a:pt x="931" y="2060"/>
                </a:lnTo>
                <a:lnTo>
                  <a:pt x="939" y="2045"/>
                </a:lnTo>
                <a:lnTo>
                  <a:pt x="952" y="2033"/>
                </a:lnTo>
                <a:lnTo>
                  <a:pt x="968" y="2026"/>
                </a:lnTo>
                <a:lnTo>
                  <a:pt x="973" y="2025"/>
                </a:lnTo>
                <a:lnTo>
                  <a:pt x="979" y="2024"/>
                </a:lnTo>
                <a:close/>
                <a:moveTo>
                  <a:pt x="2233" y="2016"/>
                </a:moveTo>
                <a:lnTo>
                  <a:pt x="2249" y="2018"/>
                </a:lnTo>
                <a:lnTo>
                  <a:pt x="2264" y="2024"/>
                </a:lnTo>
                <a:lnTo>
                  <a:pt x="2278" y="2035"/>
                </a:lnTo>
                <a:lnTo>
                  <a:pt x="2287" y="2050"/>
                </a:lnTo>
                <a:lnTo>
                  <a:pt x="2292" y="2066"/>
                </a:lnTo>
                <a:lnTo>
                  <a:pt x="2290" y="2083"/>
                </a:lnTo>
                <a:lnTo>
                  <a:pt x="2285" y="2100"/>
                </a:lnTo>
                <a:lnTo>
                  <a:pt x="2274" y="2113"/>
                </a:lnTo>
                <a:lnTo>
                  <a:pt x="2259" y="2124"/>
                </a:lnTo>
                <a:lnTo>
                  <a:pt x="2242" y="2128"/>
                </a:lnTo>
                <a:lnTo>
                  <a:pt x="2224" y="2127"/>
                </a:lnTo>
                <a:lnTo>
                  <a:pt x="2208" y="2120"/>
                </a:lnTo>
                <a:lnTo>
                  <a:pt x="2194" y="2109"/>
                </a:lnTo>
                <a:lnTo>
                  <a:pt x="2185" y="2094"/>
                </a:lnTo>
                <a:lnTo>
                  <a:pt x="2181" y="2078"/>
                </a:lnTo>
                <a:lnTo>
                  <a:pt x="2181" y="2061"/>
                </a:lnTo>
                <a:lnTo>
                  <a:pt x="2187" y="2044"/>
                </a:lnTo>
                <a:lnTo>
                  <a:pt x="2196" y="2033"/>
                </a:lnTo>
                <a:lnTo>
                  <a:pt x="2206" y="2024"/>
                </a:lnTo>
                <a:lnTo>
                  <a:pt x="2220" y="2018"/>
                </a:lnTo>
                <a:lnTo>
                  <a:pt x="2233" y="2016"/>
                </a:lnTo>
                <a:close/>
                <a:moveTo>
                  <a:pt x="1458" y="2016"/>
                </a:moveTo>
                <a:lnTo>
                  <a:pt x="1474" y="2018"/>
                </a:lnTo>
                <a:lnTo>
                  <a:pt x="1487" y="2023"/>
                </a:lnTo>
                <a:lnTo>
                  <a:pt x="1500" y="2032"/>
                </a:lnTo>
                <a:lnTo>
                  <a:pt x="1509" y="2044"/>
                </a:lnTo>
                <a:lnTo>
                  <a:pt x="1515" y="2061"/>
                </a:lnTo>
                <a:lnTo>
                  <a:pt x="1515" y="2078"/>
                </a:lnTo>
                <a:lnTo>
                  <a:pt x="1511" y="2094"/>
                </a:lnTo>
                <a:lnTo>
                  <a:pt x="1502" y="2109"/>
                </a:lnTo>
                <a:lnTo>
                  <a:pt x="1488" y="2120"/>
                </a:lnTo>
                <a:lnTo>
                  <a:pt x="1472" y="2127"/>
                </a:lnTo>
                <a:lnTo>
                  <a:pt x="1454" y="2128"/>
                </a:lnTo>
                <a:lnTo>
                  <a:pt x="1437" y="2124"/>
                </a:lnTo>
                <a:lnTo>
                  <a:pt x="1422" y="2113"/>
                </a:lnTo>
                <a:lnTo>
                  <a:pt x="1411" y="2100"/>
                </a:lnTo>
                <a:lnTo>
                  <a:pt x="1406" y="2087"/>
                </a:lnTo>
                <a:lnTo>
                  <a:pt x="1403" y="2072"/>
                </a:lnTo>
                <a:lnTo>
                  <a:pt x="1406" y="2057"/>
                </a:lnTo>
                <a:lnTo>
                  <a:pt x="1411" y="2044"/>
                </a:lnTo>
                <a:lnTo>
                  <a:pt x="1420" y="2033"/>
                </a:lnTo>
                <a:lnTo>
                  <a:pt x="1432" y="2024"/>
                </a:lnTo>
                <a:lnTo>
                  <a:pt x="1445" y="2018"/>
                </a:lnTo>
                <a:lnTo>
                  <a:pt x="1458" y="2016"/>
                </a:lnTo>
                <a:close/>
                <a:moveTo>
                  <a:pt x="3192" y="1792"/>
                </a:moveTo>
                <a:lnTo>
                  <a:pt x="3210" y="1795"/>
                </a:lnTo>
                <a:lnTo>
                  <a:pt x="3226" y="1803"/>
                </a:lnTo>
                <a:lnTo>
                  <a:pt x="3237" y="1814"/>
                </a:lnTo>
                <a:lnTo>
                  <a:pt x="3245" y="1830"/>
                </a:lnTo>
                <a:lnTo>
                  <a:pt x="3248" y="1848"/>
                </a:lnTo>
                <a:lnTo>
                  <a:pt x="3245" y="1866"/>
                </a:lnTo>
                <a:lnTo>
                  <a:pt x="3237" y="1882"/>
                </a:lnTo>
                <a:lnTo>
                  <a:pt x="3226" y="1893"/>
                </a:lnTo>
                <a:lnTo>
                  <a:pt x="3210" y="1901"/>
                </a:lnTo>
                <a:lnTo>
                  <a:pt x="3192" y="1904"/>
                </a:lnTo>
                <a:lnTo>
                  <a:pt x="3174" y="1901"/>
                </a:lnTo>
                <a:lnTo>
                  <a:pt x="3158" y="1893"/>
                </a:lnTo>
                <a:lnTo>
                  <a:pt x="3147" y="1882"/>
                </a:lnTo>
                <a:lnTo>
                  <a:pt x="3139" y="1866"/>
                </a:lnTo>
                <a:lnTo>
                  <a:pt x="3136" y="1848"/>
                </a:lnTo>
                <a:lnTo>
                  <a:pt x="3139" y="1830"/>
                </a:lnTo>
                <a:lnTo>
                  <a:pt x="3147" y="1814"/>
                </a:lnTo>
                <a:lnTo>
                  <a:pt x="3158" y="1803"/>
                </a:lnTo>
                <a:lnTo>
                  <a:pt x="3174" y="1795"/>
                </a:lnTo>
                <a:lnTo>
                  <a:pt x="3192" y="1792"/>
                </a:lnTo>
                <a:close/>
                <a:moveTo>
                  <a:pt x="2744" y="1792"/>
                </a:moveTo>
                <a:lnTo>
                  <a:pt x="2762" y="1795"/>
                </a:lnTo>
                <a:lnTo>
                  <a:pt x="2778" y="1803"/>
                </a:lnTo>
                <a:lnTo>
                  <a:pt x="2789" y="1814"/>
                </a:lnTo>
                <a:lnTo>
                  <a:pt x="2797" y="1830"/>
                </a:lnTo>
                <a:lnTo>
                  <a:pt x="2800" y="1848"/>
                </a:lnTo>
                <a:lnTo>
                  <a:pt x="2797" y="1866"/>
                </a:lnTo>
                <a:lnTo>
                  <a:pt x="2789" y="1882"/>
                </a:lnTo>
                <a:lnTo>
                  <a:pt x="2778" y="1893"/>
                </a:lnTo>
                <a:lnTo>
                  <a:pt x="2762" y="1901"/>
                </a:lnTo>
                <a:lnTo>
                  <a:pt x="2744" y="1904"/>
                </a:lnTo>
                <a:lnTo>
                  <a:pt x="2726" y="1901"/>
                </a:lnTo>
                <a:lnTo>
                  <a:pt x="2710" y="1893"/>
                </a:lnTo>
                <a:lnTo>
                  <a:pt x="2699" y="1882"/>
                </a:lnTo>
                <a:lnTo>
                  <a:pt x="2691" y="1866"/>
                </a:lnTo>
                <a:lnTo>
                  <a:pt x="2688" y="1848"/>
                </a:lnTo>
                <a:lnTo>
                  <a:pt x="2691" y="1830"/>
                </a:lnTo>
                <a:lnTo>
                  <a:pt x="2699" y="1814"/>
                </a:lnTo>
                <a:lnTo>
                  <a:pt x="2710" y="1803"/>
                </a:lnTo>
                <a:lnTo>
                  <a:pt x="2726" y="1795"/>
                </a:lnTo>
                <a:lnTo>
                  <a:pt x="2744" y="1792"/>
                </a:lnTo>
                <a:close/>
                <a:moveTo>
                  <a:pt x="2296" y="1792"/>
                </a:moveTo>
                <a:lnTo>
                  <a:pt x="2314" y="1795"/>
                </a:lnTo>
                <a:lnTo>
                  <a:pt x="2330" y="1803"/>
                </a:lnTo>
                <a:lnTo>
                  <a:pt x="2341" y="1814"/>
                </a:lnTo>
                <a:lnTo>
                  <a:pt x="2349" y="1830"/>
                </a:lnTo>
                <a:lnTo>
                  <a:pt x="2352" y="1848"/>
                </a:lnTo>
                <a:lnTo>
                  <a:pt x="2349" y="1866"/>
                </a:lnTo>
                <a:lnTo>
                  <a:pt x="2341" y="1882"/>
                </a:lnTo>
                <a:lnTo>
                  <a:pt x="2330" y="1893"/>
                </a:lnTo>
                <a:lnTo>
                  <a:pt x="2314" y="1901"/>
                </a:lnTo>
                <a:lnTo>
                  <a:pt x="2296" y="1904"/>
                </a:lnTo>
                <a:lnTo>
                  <a:pt x="2278" y="1901"/>
                </a:lnTo>
                <a:lnTo>
                  <a:pt x="2262" y="1893"/>
                </a:lnTo>
                <a:lnTo>
                  <a:pt x="2251" y="1882"/>
                </a:lnTo>
                <a:lnTo>
                  <a:pt x="2243" y="1866"/>
                </a:lnTo>
                <a:lnTo>
                  <a:pt x="2240" y="1848"/>
                </a:lnTo>
                <a:lnTo>
                  <a:pt x="2243" y="1830"/>
                </a:lnTo>
                <a:lnTo>
                  <a:pt x="2251" y="1814"/>
                </a:lnTo>
                <a:lnTo>
                  <a:pt x="2262" y="1803"/>
                </a:lnTo>
                <a:lnTo>
                  <a:pt x="2278" y="1795"/>
                </a:lnTo>
                <a:lnTo>
                  <a:pt x="2296" y="1792"/>
                </a:lnTo>
                <a:close/>
                <a:moveTo>
                  <a:pt x="1400" y="1792"/>
                </a:moveTo>
                <a:lnTo>
                  <a:pt x="1418" y="1795"/>
                </a:lnTo>
                <a:lnTo>
                  <a:pt x="1434" y="1803"/>
                </a:lnTo>
                <a:lnTo>
                  <a:pt x="1445" y="1814"/>
                </a:lnTo>
                <a:lnTo>
                  <a:pt x="1453" y="1830"/>
                </a:lnTo>
                <a:lnTo>
                  <a:pt x="1456" y="1848"/>
                </a:lnTo>
                <a:lnTo>
                  <a:pt x="1453" y="1866"/>
                </a:lnTo>
                <a:lnTo>
                  <a:pt x="1445" y="1882"/>
                </a:lnTo>
                <a:lnTo>
                  <a:pt x="1434" y="1893"/>
                </a:lnTo>
                <a:lnTo>
                  <a:pt x="1418" y="1901"/>
                </a:lnTo>
                <a:lnTo>
                  <a:pt x="1400" y="1904"/>
                </a:lnTo>
                <a:lnTo>
                  <a:pt x="1382" y="1901"/>
                </a:lnTo>
                <a:lnTo>
                  <a:pt x="1366" y="1893"/>
                </a:lnTo>
                <a:lnTo>
                  <a:pt x="1355" y="1882"/>
                </a:lnTo>
                <a:lnTo>
                  <a:pt x="1347" y="1866"/>
                </a:lnTo>
                <a:lnTo>
                  <a:pt x="1344" y="1848"/>
                </a:lnTo>
                <a:lnTo>
                  <a:pt x="1347" y="1830"/>
                </a:lnTo>
                <a:lnTo>
                  <a:pt x="1355" y="1814"/>
                </a:lnTo>
                <a:lnTo>
                  <a:pt x="1366" y="1803"/>
                </a:lnTo>
                <a:lnTo>
                  <a:pt x="1382" y="1795"/>
                </a:lnTo>
                <a:lnTo>
                  <a:pt x="1400" y="1792"/>
                </a:lnTo>
                <a:close/>
                <a:moveTo>
                  <a:pt x="952" y="1792"/>
                </a:moveTo>
                <a:lnTo>
                  <a:pt x="970" y="1795"/>
                </a:lnTo>
                <a:lnTo>
                  <a:pt x="986" y="1803"/>
                </a:lnTo>
                <a:lnTo>
                  <a:pt x="997" y="1814"/>
                </a:lnTo>
                <a:lnTo>
                  <a:pt x="1005" y="1830"/>
                </a:lnTo>
                <a:lnTo>
                  <a:pt x="1008" y="1848"/>
                </a:lnTo>
                <a:lnTo>
                  <a:pt x="1005" y="1866"/>
                </a:lnTo>
                <a:lnTo>
                  <a:pt x="997" y="1882"/>
                </a:lnTo>
                <a:lnTo>
                  <a:pt x="986" y="1893"/>
                </a:lnTo>
                <a:lnTo>
                  <a:pt x="970" y="1901"/>
                </a:lnTo>
                <a:lnTo>
                  <a:pt x="952" y="1904"/>
                </a:lnTo>
                <a:lnTo>
                  <a:pt x="934" y="1901"/>
                </a:lnTo>
                <a:lnTo>
                  <a:pt x="918" y="1893"/>
                </a:lnTo>
                <a:lnTo>
                  <a:pt x="907" y="1882"/>
                </a:lnTo>
                <a:lnTo>
                  <a:pt x="899" y="1866"/>
                </a:lnTo>
                <a:lnTo>
                  <a:pt x="896" y="1848"/>
                </a:lnTo>
                <a:lnTo>
                  <a:pt x="899" y="1830"/>
                </a:lnTo>
                <a:lnTo>
                  <a:pt x="907" y="1814"/>
                </a:lnTo>
                <a:lnTo>
                  <a:pt x="918" y="1803"/>
                </a:lnTo>
                <a:lnTo>
                  <a:pt x="934" y="1795"/>
                </a:lnTo>
                <a:lnTo>
                  <a:pt x="952" y="1792"/>
                </a:lnTo>
                <a:close/>
                <a:moveTo>
                  <a:pt x="504" y="1792"/>
                </a:moveTo>
                <a:lnTo>
                  <a:pt x="522" y="1795"/>
                </a:lnTo>
                <a:lnTo>
                  <a:pt x="538" y="1803"/>
                </a:lnTo>
                <a:lnTo>
                  <a:pt x="549" y="1814"/>
                </a:lnTo>
                <a:lnTo>
                  <a:pt x="557" y="1830"/>
                </a:lnTo>
                <a:lnTo>
                  <a:pt x="560" y="1848"/>
                </a:lnTo>
                <a:lnTo>
                  <a:pt x="557" y="1866"/>
                </a:lnTo>
                <a:lnTo>
                  <a:pt x="549" y="1882"/>
                </a:lnTo>
                <a:lnTo>
                  <a:pt x="538" y="1893"/>
                </a:lnTo>
                <a:lnTo>
                  <a:pt x="522" y="1901"/>
                </a:lnTo>
                <a:lnTo>
                  <a:pt x="504" y="1904"/>
                </a:lnTo>
                <a:lnTo>
                  <a:pt x="486" y="1901"/>
                </a:lnTo>
                <a:lnTo>
                  <a:pt x="470" y="1893"/>
                </a:lnTo>
                <a:lnTo>
                  <a:pt x="459" y="1882"/>
                </a:lnTo>
                <a:lnTo>
                  <a:pt x="451" y="1866"/>
                </a:lnTo>
                <a:lnTo>
                  <a:pt x="448" y="1848"/>
                </a:lnTo>
                <a:lnTo>
                  <a:pt x="451" y="1830"/>
                </a:lnTo>
                <a:lnTo>
                  <a:pt x="459" y="1814"/>
                </a:lnTo>
                <a:lnTo>
                  <a:pt x="470" y="1803"/>
                </a:lnTo>
                <a:lnTo>
                  <a:pt x="486" y="1795"/>
                </a:lnTo>
                <a:lnTo>
                  <a:pt x="504" y="1792"/>
                </a:lnTo>
                <a:close/>
                <a:moveTo>
                  <a:pt x="1457" y="1568"/>
                </a:moveTo>
                <a:lnTo>
                  <a:pt x="1473" y="1569"/>
                </a:lnTo>
                <a:lnTo>
                  <a:pt x="1488" y="1576"/>
                </a:lnTo>
                <a:lnTo>
                  <a:pt x="1502" y="1587"/>
                </a:lnTo>
                <a:lnTo>
                  <a:pt x="1511" y="1602"/>
                </a:lnTo>
                <a:lnTo>
                  <a:pt x="1515" y="1618"/>
                </a:lnTo>
                <a:lnTo>
                  <a:pt x="1515" y="1635"/>
                </a:lnTo>
                <a:lnTo>
                  <a:pt x="1509" y="1652"/>
                </a:lnTo>
                <a:lnTo>
                  <a:pt x="1500" y="1663"/>
                </a:lnTo>
                <a:lnTo>
                  <a:pt x="1488" y="1672"/>
                </a:lnTo>
                <a:lnTo>
                  <a:pt x="1474" y="1678"/>
                </a:lnTo>
                <a:lnTo>
                  <a:pt x="1459" y="1680"/>
                </a:lnTo>
                <a:lnTo>
                  <a:pt x="1446" y="1678"/>
                </a:lnTo>
                <a:lnTo>
                  <a:pt x="1432" y="1672"/>
                </a:lnTo>
                <a:lnTo>
                  <a:pt x="1420" y="1663"/>
                </a:lnTo>
                <a:lnTo>
                  <a:pt x="1411" y="1652"/>
                </a:lnTo>
                <a:lnTo>
                  <a:pt x="1406" y="1639"/>
                </a:lnTo>
                <a:lnTo>
                  <a:pt x="1403" y="1624"/>
                </a:lnTo>
                <a:lnTo>
                  <a:pt x="1406" y="1609"/>
                </a:lnTo>
                <a:lnTo>
                  <a:pt x="1411" y="1596"/>
                </a:lnTo>
                <a:lnTo>
                  <a:pt x="1420" y="1585"/>
                </a:lnTo>
                <a:lnTo>
                  <a:pt x="1431" y="1576"/>
                </a:lnTo>
                <a:lnTo>
                  <a:pt x="1444" y="1570"/>
                </a:lnTo>
                <a:lnTo>
                  <a:pt x="1457" y="1568"/>
                </a:lnTo>
                <a:close/>
                <a:moveTo>
                  <a:pt x="2710" y="1560"/>
                </a:moveTo>
                <a:lnTo>
                  <a:pt x="2714" y="1560"/>
                </a:lnTo>
                <a:lnTo>
                  <a:pt x="2732" y="1564"/>
                </a:lnTo>
                <a:lnTo>
                  <a:pt x="2747" y="1571"/>
                </a:lnTo>
                <a:lnTo>
                  <a:pt x="2760" y="1585"/>
                </a:lnTo>
                <a:lnTo>
                  <a:pt x="2768" y="1602"/>
                </a:lnTo>
                <a:lnTo>
                  <a:pt x="2770" y="1620"/>
                </a:lnTo>
                <a:lnTo>
                  <a:pt x="2765" y="1636"/>
                </a:lnTo>
                <a:lnTo>
                  <a:pt x="2757" y="1651"/>
                </a:lnTo>
                <a:lnTo>
                  <a:pt x="2744" y="1663"/>
                </a:lnTo>
                <a:lnTo>
                  <a:pt x="2728" y="1670"/>
                </a:lnTo>
                <a:lnTo>
                  <a:pt x="2710" y="1672"/>
                </a:lnTo>
                <a:lnTo>
                  <a:pt x="2694" y="1669"/>
                </a:lnTo>
                <a:lnTo>
                  <a:pt x="2678" y="1660"/>
                </a:lnTo>
                <a:lnTo>
                  <a:pt x="2667" y="1648"/>
                </a:lnTo>
                <a:lnTo>
                  <a:pt x="2659" y="1631"/>
                </a:lnTo>
                <a:lnTo>
                  <a:pt x="2658" y="1613"/>
                </a:lnTo>
                <a:lnTo>
                  <a:pt x="2661" y="1596"/>
                </a:lnTo>
                <a:lnTo>
                  <a:pt x="2670" y="1581"/>
                </a:lnTo>
                <a:lnTo>
                  <a:pt x="2682" y="1569"/>
                </a:lnTo>
                <a:lnTo>
                  <a:pt x="2699" y="1562"/>
                </a:lnTo>
                <a:lnTo>
                  <a:pt x="2705" y="1561"/>
                </a:lnTo>
                <a:lnTo>
                  <a:pt x="2710" y="1560"/>
                </a:lnTo>
                <a:close/>
                <a:moveTo>
                  <a:pt x="982" y="1560"/>
                </a:moveTo>
                <a:lnTo>
                  <a:pt x="989" y="1560"/>
                </a:lnTo>
                <a:lnTo>
                  <a:pt x="997" y="1562"/>
                </a:lnTo>
                <a:lnTo>
                  <a:pt x="1014" y="1569"/>
                </a:lnTo>
                <a:lnTo>
                  <a:pt x="1026" y="1581"/>
                </a:lnTo>
                <a:lnTo>
                  <a:pt x="1035" y="1596"/>
                </a:lnTo>
                <a:lnTo>
                  <a:pt x="1038" y="1613"/>
                </a:lnTo>
                <a:lnTo>
                  <a:pt x="1037" y="1631"/>
                </a:lnTo>
                <a:lnTo>
                  <a:pt x="1029" y="1648"/>
                </a:lnTo>
                <a:lnTo>
                  <a:pt x="1018" y="1660"/>
                </a:lnTo>
                <a:lnTo>
                  <a:pt x="1002" y="1669"/>
                </a:lnTo>
                <a:lnTo>
                  <a:pt x="986" y="1672"/>
                </a:lnTo>
                <a:lnTo>
                  <a:pt x="968" y="1670"/>
                </a:lnTo>
                <a:lnTo>
                  <a:pt x="952" y="1663"/>
                </a:lnTo>
                <a:lnTo>
                  <a:pt x="939" y="1651"/>
                </a:lnTo>
                <a:lnTo>
                  <a:pt x="931" y="1636"/>
                </a:lnTo>
                <a:lnTo>
                  <a:pt x="926" y="1620"/>
                </a:lnTo>
                <a:lnTo>
                  <a:pt x="928" y="1602"/>
                </a:lnTo>
                <a:lnTo>
                  <a:pt x="936" y="1585"/>
                </a:lnTo>
                <a:lnTo>
                  <a:pt x="949" y="1571"/>
                </a:lnTo>
                <a:lnTo>
                  <a:pt x="964" y="1564"/>
                </a:lnTo>
                <a:lnTo>
                  <a:pt x="982" y="1560"/>
                </a:lnTo>
                <a:close/>
                <a:moveTo>
                  <a:pt x="3173" y="1530"/>
                </a:moveTo>
                <a:lnTo>
                  <a:pt x="3190" y="1536"/>
                </a:lnTo>
                <a:lnTo>
                  <a:pt x="3204" y="1544"/>
                </a:lnTo>
                <a:lnTo>
                  <a:pt x="3214" y="1558"/>
                </a:lnTo>
                <a:lnTo>
                  <a:pt x="3221" y="1575"/>
                </a:lnTo>
                <a:lnTo>
                  <a:pt x="3222" y="1593"/>
                </a:lnTo>
                <a:lnTo>
                  <a:pt x="3217" y="1609"/>
                </a:lnTo>
                <a:lnTo>
                  <a:pt x="3208" y="1624"/>
                </a:lnTo>
                <a:lnTo>
                  <a:pt x="3194" y="1634"/>
                </a:lnTo>
                <a:lnTo>
                  <a:pt x="3177" y="1641"/>
                </a:lnTo>
                <a:lnTo>
                  <a:pt x="3160" y="1641"/>
                </a:lnTo>
                <a:lnTo>
                  <a:pt x="3143" y="1636"/>
                </a:lnTo>
                <a:lnTo>
                  <a:pt x="3128" y="1627"/>
                </a:lnTo>
                <a:lnTo>
                  <a:pt x="3118" y="1614"/>
                </a:lnTo>
                <a:lnTo>
                  <a:pt x="3111" y="1597"/>
                </a:lnTo>
                <a:lnTo>
                  <a:pt x="3110" y="1579"/>
                </a:lnTo>
                <a:lnTo>
                  <a:pt x="3116" y="1562"/>
                </a:lnTo>
                <a:lnTo>
                  <a:pt x="3125" y="1548"/>
                </a:lnTo>
                <a:lnTo>
                  <a:pt x="3138" y="1538"/>
                </a:lnTo>
                <a:lnTo>
                  <a:pt x="3155" y="1531"/>
                </a:lnTo>
                <a:lnTo>
                  <a:pt x="3173" y="1530"/>
                </a:lnTo>
                <a:close/>
                <a:moveTo>
                  <a:pt x="530" y="1530"/>
                </a:moveTo>
                <a:lnTo>
                  <a:pt x="541" y="1531"/>
                </a:lnTo>
                <a:lnTo>
                  <a:pt x="558" y="1538"/>
                </a:lnTo>
                <a:lnTo>
                  <a:pt x="571" y="1548"/>
                </a:lnTo>
                <a:lnTo>
                  <a:pt x="580" y="1562"/>
                </a:lnTo>
                <a:lnTo>
                  <a:pt x="586" y="1579"/>
                </a:lnTo>
                <a:lnTo>
                  <a:pt x="585" y="1597"/>
                </a:lnTo>
                <a:lnTo>
                  <a:pt x="578" y="1614"/>
                </a:lnTo>
                <a:lnTo>
                  <a:pt x="568" y="1627"/>
                </a:lnTo>
                <a:lnTo>
                  <a:pt x="553" y="1636"/>
                </a:lnTo>
                <a:lnTo>
                  <a:pt x="536" y="1641"/>
                </a:lnTo>
                <a:lnTo>
                  <a:pt x="519" y="1641"/>
                </a:lnTo>
                <a:lnTo>
                  <a:pt x="502" y="1634"/>
                </a:lnTo>
                <a:lnTo>
                  <a:pt x="488" y="1624"/>
                </a:lnTo>
                <a:lnTo>
                  <a:pt x="479" y="1609"/>
                </a:lnTo>
                <a:lnTo>
                  <a:pt x="474" y="1593"/>
                </a:lnTo>
                <a:lnTo>
                  <a:pt x="475" y="1575"/>
                </a:lnTo>
                <a:lnTo>
                  <a:pt x="480" y="1559"/>
                </a:lnTo>
                <a:lnTo>
                  <a:pt x="491" y="1546"/>
                </a:lnTo>
                <a:lnTo>
                  <a:pt x="503" y="1537"/>
                </a:lnTo>
                <a:lnTo>
                  <a:pt x="519" y="1531"/>
                </a:lnTo>
                <a:lnTo>
                  <a:pt x="530" y="1530"/>
                </a:lnTo>
                <a:close/>
                <a:moveTo>
                  <a:pt x="1623" y="1404"/>
                </a:moveTo>
                <a:lnTo>
                  <a:pt x="1637" y="1406"/>
                </a:lnTo>
                <a:lnTo>
                  <a:pt x="1651" y="1411"/>
                </a:lnTo>
                <a:lnTo>
                  <a:pt x="1663" y="1420"/>
                </a:lnTo>
                <a:lnTo>
                  <a:pt x="1672" y="1432"/>
                </a:lnTo>
                <a:lnTo>
                  <a:pt x="1678" y="1446"/>
                </a:lnTo>
                <a:lnTo>
                  <a:pt x="1680" y="1459"/>
                </a:lnTo>
                <a:lnTo>
                  <a:pt x="1678" y="1474"/>
                </a:lnTo>
                <a:lnTo>
                  <a:pt x="1672" y="1488"/>
                </a:lnTo>
                <a:lnTo>
                  <a:pt x="1663" y="1500"/>
                </a:lnTo>
                <a:lnTo>
                  <a:pt x="1652" y="1509"/>
                </a:lnTo>
                <a:lnTo>
                  <a:pt x="1639" y="1514"/>
                </a:lnTo>
                <a:lnTo>
                  <a:pt x="1624" y="1516"/>
                </a:lnTo>
                <a:lnTo>
                  <a:pt x="1609" y="1514"/>
                </a:lnTo>
                <a:lnTo>
                  <a:pt x="1596" y="1509"/>
                </a:lnTo>
                <a:lnTo>
                  <a:pt x="1585" y="1500"/>
                </a:lnTo>
                <a:lnTo>
                  <a:pt x="1576" y="1488"/>
                </a:lnTo>
                <a:lnTo>
                  <a:pt x="1569" y="1472"/>
                </a:lnTo>
                <a:lnTo>
                  <a:pt x="1568" y="1454"/>
                </a:lnTo>
                <a:lnTo>
                  <a:pt x="1572" y="1437"/>
                </a:lnTo>
                <a:lnTo>
                  <a:pt x="1583" y="1422"/>
                </a:lnTo>
                <a:lnTo>
                  <a:pt x="1596" y="1411"/>
                </a:lnTo>
                <a:lnTo>
                  <a:pt x="1608" y="1406"/>
                </a:lnTo>
                <a:lnTo>
                  <a:pt x="1623" y="1404"/>
                </a:lnTo>
                <a:close/>
                <a:moveTo>
                  <a:pt x="2623" y="1344"/>
                </a:moveTo>
                <a:lnTo>
                  <a:pt x="2638" y="1346"/>
                </a:lnTo>
                <a:lnTo>
                  <a:pt x="2651" y="1351"/>
                </a:lnTo>
                <a:lnTo>
                  <a:pt x="2663" y="1360"/>
                </a:lnTo>
                <a:lnTo>
                  <a:pt x="2672" y="1372"/>
                </a:lnTo>
                <a:lnTo>
                  <a:pt x="2679" y="1389"/>
                </a:lnTo>
                <a:lnTo>
                  <a:pt x="2679" y="1406"/>
                </a:lnTo>
                <a:lnTo>
                  <a:pt x="2675" y="1422"/>
                </a:lnTo>
                <a:lnTo>
                  <a:pt x="2666" y="1437"/>
                </a:lnTo>
                <a:lnTo>
                  <a:pt x="2652" y="1448"/>
                </a:lnTo>
                <a:lnTo>
                  <a:pt x="2639" y="1454"/>
                </a:lnTo>
                <a:lnTo>
                  <a:pt x="2624" y="1456"/>
                </a:lnTo>
                <a:lnTo>
                  <a:pt x="2610" y="1454"/>
                </a:lnTo>
                <a:lnTo>
                  <a:pt x="2596" y="1448"/>
                </a:lnTo>
                <a:lnTo>
                  <a:pt x="2584" y="1439"/>
                </a:lnTo>
                <a:lnTo>
                  <a:pt x="2575" y="1428"/>
                </a:lnTo>
                <a:lnTo>
                  <a:pt x="2569" y="1415"/>
                </a:lnTo>
                <a:lnTo>
                  <a:pt x="2568" y="1400"/>
                </a:lnTo>
                <a:lnTo>
                  <a:pt x="2569" y="1385"/>
                </a:lnTo>
                <a:lnTo>
                  <a:pt x="2575" y="1372"/>
                </a:lnTo>
                <a:lnTo>
                  <a:pt x="2584" y="1361"/>
                </a:lnTo>
                <a:lnTo>
                  <a:pt x="2596" y="1352"/>
                </a:lnTo>
                <a:lnTo>
                  <a:pt x="2608" y="1346"/>
                </a:lnTo>
                <a:lnTo>
                  <a:pt x="2623" y="1344"/>
                </a:lnTo>
                <a:close/>
                <a:moveTo>
                  <a:pt x="1848" y="1344"/>
                </a:moveTo>
                <a:lnTo>
                  <a:pt x="1866" y="1347"/>
                </a:lnTo>
                <a:lnTo>
                  <a:pt x="1882" y="1355"/>
                </a:lnTo>
                <a:lnTo>
                  <a:pt x="1893" y="1366"/>
                </a:lnTo>
                <a:lnTo>
                  <a:pt x="1901" y="1382"/>
                </a:lnTo>
                <a:lnTo>
                  <a:pt x="1904" y="1400"/>
                </a:lnTo>
                <a:lnTo>
                  <a:pt x="1901" y="1418"/>
                </a:lnTo>
                <a:lnTo>
                  <a:pt x="1893" y="1434"/>
                </a:lnTo>
                <a:lnTo>
                  <a:pt x="1882" y="1445"/>
                </a:lnTo>
                <a:lnTo>
                  <a:pt x="1866" y="1453"/>
                </a:lnTo>
                <a:lnTo>
                  <a:pt x="1848" y="1456"/>
                </a:lnTo>
                <a:lnTo>
                  <a:pt x="1830" y="1453"/>
                </a:lnTo>
                <a:lnTo>
                  <a:pt x="1814" y="1445"/>
                </a:lnTo>
                <a:lnTo>
                  <a:pt x="1803" y="1434"/>
                </a:lnTo>
                <a:lnTo>
                  <a:pt x="1795" y="1418"/>
                </a:lnTo>
                <a:lnTo>
                  <a:pt x="1792" y="1400"/>
                </a:lnTo>
                <a:lnTo>
                  <a:pt x="1795" y="1382"/>
                </a:lnTo>
                <a:lnTo>
                  <a:pt x="1803" y="1366"/>
                </a:lnTo>
                <a:lnTo>
                  <a:pt x="1814" y="1355"/>
                </a:lnTo>
                <a:lnTo>
                  <a:pt x="1830" y="1347"/>
                </a:lnTo>
                <a:lnTo>
                  <a:pt x="1848" y="1344"/>
                </a:lnTo>
                <a:close/>
                <a:moveTo>
                  <a:pt x="1070" y="1344"/>
                </a:moveTo>
                <a:lnTo>
                  <a:pt x="1085" y="1345"/>
                </a:lnTo>
                <a:lnTo>
                  <a:pt x="1100" y="1352"/>
                </a:lnTo>
                <a:lnTo>
                  <a:pt x="1114" y="1363"/>
                </a:lnTo>
                <a:lnTo>
                  <a:pt x="1123" y="1378"/>
                </a:lnTo>
                <a:lnTo>
                  <a:pt x="1128" y="1394"/>
                </a:lnTo>
                <a:lnTo>
                  <a:pt x="1127" y="1411"/>
                </a:lnTo>
                <a:lnTo>
                  <a:pt x="1121" y="1428"/>
                </a:lnTo>
                <a:lnTo>
                  <a:pt x="1112" y="1439"/>
                </a:lnTo>
                <a:lnTo>
                  <a:pt x="1100" y="1448"/>
                </a:lnTo>
                <a:lnTo>
                  <a:pt x="1086" y="1454"/>
                </a:lnTo>
                <a:lnTo>
                  <a:pt x="1072" y="1456"/>
                </a:lnTo>
                <a:lnTo>
                  <a:pt x="1057" y="1454"/>
                </a:lnTo>
                <a:lnTo>
                  <a:pt x="1044" y="1448"/>
                </a:lnTo>
                <a:lnTo>
                  <a:pt x="1033" y="1439"/>
                </a:lnTo>
                <a:lnTo>
                  <a:pt x="1024" y="1428"/>
                </a:lnTo>
                <a:lnTo>
                  <a:pt x="1018" y="1415"/>
                </a:lnTo>
                <a:lnTo>
                  <a:pt x="1016" y="1400"/>
                </a:lnTo>
                <a:lnTo>
                  <a:pt x="1018" y="1385"/>
                </a:lnTo>
                <a:lnTo>
                  <a:pt x="1024" y="1372"/>
                </a:lnTo>
                <a:lnTo>
                  <a:pt x="1032" y="1361"/>
                </a:lnTo>
                <a:lnTo>
                  <a:pt x="1043" y="1352"/>
                </a:lnTo>
                <a:lnTo>
                  <a:pt x="1055" y="1346"/>
                </a:lnTo>
                <a:lnTo>
                  <a:pt x="1070" y="1344"/>
                </a:lnTo>
                <a:close/>
                <a:moveTo>
                  <a:pt x="606" y="1278"/>
                </a:moveTo>
                <a:lnTo>
                  <a:pt x="617" y="1279"/>
                </a:lnTo>
                <a:lnTo>
                  <a:pt x="628" y="1282"/>
                </a:lnTo>
                <a:lnTo>
                  <a:pt x="643" y="1291"/>
                </a:lnTo>
                <a:lnTo>
                  <a:pt x="654" y="1305"/>
                </a:lnTo>
                <a:lnTo>
                  <a:pt x="661" y="1320"/>
                </a:lnTo>
                <a:lnTo>
                  <a:pt x="662" y="1337"/>
                </a:lnTo>
                <a:lnTo>
                  <a:pt x="657" y="1355"/>
                </a:lnTo>
                <a:lnTo>
                  <a:pt x="648" y="1371"/>
                </a:lnTo>
                <a:lnTo>
                  <a:pt x="635" y="1382"/>
                </a:lnTo>
                <a:lnTo>
                  <a:pt x="619" y="1388"/>
                </a:lnTo>
                <a:lnTo>
                  <a:pt x="603" y="1390"/>
                </a:lnTo>
                <a:lnTo>
                  <a:pt x="585" y="1385"/>
                </a:lnTo>
                <a:lnTo>
                  <a:pt x="569" y="1376"/>
                </a:lnTo>
                <a:lnTo>
                  <a:pt x="559" y="1363"/>
                </a:lnTo>
                <a:lnTo>
                  <a:pt x="552" y="1347"/>
                </a:lnTo>
                <a:lnTo>
                  <a:pt x="550" y="1329"/>
                </a:lnTo>
                <a:lnTo>
                  <a:pt x="554" y="1313"/>
                </a:lnTo>
                <a:lnTo>
                  <a:pt x="563" y="1298"/>
                </a:lnTo>
                <a:lnTo>
                  <a:pt x="576" y="1287"/>
                </a:lnTo>
                <a:lnTo>
                  <a:pt x="590" y="1280"/>
                </a:lnTo>
                <a:lnTo>
                  <a:pt x="606" y="1278"/>
                </a:lnTo>
                <a:close/>
                <a:moveTo>
                  <a:pt x="3090" y="1278"/>
                </a:moveTo>
                <a:lnTo>
                  <a:pt x="3106" y="1280"/>
                </a:lnTo>
                <a:lnTo>
                  <a:pt x="3120" y="1287"/>
                </a:lnTo>
                <a:lnTo>
                  <a:pt x="3133" y="1298"/>
                </a:lnTo>
                <a:lnTo>
                  <a:pt x="3142" y="1313"/>
                </a:lnTo>
                <a:lnTo>
                  <a:pt x="3146" y="1329"/>
                </a:lnTo>
                <a:lnTo>
                  <a:pt x="3144" y="1347"/>
                </a:lnTo>
                <a:lnTo>
                  <a:pt x="3137" y="1363"/>
                </a:lnTo>
                <a:lnTo>
                  <a:pt x="3127" y="1376"/>
                </a:lnTo>
                <a:lnTo>
                  <a:pt x="3111" y="1385"/>
                </a:lnTo>
                <a:lnTo>
                  <a:pt x="3093" y="1390"/>
                </a:lnTo>
                <a:lnTo>
                  <a:pt x="3077" y="1388"/>
                </a:lnTo>
                <a:lnTo>
                  <a:pt x="3061" y="1381"/>
                </a:lnTo>
                <a:lnTo>
                  <a:pt x="3048" y="1371"/>
                </a:lnTo>
                <a:lnTo>
                  <a:pt x="3039" y="1355"/>
                </a:lnTo>
                <a:lnTo>
                  <a:pt x="3034" y="1337"/>
                </a:lnTo>
                <a:lnTo>
                  <a:pt x="3035" y="1320"/>
                </a:lnTo>
                <a:lnTo>
                  <a:pt x="3042" y="1305"/>
                </a:lnTo>
                <a:lnTo>
                  <a:pt x="3053" y="1291"/>
                </a:lnTo>
                <a:lnTo>
                  <a:pt x="3068" y="1282"/>
                </a:lnTo>
                <a:lnTo>
                  <a:pt x="3079" y="1279"/>
                </a:lnTo>
                <a:lnTo>
                  <a:pt x="3090" y="1278"/>
                </a:lnTo>
                <a:close/>
                <a:moveTo>
                  <a:pt x="1215" y="1158"/>
                </a:moveTo>
                <a:lnTo>
                  <a:pt x="1230" y="1160"/>
                </a:lnTo>
                <a:lnTo>
                  <a:pt x="1242" y="1166"/>
                </a:lnTo>
                <a:lnTo>
                  <a:pt x="1254" y="1175"/>
                </a:lnTo>
                <a:lnTo>
                  <a:pt x="1264" y="1189"/>
                </a:lnTo>
                <a:lnTo>
                  <a:pt x="1270" y="1206"/>
                </a:lnTo>
                <a:lnTo>
                  <a:pt x="1270" y="1223"/>
                </a:lnTo>
                <a:lnTo>
                  <a:pt x="1264" y="1240"/>
                </a:lnTo>
                <a:lnTo>
                  <a:pt x="1254" y="1254"/>
                </a:lnTo>
                <a:lnTo>
                  <a:pt x="1240" y="1264"/>
                </a:lnTo>
                <a:lnTo>
                  <a:pt x="1223" y="1270"/>
                </a:lnTo>
                <a:lnTo>
                  <a:pt x="1206" y="1270"/>
                </a:lnTo>
                <a:lnTo>
                  <a:pt x="1189" y="1264"/>
                </a:lnTo>
                <a:lnTo>
                  <a:pt x="1175" y="1254"/>
                </a:lnTo>
                <a:lnTo>
                  <a:pt x="1165" y="1240"/>
                </a:lnTo>
                <a:lnTo>
                  <a:pt x="1159" y="1223"/>
                </a:lnTo>
                <a:lnTo>
                  <a:pt x="1159" y="1206"/>
                </a:lnTo>
                <a:lnTo>
                  <a:pt x="1165" y="1189"/>
                </a:lnTo>
                <a:lnTo>
                  <a:pt x="1175" y="1175"/>
                </a:lnTo>
                <a:lnTo>
                  <a:pt x="1187" y="1166"/>
                </a:lnTo>
                <a:lnTo>
                  <a:pt x="1201" y="1160"/>
                </a:lnTo>
                <a:lnTo>
                  <a:pt x="1215" y="1158"/>
                </a:lnTo>
                <a:close/>
                <a:moveTo>
                  <a:pt x="2971" y="1046"/>
                </a:moveTo>
                <a:lnTo>
                  <a:pt x="2987" y="1049"/>
                </a:lnTo>
                <a:lnTo>
                  <a:pt x="3000" y="1057"/>
                </a:lnTo>
                <a:lnTo>
                  <a:pt x="3012" y="1070"/>
                </a:lnTo>
                <a:lnTo>
                  <a:pt x="3020" y="1086"/>
                </a:lnTo>
                <a:lnTo>
                  <a:pt x="3022" y="1103"/>
                </a:lnTo>
                <a:lnTo>
                  <a:pt x="3018" y="1120"/>
                </a:lnTo>
                <a:lnTo>
                  <a:pt x="3009" y="1136"/>
                </a:lnTo>
                <a:lnTo>
                  <a:pt x="2997" y="1148"/>
                </a:lnTo>
                <a:lnTo>
                  <a:pt x="2980" y="1156"/>
                </a:lnTo>
                <a:lnTo>
                  <a:pt x="2964" y="1157"/>
                </a:lnTo>
                <a:lnTo>
                  <a:pt x="2947" y="1154"/>
                </a:lnTo>
                <a:lnTo>
                  <a:pt x="2931" y="1146"/>
                </a:lnTo>
                <a:lnTo>
                  <a:pt x="2919" y="1132"/>
                </a:lnTo>
                <a:lnTo>
                  <a:pt x="2912" y="1117"/>
                </a:lnTo>
                <a:lnTo>
                  <a:pt x="2910" y="1099"/>
                </a:lnTo>
                <a:lnTo>
                  <a:pt x="2913" y="1082"/>
                </a:lnTo>
                <a:lnTo>
                  <a:pt x="2921" y="1067"/>
                </a:lnTo>
                <a:lnTo>
                  <a:pt x="2934" y="1055"/>
                </a:lnTo>
                <a:lnTo>
                  <a:pt x="2944" y="1049"/>
                </a:lnTo>
                <a:lnTo>
                  <a:pt x="2955" y="1046"/>
                </a:lnTo>
                <a:lnTo>
                  <a:pt x="2971" y="1046"/>
                </a:lnTo>
                <a:close/>
                <a:moveTo>
                  <a:pt x="725" y="1046"/>
                </a:moveTo>
                <a:lnTo>
                  <a:pt x="741" y="1046"/>
                </a:lnTo>
                <a:lnTo>
                  <a:pt x="752" y="1049"/>
                </a:lnTo>
                <a:lnTo>
                  <a:pt x="762" y="1055"/>
                </a:lnTo>
                <a:lnTo>
                  <a:pt x="775" y="1067"/>
                </a:lnTo>
                <a:lnTo>
                  <a:pt x="783" y="1082"/>
                </a:lnTo>
                <a:lnTo>
                  <a:pt x="786" y="1099"/>
                </a:lnTo>
                <a:lnTo>
                  <a:pt x="784" y="1117"/>
                </a:lnTo>
                <a:lnTo>
                  <a:pt x="777" y="1132"/>
                </a:lnTo>
                <a:lnTo>
                  <a:pt x="765" y="1146"/>
                </a:lnTo>
                <a:lnTo>
                  <a:pt x="749" y="1154"/>
                </a:lnTo>
                <a:lnTo>
                  <a:pt x="732" y="1157"/>
                </a:lnTo>
                <a:lnTo>
                  <a:pt x="716" y="1156"/>
                </a:lnTo>
                <a:lnTo>
                  <a:pt x="699" y="1148"/>
                </a:lnTo>
                <a:lnTo>
                  <a:pt x="687" y="1136"/>
                </a:lnTo>
                <a:lnTo>
                  <a:pt x="678" y="1120"/>
                </a:lnTo>
                <a:lnTo>
                  <a:pt x="674" y="1103"/>
                </a:lnTo>
                <a:lnTo>
                  <a:pt x="676" y="1086"/>
                </a:lnTo>
                <a:lnTo>
                  <a:pt x="684" y="1070"/>
                </a:lnTo>
                <a:lnTo>
                  <a:pt x="696" y="1057"/>
                </a:lnTo>
                <a:lnTo>
                  <a:pt x="709" y="1049"/>
                </a:lnTo>
                <a:lnTo>
                  <a:pt x="725" y="1046"/>
                </a:lnTo>
                <a:close/>
                <a:moveTo>
                  <a:pt x="2294" y="1016"/>
                </a:moveTo>
                <a:lnTo>
                  <a:pt x="2309" y="1018"/>
                </a:lnTo>
                <a:lnTo>
                  <a:pt x="2324" y="1024"/>
                </a:lnTo>
                <a:lnTo>
                  <a:pt x="2337" y="1035"/>
                </a:lnTo>
                <a:lnTo>
                  <a:pt x="2348" y="1049"/>
                </a:lnTo>
                <a:lnTo>
                  <a:pt x="2352" y="1066"/>
                </a:lnTo>
                <a:lnTo>
                  <a:pt x="2351" y="1083"/>
                </a:lnTo>
                <a:lnTo>
                  <a:pt x="2344" y="1100"/>
                </a:lnTo>
                <a:lnTo>
                  <a:pt x="2333" y="1114"/>
                </a:lnTo>
                <a:lnTo>
                  <a:pt x="2318" y="1123"/>
                </a:lnTo>
                <a:lnTo>
                  <a:pt x="2302" y="1128"/>
                </a:lnTo>
                <a:lnTo>
                  <a:pt x="2285" y="1127"/>
                </a:lnTo>
                <a:lnTo>
                  <a:pt x="2268" y="1121"/>
                </a:lnTo>
                <a:lnTo>
                  <a:pt x="2255" y="1109"/>
                </a:lnTo>
                <a:lnTo>
                  <a:pt x="2244" y="1094"/>
                </a:lnTo>
                <a:lnTo>
                  <a:pt x="2240" y="1079"/>
                </a:lnTo>
                <a:lnTo>
                  <a:pt x="2241" y="1061"/>
                </a:lnTo>
                <a:lnTo>
                  <a:pt x="2248" y="1044"/>
                </a:lnTo>
                <a:lnTo>
                  <a:pt x="2256" y="1033"/>
                </a:lnTo>
                <a:lnTo>
                  <a:pt x="2267" y="1025"/>
                </a:lnTo>
                <a:lnTo>
                  <a:pt x="2279" y="1018"/>
                </a:lnTo>
                <a:lnTo>
                  <a:pt x="2294" y="1016"/>
                </a:lnTo>
                <a:close/>
                <a:moveTo>
                  <a:pt x="1399" y="1016"/>
                </a:moveTo>
                <a:lnTo>
                  <a:pt x="1413" y="1018"/>
                </a:lnTo>
                <a:lnTo>
                  <a:pt x="1428" y="1023"/>
                </a:lnTo>
                <a:lnTo>
                  <a:pt x="1439" y="1032"/>
                </a:lnTo>
                <a:lnTo>
                  <a:pt x="1448" y="1044"/>
                </a:lnTo>
                <a:lnTo>
                  <a:pt x="1454" y="1057"/>
                </a:lnTo>
                <a:lnTo>
                  <a:pt x="1456" y="1072"/>
                </a:lnTo>
                <a:lnTo>
                  <a:pt x="1454" y="1086"/>
                </a:lnTo>
                <a:lnTo>
                  <a:pt x="1448" y="1100"/>
                </a:lnTo>
                <a:lnTo>
                  <a:pt x="1439" y="1112"/>
                </a:lnTo>
                <a:lnTo>
                  <a:pt x="1428" y="1121"/>
                </a:lnTo>
                <a:lnTo>
                  <a:pt x="1415" y="1127"/>
                </a:lnTo>
                <a:lnTo>
                  <a:pt x="1400" y="1128"/>
                </a:lnTo>
                <a:lnTo>
                  <a:pt x="1385" y="1126"/>
                </a:lnTo>
                <a:lnTo>
                  <a:pt x="1372" y="1120"/>
                </a:lnTo>
                <a:lnTo>
                  <a:pt x="1361" y="1111"/>
                </a:lnTo>
                <a:lnTo>
                  <a:pt x="1352" y="1100"/>
                </a:lnTo>
                <a:lnTo>
                  <a:pt x="1345" y="1083"/>
                </a:lnTo>
                <a:lnTo>
                  <a:pt x="1344" y="1066"/>
                </a:lnTo>
                <a:lnTo>
                  <a:pt x="1348" y="1049"/>
                </a:lnTo>
                <a:lnTo>
                  <a:pt x="1359" y="1035"/>
                </a:lnTo>
                <a:lnTo>
                  <a:pt x="1372" y="1024"/>
                </a:lnTo>
                <a:lnTo>
                  <a:pt x="1384" y="1018"/>
                </a:lnTo>
                <a:lnTo>
                  <a:pt x="1399" y="1016"/>
                </a:lnTo>
                <a:close/>
                <a:moveTo>
                  <a:pt x="2079" y="926"/>
                </a:moveTo>
                <a:lnTo>
                  <a:pt x="2087" y="927"/>
                </a:lnTo>
                <a:lnTo>
                  <a:pt x="2094" y="928"/>
                </a:lnTo>
                <a:lnTo>
                  <a:pt x="2111" y="935"/>
                </a:lnTo>
                <a:lnTo>
                  <a:pt x="2124" y="948"/>
                </a:lnTo>
                <a:lnTo>
                  <a:pt x="2132" y="962"/>
                </a:lnTo>
                <a:lnTo>
                  <a:pt x="2136" y="979"/>
                </a:lnTo>
                <a:lnTo>
                  <a:pt x="2134" y="997"/>
                </a:lnTo>
                <a:lnTo>
                  <a:pt x="2127" y="1014"/>
                </a:lnTo>
                <a:lnTo>
                  <a:pt x="2115" y="1026"/>
                </a:lnTo>
                <a:lnTo>
                  <a:pt x="2100" y="1035"/>
                </a:lnTo>
                <a:lnTo>
                  <a:pt x="2083" y="1038"/>
                </a:lnTo>
                <a:lnTo>
                  <a:pt x="2065" y="1037"/>
                </a:lnTo>
                <a:lnTo>
                  <a:pt x="2050" y="1029"/>
                </a:lnTo>
                <a:lnTo>
                  <a:pt x="2036" y="1018"/>
                </a:lnTo>
                <a:lnTo>
                  <a:pt x="2027" y="1002"/>
                </a:lnTo>
                <a:lnTo>
                  <a:pt x="2024" y="986"/>
                </a:lnTo>
                <a:lnTo>
                  <a:pt x="2026" y="968"/>
                </a:lnTo>
                <a:lnTo>
                  <a:pt x="2034" y="951"/>
                </a:lnTo>
                <a:lnTo>
                  <a:pt x="2045" y="939"/>
                </a:lnTo>
                <a:lnTo>
                  <a:pt x="2061" y="930"/>
                </a:lnTo>
                <a:lnTo>
                  <a:pt x="2079" y="926"/>
                </a:lnTo>
                <a:close/>
                <a:moveTo>
                  <a:pt x="1615" y="926"/>
                </a:moveTo>
                <a:lnTo>
                  <a:pt x="1616" y="926"/>
                </a:lnTo>
                <a:lnTo>
                  <a:pt x="1634" y="930"/>
                </a:lnTo>
                <a:lnTo>
                  <a:pt x="1651" y="939"/>
                </a:lnTo>
                <a:lnTo>
                  <a:pt x="1662" y="951"/>
                </a:lnTo>
                <a:lnTo>
                  <a:pt x="1670" y="968"/>
                </a:lnTo>
                <a:lnTo>
                  <a:pt x="1672" y="986"/>
                </a:lnTo>
                <a:lnTo>
                  <a:pt x="1669" y="1002"/>
                </a:lnTo>
                <a:lnTo>
                  <a:pt x="1660" y="1018"/>
                </a:lnTo>
                <a:lnTo>
                  <a:pt x="1646" y="1029"/>
                </a:lnTo>
                <a:lnTo>
                  <a:pt x="1631" y="1037"/>
                </a:lnTo>
                <a:lnTo>
                  <a:pt x="1613" y="1038"/>
                </a:lnTo>
                <a:lnTo>
                  <a:pt x="1596" y="1035"/>
                </a:lnTo>
                <a:lnTo>
                  <a:pt x="1581" y="1026"/>
                </a:lnTo>
                <a:lnTo>
                  <a:pt x="1569" y="1014"/>
                </a:lnTo>
                <a:lnTo>
                  <a:pt x="1562" y="997"/>
                </a:lnTo>
                <a:lnTo>
                  <a:pt x="1560" y="979"/>
                </a:lnTo>
                <a:lnTo>
                  <a:pt x="1564" y="962"/>
                </a:lnTo>
                <a:lnTo>
                  <a:pt x="1572" y="948"/>
                </a:lnTo>
                <a:lnTo>
                  <a:pt x="1585" y="935"/>
                </a:lnTo>
                <a:lnTo>
                  <a:pt x="1602" y="928"/>
                </a:lnTo>
                <a:lnTo>
                  <a:pt x="1607" y="927"/>
                </a:lnTo>
                <a:lnTo>
                  <a:pt x="1613" y="926"/>
                </a:lnTo>
                <a:lnTo>
                  <a:pt x="1615" y="926"/>
                </a:lnTo>
                <a:close/>
                <a:moveTo>
                  <a:pt x="1848" y="896"/>
                </a:moveTo>
                <a:lnTo>
                  <a:pt x="1866" y="899"/>
                </a:lnTo>
                <a:lnTo>
                  <a:pt x="1882" y="907"/>
                </a:lnTo>
                <a:lnTo>
                  <a:pt x="1893" y="918"/>
                </a:lnTo>
                <a:lnTo>
                  <a:pt x="1901" y="934"/>
                </a:lnTo>
                <a:lnTo>
                  <a:pt x="1904" y="952"/>
                </a:lnTo>
                <a:lnTo>
                  <a:pt x="1901" y="970"/>
                </a:lnTo>
                <a:lnTo>
                  <a:pt x="1893" y="986"/>
                </a:lnTo>
                <a:lnTo>
                  <a:pt x="1882" y="997"/>
                </a:lnTo>
                <a:lnTo>
                  <a:pt x="1866" y="1005"/>
                </a:lnTo>
                <a:lnTo>
                  <a:pt x="1848" y="1008"/>
                </a:lnTo>
                <a:lnTo>
                  <a:pt x="1830" y="1005"/>
                </a:lnTo>
                <a:lnTo>
                  <a:pt x="1814" y="997"/>
                </a:lnTo>
                <a:lnTo>
                  <a:pt x="1803" y="986"/>
                </a:lnTo>
                <a:lnTo>
                  <a:pt x="1795" y="970"/>
                </a:lnTo>
                <a:lnTo>
                  <a:pt x="1792" y="952"/>
                </a:lnTo>
                <a:lnTo>
                  <a:pt x="1795" y="934"/>
                </a:lnTo>
                <a:lnTo>
                  <a:pt x="1803" y="918"/>
                </a:lnTo>
                <a:lnTo>
                  <a:pt x="1814" y="907"/>
                </a:lnTo>
                <a:lnTo>
                  <a:pt x="1830" y="899"/>
                </a:lnTo>
                <a:lnTo>
                  <a:pt x="1848" y="896"/>
                </a:lnTo>
                <a:close/>
                <a:moveTo>
                  <a:pt x="898" y="842"/>
                </a:moveTo>
                <a:lnTo>
                  <a:pt x="912" y="843"/>
                </a:lnTo>
                <a:lnTo>
                  <a:pt x="925" y="849"/>
                </a:lnTo>
                <a:lnTo>
                  <a:pt x="937" y="858"/>
                </a:lnTo>
                <a:lnTo>
                  <a:pt x="948" y="872"/>
                </a:lnTo>
                <a:lnTo>
                  <a:pt x="953" y="889"/>
                </a:lnTo>
                <a:lnTo>
                  <a:pt x="953" y="906"/>
                </a:lnTo>
                <a:lnTo>
                  <a:pt x="948" y="923"/>
                </a:lnTo>
                <a:lnTo>
                  <a:pt x="937" y="937"/>
                </a:lnTo>
                <a:lnTo>
                  <a:pt x="923" y="948"/>
                </a:lnTo>
                <a:lnTo>
                  <a:pt x="906" y="953"/>
                </a:lnTo>
                <a:lnTo>
                  <a:pt x="889" y="953"/>
                </a:lnTo>
                <a:lnTo>
                  <a:pt x="872" y="948"/>
                </a:lnTo>
                <a:lnTo>
                  <a:pt x="858" y="937"/>
                </a:lnTo>
                <a:lnTo>
                  <a:pt x="848" y="923"/>
                </a:lnTo>
                <a:lnTo>
                  <a:pt x="842" y="906"/>
                </a:lnTo>
                <a:lnTo>
                  <a:pt x="842" y="889"/>
                </a:lnTo>
                <a:lnTo>
                  <a:pt x="848" y="872"/>
                </a:lnTo>
                <a:lnTo>
                  <a:pt x="858" y="858"/>
                </a:lnTo>
                <a:lnTo>
                  <a:pt x="870" y="849"/>
                </a:lnTo>
                <a:lnTo>
                  <a:pt x="884" y="843"/>
                </a:lnTo>
                <a:lnTo>
                  <a:pt x="898" y="842"/>
                </a:lnTo>
                <a:close/>
                <a:moveTo>
                  <a:pt x="1107" y="674"/>
                </a:moveTo>
                <a:lnTo>
                  <a:pt x="1122" y="679"/>
                </a:lnTo>
                <a:lnTo>
                  <a:pt x="1137" y="687"/>
                </a:lnTo>
                <a:lnTo>
                  <a:pt x="1148" y="699"/>
                </a:lnTo>
                <a:lnTo>
                  <a:pt x="1156" y="716"/>
                </a:lnTo>
                <a:lnTo>
                  <a:pt x="1157" y="732"/>
                </a:lnTo>
                <a:lnTo>
                  <a:pt x="1154" y="749"/>
                </a:lnTo>
                <a:lnTo>
                  <a:pt x="1146" y="765"/>
                </a:lnTo>
                <a:lnTo>
                  <a:pt x="1132" y="777"/>
                </a:lnTo>
                <a:lnTo>
                  <a:pt x="1117" y="784"/>
                </a:lnTo>
                <a:lnTo>
                  <a:pt x="1099" y="786"/>
                </a:lnTo>
                <a:lnTo>
                  <a:pt x="1082" y="783"/>
                </a:lnTo>
                <a:lnTo>
                  <a:pt x="1067" y="775"/>
                </a:lnTo>
                <a:lnTo>
                  <a:pt x="1055" y="762"/>
                </a:lnTo>
                <a:lnTo>
                  <a:pt x="1047" y="745"/>
                </a:lnTo>
                <a:lnTo>
                  <a:pt x="1045" y="728"/>
                </a:lnTo>
                <a:lnTo>
                  <a:pt x="1048" y="711"/>
                </a:lnTo>
                <a:lnTo>
                  <a:pt x="1057" y="697"/>
                </a:lnTo>
                <a:lnTo>
                  <a:pt x="1070" y="684"/>
                </a:lnTo>
                <a:lnTo>
                  <a:pt x="1081" y="679"/>
                </a:lnTo>
                <a:lnTo>
                  <a:pt x="1091" y="675"/>
                </a:lnTo>
                <a:lnTo>
                  <a:pt x="1107" y="674"/>
                </a:lnTo>
                <a:close/>
                <a:moveTo>
                  <a:pt x="2589" y="674"/>
                </a:moveTo>
                <a:lnTo>
                  <a:pt x="2605" y="675"/>
                </a:lnTo>
                <a:lnTo>
                  <a:pt x="2615" y="679"/>
                </a:lnTo>
                <a:lnTo>
                  <a:pt x="2626" y="684"/>
                </a:lnTo>
                <a:lnTo>
                  <a:pt x="2639" y="697"/>
                </a:lnTo>
                <a:lnTo>
                  <a:pt x="2648" y="711"/>
                </a:lnTo>
                <a:lnTo>
                  <a:pt x="2651" y="728"/>
                </a:lnTo>
                <a:lnTo>
                  <a:pt x="2649" y="745"/>
                </a:lnTo>
                <a:lnTo>
                  <a:pt x="2641" y="762"/>
                </a:lnTo>
                <a:lnTo>
                  <a:pt x="2629" y="775"/>
                </a:lnTo>
                <a:lnTo>
                  <a:pt x="2614" y="783"/>
                </a:lnTo>
                <a:lnTo>
                  <a:pt x="2597" y="786"/>
                </a:lnTo>
                <a:lnTo>
                  <a:pt x="2579" y="784"/>
                </a:lnTo>
                <a:lnTo>
                  <a:pt x="2564" y="777"/>
                </a:lnTo>
                <a:lnTo>
                  <a:pt x="2550" y="765"/>
                </a:lnTo>
                <a:lnTo>
                  <a:pt x="2542" y="749"/>
                </a:lnTo>
                <a:lnTo>
                  <a:pt x="2539" y="732"/>
                </a:lnTo>
                <a:lnTo>
                  <a:pt x="2540" y="716"/>
                </a:lnTo>
                <a:lnTo>
                  <a:pt x="2548" y="699"/>
                </a:lnTo>
                <a:lnTo>
                  <a:pt x="2559" y="687"/>
                </a:lnTo>
                <a:lnTo>
                  <a:pt x="2574" y="679"/>
                </a:lnTo>
                <a:lnTo>
                  <a:pt x="2589" y="674"/>
                </a:lnTo>
                <a:close/>
                <a:moveTo>
                  <a:pt x="2362" y="550"/>
                </a:moveTo>
                <a:lnTo>
                  <a:pt x="2373" y="551"/>
                </a:lnTo>
                <a:lnTo>
                  <a:pt x="2383" y="554"/>
                </a:lnTo>
                <a:lnTo>
                  <a:pt x="2399" y="564"/>
                </a:lnTo>
                <a:lnTo>
                  <a:pt x="2410" y="577"/>
                </a:lnTo>
                <a:lnTo>
                  <a:pt x="2417" y="592"/>
                </a:lnTo>
                <a:lnTo>
                  <a:pt x="2418" y="610"/>
                </a:lnTo>
                <a:lnTo>
                  <a:pt x="2414" y="628"/>
                </a:lnTo>
                <a:lnTo>
                  <a:pt x="2405" y="643"/>
                </a:lnTo>
                <a:lnTo>
                  <a:pt x="2391" y="654"/>
                </a:lnTo>
                <a:lnTo>
                  <a:pt x="2376" y="661"/>
                </a:lnTo>
                <a:lnTo>
                  <a:pt x="2359" y="662"/>
                </a:lnTo>
                <a:lnTo>
                  <a:pt x="2341" y="657"/>
                </a:lnTo>
                <a:lnTo>
                  <a:pt x="2325" y="648"/>
                </a:lnTo>
                <a:lnTo>
                  <a:pt x="2314" y="635"/>
                </a:lnTo>
                <a:lnTo>
                  <a:pt x="2308" y="619"/>
                </a:lnTo>
                <a:lnTo>
                  <a:pt x="2306" y="603"/>
                </a:lnTo>
                <a:lnTo>
                  <a:pt x="2311" y="585"/>
                </a:lnTo>
                <a:lnTo>
                  <a:pt x="2320" y="570"/>
                </a:lnTo>
                <a:lnTo>
                  <a:pt x="2332" y="560"/>
                </a:lnTo>
                <a:lnTo>
                  <a:pt x="2346" y="553"/>
                </a:lnTo>
                <a:lnTo>
                  <a:pt x="2362" y="550"/>
                </a:lnTo>
                <a:close/>
                <a:moveTo>
                  <a:pt x="1334" y="550"/>
                </a:moveTo>
                <a:lnTo>
                  <a:pt x="1350" y="553"/>
                </a:lnTo>
                <a:lnTo>
                  <a:pt x="1364" y="560"/>
                </a:lnTo>
                <a:lnTo>
                  <a:pt x="1376" y="570"/>
                </a:lnTo>
                <a:lnTo>
                  <a:pt x="1385" y="585"/>
                </a:lnTo>
                <a:lnTo>
                  <a:pt x="1390" y="603"/>
                </a:lnTo>
                <a:lnTo>
                  <a:pt x="1388" y="619"/>
                </a:lnTo>
                <a:lnTo>
                  <a:pt x="1382" y="635"/>
                </a:lnTo>
                <a:lnTo>
                  <a:pt x="1371" y="648"/>
                </a:lnTo>
                <a:lnTo>
                  <a:pt x="1355" y="657"/>
                </a:lnTo>
                <a:lnTo>
                  <a:pt x="1337" y="662"/>
                </a:lnTo>
                <a:lnTo>
                  <a:pt x="1320" y="661"/>
                </a:lnTo>
                <a:lnTo>
                  <a:pt x="1305" y="654"/>
                </a:lnTo>
                <a:lnTo>
                  <a:pt x="1291" y="643"/>
                </a:lnTo>
                <a:lnTo>
                  <a:pt x="1282" y="628"/>
                </a:lnTo>
                <a:lnTo>
                  <a:pt x="1278" y="610"/>
                </a:lnTo>
                <a:lnTo>
                  <a:pt x="1279" y="592"/>
                </a:lnTo>
                <a:lnTo>
                  <a:pt x="1286" y="577"/>
                </a:lnTo>
                <a:lnTo>
                  <a:pt x="1297" y="564"/>
                </a:lnTo>
                <a:lnTo>
                  <a:pt x="1313" y="554"/>
                </a:lnTo>
                <a:lnTo>
                  <a:pt x="1323" y="551"/>
                </a:lnTo>
                <a:lnTo>
                  <a:pt x="1334" y="550"/>
                </a:lnTo>
                <a:close/>
                <a:moveTo>
                  <a:pt x="1593" y="474"/>
                </a:moveTo>
                <a:lnTo>
                  <a:pt x="1609" y="479"/>
                </a:lnTo>
                <a:lnTo>
                  <a:pt x="1624" y="488"/>
                </a:lnTo>
                <a:lnTo>
                  <a:pt x="1634" y="502"/>
                </a:lnTo>
                <a:lnTo>
                  <a:pt x="1641" y="519"/>
                </a:lnTo>
                <a:lnTo>
                  <a:pt x="1641" y="536"/>
                </a:lnTo>
                <a:lnTo>
                  <a:pt x="1636" y="553"/>
                </a:lnTo>
                <a:lnTo>
                  <a:pt x="1627" y="568"/>
                </a:lnTo>
                <a:lnTo>
                  <a:pt x="1614" y="578"/>
                </a:lnTo>
                <a:lnTo>
                  <a:pt x="1597" y="585"/>
                </a:lnTo>
                <a:lnTo>
                  <a:pt x="1579" y="586"/>
                </a:lnTo>
                <a:lnTo>
                  <a:pt x="1562" y="580"/>
                </a:lnTo>
                <a:lnTo>
                  <a:pt x="1548" y="571"/>
                </a:lnTo>
                <a:lnTo>
                  <a:pt x="1538" y="558"/>
                </a:lnTo>
                <a:lnTo>
                  <a:pt x="1531" y="541"/>
                </a:lnTo>
                <a:lnTo>
                  <a:pt x="1530" y="523"/>
                </a:lnTo>
                <a:lnTo>
                  <a:pt x="1536" y="506"/>
                </a:lnTo>
                <a:lnTo>
                  <a:pt x="1544" y="492"/>
                </a:lnTo>
                <a:lnTo>
                  <a:pt x="1558" y="482"/>
                </a:lnTo>
                <a:lnTo>
                  <a:pt x="1575" y="475"/>
                </a:lnTo>
                <a:lnTo>
                  <a:pt x="1593" y="474"/>
                </a:lnTo>
                <a:close/>
                <a:moveTo>
                  <a:pt x="2110" y="474"/>
                </a:moveTo>
                <a:lnTo>
                  <a:pt x="2121" y="475"/>
                </a:lnTo>
                <a:lnTo>
                  <a:pt x="2138" y="482"/>
                </a:lnTo>
                <a:lnTo>
                  <a:pt x="2152" y="492"/>
                </a:lnTo>
                <a:lnTo>
                  <a:pt x="2160" y="506"/>
                </a:lnTo>
                <a:lnTo>
                  <a:pt x="2166" y="523"/>
                </a:lnTo>
                <a:lnTo>
                  <a:pt x="2165" y="541"/>
                </a:lnTo>
                <a:lnTo>
                  <a:pt x="2158" y="558"/>
                </a:lnTo>
                <a:lnTo>
                  <a:pt x="2148" y="571"/>
                </a:lnTo>
                <a:lnTo>
                  <a:pt x="2134" y="580"/>
                </a:lnTo>
                <a:lnTo>
                  <a:pt x="2117" y="586"/>
                </a:lnTo>
                <a:lnTo>
                  <a:pt x="2099" y="585"/>
                </a:lnTo>
                <a:lnTo>
                  <a:pt x="2082" y="578"/>
                </a:lnTo>
                <a:lnTo>
                  <a:pt x="2069" y="568"/>
                </a:lnTo>
                <a:lnTo>
                  <a:pt x="2060" y="553"/>
                </a:lnTo>
                <a:lnTo>
                  <a:pt x="2055" y="536"/>
                </a:lnTo>
                <a:lnTo>
                  <a:pt x="2055" y="519"/>
                </a:lnTo>
                <a:lnTo>
                  <a:pt x="2061" y="503"/>
                </a:lnTo>
                <a:lnTo>
                  <a:pt x="2071" y="489"/>
                </a:lnTo>
                <a:lnTo>
                  <a:pt x="2083" y="480"/>
                </a:lnTo>
                <a:lnTo>
                  <a:pt x="2099" y="475"/>
                </a:lnTo>
                <a:lnTo>
                  <a:pt x="2110" y="474"/>
                </a:lnTo>
                <a:close/>
                <a:moveTo>
                  <a:pt x="1848" y="448"/>
                </a:moveTo>
                <a:lnTo>
                  <a:pt x="1866" y="451"/>
                </a:lnTo>
                <a:lnTo>
                  <a:pt x="1882" y="459"/>
                </a:lnTo>
                <a:lnTo>
                  <a:pt x="1893" y="470"/>
                </a:lnTo>
                <a:lnTo>
                  <a:pt x="1901" y="486"/>
                </a:lnTo>
                <a:lnTo>
                  <a:pt x="1904" y="504"/>
                </a:lnTo>
                <a:lnTo>
                  <a:pt x="1901" y="522"/>
                </a:lnTo>
                <a:lnTo>
                  <a:pt x="1893" y="538"/>
                </a:lnTo>
                <a:lnTo>
                  <a:pt x="1882" y="549"/>
                </a:lnTo>
                <a:lnTo>
                  <a:pt x="1866" y="557"/>
                </a:lnTo>
                <a:lnTo>
                  <a:pt x="1848" y="560"/>
                </a:lnTo>
                <a:lnTo>
                  <a:pt x="1830" y="557"/>
                </a:lnTo>
                <a:lnTo>
                  <a:pt x="1814" y="549"/>
                </a:lnTo>
                <a:lnTo>
                  <a:pt x="1803" y="538"/>
                </a:lnTo>
                <a:lnTo>
                  <a:pt x="1795" y="522"/>
                </a:lnTo>
                <a:lnTo>
                  <a:pt x="1792" y="504"/>
                </a:lnTo>
                <a:lnTo>
                  <a:pt x="1795" y="486"/>
                </a:lnTo>
                <a:lnTo>
                  <a:pt x="1803" y="470"/>
                </a:lnTo>
                <a:lnTo>
                  <a:pt x="1814" y="459"/>
                </a:lnTo>
                <a:lnTo>
                  <a:pt x="1830" y="451"/>
                </a:lnTo>
                <a:lnTo>
                  <a:pt x="1848" y="448"/>
                </a:lnTo>
                <a:close/>
                <a:moveTo>
                  <a:pt x="3248" y="112"/>
                </a:moveTo>
                <a:lnTo>
                  <a:pt x="3248" y="448"/>
                </a:lnTo>
                <a:lnTo>
                  <a:pt x="3584" y="448"/>
                </a:lnTo>
                <a:lnTo>
                  <a:pt x="3192" y="840"/>
                </a:lnTo>
                <a:lnTo>
                  <a:pt x="2936" y="840"/>
                </a:lnTo>
                <a:lnTo>
                  <a:pt x="1957" y="1819"/>
                </a:lnTo>
                <a:lnTo>
                  <a:pt x="1959" y="1833"/>
                </a:lnTo>
                <a:lnTo>
                  <a:pt x="1960" y="1848"/>
                </a:lnTo>
                <a:lnTo>
                  <a:pt x="1957" y="1874"/>
                </a:lnTo>
                <a:lnTo>
                  <a:pt x="1949" y="1897"/>
                </a:lnTo>
                <a:lnTo>
                  <a:pt x="1935" y="1919"/>
                </a:lnTo>
                <a:lnTo>
                  <a:pt x="1919" y="1935"/>
                </a:lnTo>
                <a:lnTo>
                  <a:pt x="1897" y="1949"/>
                </a:lnTo>
                <a:lnTo>
                  <a:pt x="1874" y="1957"/>
                </a:lnTo>
                <a:lnTo>
                  <a:pt x="1848" y="1960"/>
                </a:lnTo>
                <a:lnTo>
                  <a:pt x="1822" y="1957"/>
                </a:lnTo>
                <a:lnTo>
                  <a:pt x="1799" y="1949"/>
                </a:lnTo>
                <a:lnTo>
                  <a:pt x="1777" y="1935"/>
                </a:lnTo>
                <a:lnTo>
                  <a:pt x="1761" y="1919"/>
                </a:lnTo>
                <a:lnTo>
                  <a:pt x="1747" y="1897"/>
                </a:lnTo>
                <a:lnTo>
                  <a:pt x="1739" y="1874"/>
                </a:lnTo>
                <a:lnTo>
                  <a:pt x="1736" y="1848"/>
                </a:lnTo>
                <a:lnTo>
                  <a:pt x="1739" y="1822"/>
                </a:lnTo>
                <a:lnTo>
                  <a:pt x="1747" y="1799"/>
                </a:lnTo>
                <a:lnTo>
                  <a:pt x="1761" y="1777"/>
                </a:lnTo>
                <a:lnTo>
                  <a:pt x="1777" y="1761"/>
                </a:lnTo>
                <a:lnTo>
                  <a:pt x="1799" y="1747"/>
                </a:lnTo>
                <a:lnTo>
                  <a:pt x="1822" y="1739"/>
                </a:lnTo>
                <a:lnTo>
                  <a:pt x="1848" y="1736"/>
                </a:lnTo>
                <a:lnTo>
                  <a:pt x="1863" y="1737"/>
                </a:lnTo>
                <a:lnTo>
                  <a:pt x="1877" y="1739"/>
                </a:lnTo>
                <a:lnTo>
                  <a:pt x="2442" y="1176"/>
                </a:lnTo>
                <a:lnTo>
                  <a:pt x="2442" y="1175"/>
                </a:lnTo>
                <a:lnTo>
                  <a:pt x="2442" y="1175"/>
                </a:lnTo>
                <a:lnTo>
                  <a:pt x="2443" y="1174"/>
                </a:lnTo>
                <a:lnTo>
                  <a:pt x="2856" y="760"/>
                </a:lnTo>
                <a:lnTo>
                  <a:pt x="2856" y="504"/>
                </a:lnTo>
                <a:lnTo>
                  <a:pt x="3248" y="112"/>
                </a:lnTo>
                <a:close/>
                <a:moveTo>
                  <a:pt x="1848" y="0"/>
                </a:moveTo>
                <a:lnTo>
                  <a:pt x="1957" y="3"/>
                </a:lnTo>
                <a:lnTo>
                  <a:pt x="2064" y="12"/>
                </a:lnTo>
                <a:lnTo>
                  <a:pt x="2171" y="28"/>
                </a:lnTo>
                <a:lnTo>
                  <a:pt x="2274" y="49"/>
                </a:lnTo>
                <a:lnTo>
                  <a:pt x="2376" y="77"/>
                </a:lnTo>
                <a:lnTo>
                  <a:pt x="2474" y="110"/>
                </a:lnTo>
                <a:lnTo>
                  <a:pt x="2570" y="148"/>
                </a:lnTo>
                <a:lnTo>
                  <a:pt x="2664" y="192"/>
                </a:lnTo>
                <a:lnTo>
                  <a:pt x="2755" y="240"/>
                </a:lnTo>
                <a:lnTo>
                  <a:pt x="2844" y="292"/>
                </a:lnTo>
                <a:lnTo>
                  <a:pt x="2762" y="374"/>
                </a:lnTo>
                <a:lnTo>
                  <a:pt x="2672" y="321"/>
                </a:lnTo>
                <a:lnTo>
                  <a:pt x="2578" y="274"/>
                </a:lnTo>
                <a:lnTo>
                  <a:pt x="2482" y="232"/>
                </a:lnTo>
                <a:lnTo>
                  <a:pt x="2382" y="196"/>
                </a:lnTo>
                <a:lnTo>
                  <a:pt x="2280" y="167"/>
                </a:lnTo>
                <a:lnTo>
                  <a:pt x="2175" y="143"/>
                </a:lnTo>
                <a:lnTo>
                  <a:pt x="2068" y="125"/>
                </a:lnTo>
                <a:lnTo>
                  <a:pt x="1959" y="115"/>
                </a:lnTo>
                <a:lnTo>
                  <a:pt x="1848" y="112"/>
                </a:lnTo>
                <a:lnTo>
                  <a:pt x="1738" y="115"/>
                </a:lnTo>
                <a:lnTo>
                  <a:pt x="1631" y="125"/>
                </a:lnTo>
                <a:lnTo>
                  <a:pt x="1524" y="142"/>
                </a:lnTo>
                <a:lnTo>
                  <a:pt x="1421" y="165"/>
                </a:lnTo>
                <a:lnTo>
                  <a:pt x="1319" y="194"/>
                </a:lnTo>
                <a:lnTo>
                  <a:pt x="1221" y="228"/>
                </a:lnTo>
                <a:lnTo>
                  <a:pt x="1126" y="270"/>
                </a:lnTo>
                <a:lnTo>
                  <a:pt x="1033" y="316"/>
                </a:lnTo>
                <a:lnTo>
                  <a:pt x="943" y="367"/>
                </a:lnTo>
                <a:lnTo>
                  <a:pt x="857" y="423"/>
                </a:lnTo>
                <a:lnTo>
                  <a:pt x="774" y="485"/>
                </a:lnTo>
                <a:lnTo>
                  <a:pt x="696" y="551"/>
                </a:lnTo>
                <a:lnTo>
                  <a:pt x="620" y="620"/>
                </a:lnTo>
                <a:lnTo>
                  <a:pt x="551" y="696"/>
                </a:lnTo>
                <a:lnTo>
                  <a:pt x="485" y="774"/>
                </a:lnTo>
                <a:lnTo>
                  <a:pt x="423" y="857"/>
                </a:lnTo>
                <a:lnTo>
                  <a:pt x="367" y="943"/>
                </a:lnTo>
                <a:lnTo>
                  <a:pt x="316" y="1033"/>
                </a:lnTo>
                <a:lnTo>
                  <a:pt x="270" y="1126"/>
                </a:lnTo>
                <a:lnTo>
                  <a:pt x="228" y="1221"/>
                </a:lnTo>
                <a:lnTo>
                  <a:pt x="194" y="1319"/>
                </a:lnTo>
                <a:lnTo>
                  <a:pt x="165" y="1421"/>
                </a:lnTo>
                <a:lnTo>
                  <a:pt x="142" y="1524"/>
                </a:lnTo>
                <a:lnTo>
                  <a:pt x="125" y="1631"/>
                </a:lnTo>
                <a:lnTo>
                  <a:pt x="115" y="1738"/>
                </a:lnTo>
                <a:lnTo>
                  <a:pt x="112" y="1848"/>
                </a:lnTo>
                <a:lnTo>
                  <a:pt x="115" y="1958"/>
                </a:lnTo>
                <a:lnTo>
                  <a:pt x="125" y="2065"/>
                </a:lnTo>
                <a:lnTo>
                  <a:pt x="142" y="2172"/>
                </a:lnTo>
                <a:lnTo>
                  <a:pt x="165" y="2275"/>
                </a:lnTo>
                <a:lnTo>
                  <a:pt x="194" y="2377"/>
                </a:lnTo>
                <a:lnTo>
                  <a:pt x="228" y="2475"/>
                </a:lnTo>
                <a:lnTo>
                  <a:pt x="270" y="2570"/>
                </a:lnTo>
                <a:lnTo>
                  <a:pt x="316" y="2663"/>
                </a:lnTo>
                <a:lnTo>
                  <a:pt x="367" y="2753"/>
                </a:lnTo>
                <a:lnTo>
                  <a:pt x="423" y="2839"/>
                </a:lnTo>
                <a:lnTo>
                  <a:pt x="485" y="2922"/>
                </a:lnTo>
                <a:lnTo>
                  <a:pt x="551" y="3000"/>
                </a:lnTo>
                <a:lnTo>
                  <a:pt x="620" y="3076"/>
                </a:lnTo>
                <a:lnTo>
                  <a:pt x="696" y="3145"/>
                </a:lnTo>
                <a:lnTo>
                  <a:pt x="774" y="3211"/>
                </a:lnTo>
                <a:lnTo>
                  <a:pt x="857" y="3273"/>
                </a:lnTo>
                <a:lnTo>
                  <a:pt x="943" y="3329"/>
                </a:lnTo>
                <a:lnTo>
                  <a:pt x="1033" y="3380"/>
                </a:lnTo>
                <a:lnTo>
                  <a:pt x="1126" y="3426"/>
                </a:lnTo>
                <a:lnTo>
                  <a:pt x="1221" y="3468"/>
                </a:lnTo>
                <a:lnTo>
                  <a:pt x="1319" y="3502"/>
                </a:lnTo>
                <a:lnTo>
                  <a:pt x="1421" y="3531"/>
                </a:lnTo>
                <a:lnTo>
                  <a:pt x="1524" y="3554"/>
                </a:lnTo>
                <a:lnTo>
                  <a:pt x="1631" y="3571"/>
                </a:lnTo>
                <a:lnTo>
                  <a:pt x="1738" y="3581"/>
                </a:lnTo>
                <a:lnTo>
                  <a:pt x="1848" y="3584"/>
                </a:lnTo>
                <a:lnTo>
                  <a:pt x="1958" y="3581"/>
                </a:lnTo>
                <a:lnTo>
                  <a:pt x="2065" y="3571"/>
                </a:lnTo>
                <a:lnTo>
                  <a:pt x="2172" y="3554"/>
                </a:lnTo>
                <a:lnTo>
                  <a:pt x="2275" y="3531"/>
                </a:lnTo>
                <a:lnTo>
                  <a:pt x="2377" y="3502"/>
                </a:lnTo>
                <a:lnTo>
                  <a:pt x="2475" y="3468"/>
                </a:lnTo>
                <a:lnTo>
                  <a:pt x="2570" y="3426"/>
                </a:lnTo>
                <a:lnTo>
                  <a:pt x="2663" y="3380"/>
                </a:lnTo>
                <a:lnTo>
                  <a:pt x="2753" y="3329"/>
                </a:lnTo>
                <a:lnTo>
                  <a:pt x="2839" y="3273"/>
                </a:lnTo>
                <a:lnTo>
                  <a:pt x="2922" y="3211"/>
                </a:lnTo>
                <a:lnTo>
                  <a:pt x="3000" y="3145"/>
                </a:lnTo>
                <a:lnTo>
                  <a:pt x="3076" y="3076"/>
                </a:lnTo>
                <a:lnTo>
                  <a:pt x="3145" y="3000"/>
                </a:lnTo>
                <a:lnTo>
                  <a:pt x="3211" y="2922"/>
                </a:lnTo>
                <a:lnTo>
                  <a:pt x="3273" y="2839"/>
                </a:lnTo>
                <a:lnTo>
                  <a:pt x="3329" y="2753"/>
                </a:lnTo>
                <a:lnTo>
                  <a:pt x="3380" y="2663"/>
                </a:lnTo>
                <a:lnTo>
                  <a:pt x="3426" y="2570"/>
                </a:lnTo>
                <a:lnTo>
                  <a:pt x="3468" y="2475"/>
                </a:lnTo>
                <a:lnTo>
                  <a:pt x="3502" y="2377"/>
                </a:lnTo>
                <a:lnTo>
                  <a:pt x="3531" y="2275"/>
                </a:lnTo>
                <a:lnTo>
                  <a:pt x="3554" y="2172"/>
                </a:lnTo>
                <a:lnTo>
                  <a:pt x="3571" y="2065"/>
                </a:lnTo>
                <a:lnTo>
                  <a:pt x="3581" y="1958"/>
                </a:lnTo>
                <a:lnTo>
                  <a:pt x="3584" y="1848"/>
                </a:lnTo>
                <a:lnTo>
                  <a:pt x="3581" y="1744"/>
                </a:lnTo>
                <a:lnTo>
                  <a:pt x="3572" y="1641"/>
                </a:lnTo>
                <a:lnTo>
                  <a:pt x="3557" y="1540"/>
                </a:lnTo>
                <a:lnTo>
                  <a:pt x="3536" y="1441"/>
                </a:lnTo>
                <a:lnTo>
                  <a:pt x="3509" y="1345"/>
                </a:lnTo>
                <a:lnTo>
                  <a:pt x="3478" y="1250"/>
                </a:lnTo>
                <a:lnTo>
                  <a:pt x="3441" y="1158"/>
                </a:lnTo>
                <a:lnTo>
                  <a:pt x="3399" y="1070"/>
                </a:lnTo>
                <a:lnTo>
                  <a:pt x="3352" y="982"/>
                </a:lnTo>
                <a:lnTo>
                  <a:pt x="3301" y="899"/>
                </a:lnTo>
                <a:lnTo>
                  <a:pt x="3382" y="818"/>
                </a:lnTo>
                <a:lnTo>
                  <a:pt x="3438" y="908"/>
                </a:lnTo>
                <a:lnTo>
                  <a:pt x="3491" y="1001"/>
                </a:lnTo>
                <a:lnTo>
                  <a:pt x="3537" y="1099"/>
                </a:lnTo>
                <a:lnTo>
                  <a:pt x="3578" y="1198"/>
                </a:lnTo>
                <a:lnTo>
                  <a:pt x="3613" y="1300"/>
                </a:lnTo>
                <a:lnTo>
                  <a:pt x="3642" y="1406"/>
                </a:lnTo>
                <a:lnTo>
                  <a:pt x="3666" y="1513"/>
                </a:lnTo>
                <a:lnTo>
                  <a:pt x="3683" y="1623"/>
                </a:lnTo>
                <a:lnTo>
                  <a:pt x="3693" y="1735"/>
                </a:lnTo>
                <a:lnTo>
                  <a:pt x="3696" y="1848"/>
                </a:lnTo>
                <a:lnTo>
                  <a:pt x="3693" y="1960"/>
                </a:lnTo>
                <a:lnTo>
                  <a:pt x="3683" y="2071"/>
                </a:lnTo>
                <a:lnTo>
                  <a:pt x="3666" y="2180"/>
                </a:lnTo>
                <a:lnTo>
                  <a:pt x="3643" y="2286"/>
                </a:lnTo>
                <a:lnTo>
                  <a:pt x="3614" y="2390"/>
                </a:lnTo>
                <a:lnTo>
                  <a:pt x="3581" y="2492"/>
                </a:lnTo>
                <a:lnTo>
                  <a:pt x="3540" y="2591"/>
                </a:lnTo>
                <a:lnTo>
                  <a:pt x="3494" y="2687"/>
                </a:lnTo>
                <a:lnTo>
                  <a:pt x="3443" y="2780"/>
                </a:lnTo>
                <a:lnTo>
                  <a:pt x="3387" y="2869"/>
                </a:lnTo>
                <a:lnTo>
                  <a:pt x="3326" y="2956"/>
                </a:lnTo>
                <a:lnTo>
                  <a:pt x="3260" y="3037"/>
                </a:lnTo>
                <a:lnTo>
                  <a:pt x="3191" y="3116"/>
                </a:lnTo>
                <a:lnTo>
                  <a:pt x="3116" y="3191"/>
                </a:lnTo>
                <a:lnTo>
                  <a:pt x="3037" y="3260"/>
                </a:lnTo>
                <a:lnTo>
                  <a:pt x="2956" y="3326"/>
                </a:lnTo>
                <a:lnTo>
                  <a:pt x="2869" y="3387"/>
                </a:lnTo>
                <a:lnTo>
                  <a:pt x="2780" y="3443"/>
                </a:lnTo>
                <a:lnTo>
                  <a:pt x="2687" y="3494"/>
                </a:lnTo>
                <a:lnTo>
                  <a:pt x="2591" y="3540"/>
                </a:lnTo>
                <a:lnTo>
                  <a:pt x="2492" y="3581"/>
                </a:lnTo>
                <a:lnTo>
                  <a:pt x="2390" y="3614"/>
                </a:lnTo>
                <a:lnTo>
                  <a:pt x="2286" y="3643"/>
                </a:lnTo>
                <a:lnTo>
                  <a:pt x="2180" y="3666"/>
                </a:lnTo>
                <a:lnTo>
                  <a:pt x="2071" y="3683"/>
                </a:lnTo>
                <a:lnTo>
                  <a:pt x="1960" y="3693"/>
                </a:lnTo>
                <a:lnTo>
                  <a:pt x="1848" y="3696"/>
                </a:lnTo>
                <a:lnTo>
                  <a:pt x="1736" y="3693"/>
                </a:lnTo>
                <a:lnTo>
                  <a:pt x="1625" y="3683"/>
                </a:lnTo>
                <a:lnTo>
                  <a:pt x="1516" y="3666"/>
                </a:lnTo>
                <a:lnTo>
                  <a:pt x="1410" y="3643"/>
                </a:lnTo>
                <a:lnTo>
                  <a:pt x="1306" y="3614"/>
                </a:lnTo>
                <a:lnTo>
                  <a:pt x="1204" y="3581"/>
                </a:lnTo>
                <a:lnTo>
                  <a:pt x="1105" y="3540"/>
                </a:lnTo>
                <a:lnTo>
                  <a:pt x="1009" y="3494"/>
                </a:lnTo>
                <a:lnTo>
                  <a:pt x="916" y="3443"/>
                </a:lnTo>
                <a:lnTo>
                  <a:pt x="827" y="3387"/>
                </a:lnTo>
                <a:lnTo>
                  <a:pt x="740" y="3326"/>
                </a:lnTo>
                <a:lnTo>
                  <a:pt x="659" y="3260"/>
                </a:lnTo>
                <a:lnTo>
                  <a:pt x="580" y="3191"/>
                </a:lnTo>
                <a:lnTo>
                  <a:pt x="505" y="3116"/>
                </a:lnTo>
                <a:lnTo>
                  <a:pt x="436" y="3037"/>
                </a:lnTo>
                <a:lnTo>
                  <a:pt x="370" y="2956"/>
                </a:lnTo>
                <a:lnTo>
                  <a:pt x="309" y="2869"/>
                </a:lnTo>
                <a:lnTo>
                  <a:pt x="253" y="2780"/>
                </a:lnTo>
                <a:lnTo>
                  <a:pt x="202" y="2687"/>
                </a:lnTo>
                <a:lnTo>
                  <a:pt x="156" y="2591"/>
                </a:lnTo>
                <a:lnTo>
                  <a:pt x="115" y="2492"/>
                </a:lnTo>
                <a:lnTo>
                  <a:pt x="82" y="2390"/>
                </a:lnTo>
                <a:lnTo>
                  <a:pt x="53" y="2286"/>
                </a:lnTo>
                <a:lnTo>
                  <a:pt x="30" y="2180"/>
                </a:lnTo>
                <a:lnTo>
                  <a:pt x="13" y="2071"/>
                </a:lnTo>
                <a:lnTo>
                  <a:pt x="3" y="1960"/>
                </a:lnTo>
                <a:lnTo>
                  <a:pt x="0" y="1848"/>
                </a:lnTo>
                <a:lnTo>
                  <a:pt x="3" y="1736"/>
                </a:lnTo>
                <a:lnTo>
                  <a:pt x="13" y="1625"/>
                </a:lnTo>
                <a:lnTo>
                  <a:pt x="30" y="1516"/>
                </a:lnTo>
                <a:lnTo>
                  <a:pt x="53" y="1410"/>
                </a:lnTo>
                <a:lnTo>
                  <a:pt x="82" y="1306"/>
                </a:lnTo>
                <a:lnTo>
                  <a:pt x="115" y="1204"/>
                </a:lnTo>
                <a:lnTo>
                  <a:pt x="156" y="1105"/>
                </a:lnTo>
                <a:lnTo>
                  <a:pt x="202" y="1009"/>
                </a:lnTo>
                <a:lnTo>
                  <a:pt x="253" y="916"/>
                </a:lnTo>
                <a:lnTo>
                  <a:pt x="309" y="827"/>
                </a:lnTo>
                <a:lnTo>
                  <a:pt x="370" y="740"/>
                </a:lnTo>
                <a:lnTo>
                  <a:pt x="436" y="659"/>
                </a:lnTo>
                <a:lnTo>
                  <a:pt x="505" y="580"/>
                </a:lnTo>
                <a:lnTo>
                  <a:pt x="580" y="505"/>
                </a:lnTo>
                <a:lnTo>
                  <a:pt x="659" y="436"/>
                </a:lnTo>
                <a:lnTo>
                  <a:pt x="740" y="370"/>
                </a:lnTo>
                <a:lnTo>
                  <a:pt x="827" y="309"/>
                </a:lnTo>
                <a:lnTo>
                  <a:pt x="916" y="253"/>
                </a:lnTo>
                <a:lnTo>
                  <a:pt x="1009" y="202"/>
                </a:lnTo>
                <a:lnTo>
                  <a:pt x="1105" y="156"/>
                </a:lnTo>
                <a:lnTo>
                  <a:pt x="1204" y="115"/>
                </a:lnTo>
                <a:lnTo>
                  <a:pt x="1306" y="82"/>
                </a:lnTo>
                <a:lnTo>
                  <a:pt x="1410" y="53"/>
                </a:lnTo>
                <a:lnTo>
                  <a:pt x="1516" y="30"/>
                </a:lnTo>
                <a:lnTo>
                  <a:pt x="1625" y="13"/>
                </a:lnTo>
                <a:lnTo>
                  <a:pt x="1736" y="3"/>
                </a:lnTo>
                <a:lnTo>
                  <a:pt x="184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5175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37FA-AA6B-A5E7-9154-43F794776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Trade Finance Resource Pool + Capabilities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F85AC6-9C8C-57E6-B241-43F9D0D515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85796369"/>
              </p:ext>
            </p:extLst>
          </p:nvPr>
        </p:nvGraphicFramePr>
        <p:xfrm>
          <a:off x="685800" y="1492253"/>
          <a:ext cx="10967254" cy="5750730"/>
        </p:xfrm>
        <a:graphic>
          <a:graphicData uri="http://schemas.openxmlformats.org/drawingml/2006/table">
            <a:tbl>
              <a:tblPr firstRow="1" bandRow="1">
                <a:tableStyleId>{45BD5076-5073-49C7-9E08-65982F3C9860}</a:tableStyleId>
              </a:tblPr>
              <a:tblGrid>
                <a:gridCol w="2819821">
                  <a:extLst>
                    <a:ext uri="{9D8B030D-6E8A-4147-A177-3AD203B41FA5}">
                      <a16:colId xmlns:a16="http://schemas.microsoft.com/office/drawing/2014/main" val="102750171"/>
                    </a:ext>
                  </a:extLst>
                </a:gridCol>
                <a:gridCol w="1748237">
                  <a:extLst>
                    <a:ext uri="{9D8B030D-6E8A-4147-A177-3AD203B41FA5}">
                      <a16:colId xmlns:a16="http://schemas.microsoft.com/office/drawing/2014/main" val="923377313"/>
                    </a:ext>
                  </a:extLst>
                </a:gridCol>
                <a:gridCol w="2327471">
                  <a:extLst>
                    <a:ext uri="{9D8B030D-6E8A-4147-A177-3AD203B41FA5}">
                      <a16:colId xmlns:a16="http://schemas.microsoft.com/office/drawing/2014/main" val="2748528648"/>
                    </a:ext>
                  </a:extLst>
                </a:gridCol>
                <a:gridCol w="4071725">
                  <a:extLst>
                    <a:ext uri="{9D8B030D-6E8A-4147-A177-3AD203B41FA5}">
                      <a16:colId xmlns:a16="http://schemas.microsoft.com/office/drawing/2014/main" val="3847256655"/>
                    </a:ext>
                  </a:extLst>
                </a:gridCol>
              </a:tblGrid>
              <a:tr h="26472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Exp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981161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 dirty="0"/>
                        <a:t>Ravikiran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CDCS + CITF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706256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Shilpa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CDCS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1815927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 dirty="0"/>
                        <a:t>Meenal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11.5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CDCS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628206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Anshuman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15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CITF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1208147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Praiselin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14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364020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/>
                        <a:t>Shalini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CDCS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4896615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 dirty="0"/>
                        <a:t>Koel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CDCS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39461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 dirty="0"/>
                        <a:t>Arunava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CDCS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0820234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r>
                        <a:rPr lang="en-US" sz="1400" b="1" dirty="0"/>
                        <a:t>Saurabh Thakur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CITF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324165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1" dirty="0"/>
                        <a:t>Prachi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Techno-Functional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802585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1" dirty="0"/>
                        <a:t>Denees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10+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Techno-Functional</a:t>
                      </a:r>
                    </a:p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CITF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010760"/>
                  </a:ext>
                </a:extLst>
              </a:tr>
              <a:tr h="440961"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1" dirty="0"/>
                        <a:t>Jeeva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463040" rtl="0" eaLnBrk="1" latinLnBrk="0" hangingPunct="1"/>
                      <a:r>
                        <a:rPr lang="en-US" sz="14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10 years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Techno-Functional</a:t>
                      </a:r>
                    </a:p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46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36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32B8-B552-1DC1-37E4-38B682AD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8BAD-7986-54E5-2023-20F8A271A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Trade Finance Capability – Introduction</a:t>
            </a:r>
            <a:endParaRPr lang="en-GB" dirty="0"/>
          </a:p>
        </p:txBody>
      </p:sp>
      <p:sp>
        <p:nvSpPr>
          <p:cNvPr id="278" name="Rectangle 25">
            <a:extLst>
              <a:ext uri="{FF2B5EF4-FFF2-40B4-BE49-F238E27FC236}">
                <a16:creationId xmlns:a16="http://schemas.microsoft.com/office/drawing/2014/main" id="{9CD1746D-2F30-5B39-BC1E-A98C12A87E13}"/>
              </a:ext>
            </a:extLst>
          </p:cNvPr>
          <p:cNvSpPr>
            <a:spLocks/>
          </p:cNvSpPr>
          <p:nvPr/>
        </p:nvSpPr>
        <p:spPr bwMode="auto">
          <a:xfrm>
            <a:off x="10167167" y="1564107"/>
            <a:ext cx="1521636" cy="558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defTabSz="1218858" eaLnBrk="1">
              <a:defRPr/>
            </a:pPr>
            <a:r>
              <a:rPr lang="en-US" sz="1100">
                <a:solidFill>
                  <a:srgbClr val="FFFFFF"/>
                </a:solidFill>
                <a:latin typeface="Arial"/>
              </a:rPr>
              <a:t>Managed Outcome &amp; Capacity Augmentation</a:t>
            </a:r>
            <a:endParaRPr lang="en-AU" sz="11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 25">
            <a:extLst>
              <a:ext uri="{FF2B5EF4-FFF2-40B4-BE49-F238E27FC236}">
                <a16:creationId xmlns:a16="http://schemas.microsoft.com/office/drawing/2014/main" id="{8BAAF0EF-2C55-47DD-FF6D-FA3A729D996A}"/>
              </a:ext>
            </a:extLst>
          </p:cNvPr>
          <p:cNvSpPr>
            <a:spLocks/>
          </p:cNvSpPr>
          <p:nvPr/>
        </p:nvSpPr>
        <p:spPr bwMode="auto">
          <a:xfrm>
            <a:off x="12618034" y="1464108"/>
            <a:ext cx="1702699" cy="700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noAutofit/>
          </a:bodyPr>
          <a:lstStyle>
            <a:lvl1pPr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eaLnBrk="0"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defTabSz="1218858" eaLnBrk="1">
              <a:defRPr/>
            </a:pPr>
            <a:r>
              <a:rPr lang="en-AU" sz="1100">
                <a:solidFill>
                  <a:srgbClr val="FFFFFF"/>
                </a:solidFill>
                <a:latin typeface="Arial"/>
              </a:rPr>
              <a:t>Strong Relationship </a:t>
            </a:r>
            <a:endParaRPr lang="en-US" sz="110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5" name="Group 1">
            <a:extLst>
              <a:ext uri="{FF2B5EF4-FFF2-40B4-BE49-F238E27FC236}">
                <a16:creationId xmlns:a16="http://schemas.microsoft.com/office/drawing/2014/main" id="{B73861EF-749D-2D2A-54E7-377D89C2A7A0}"/>
              </a:ext>
            </a:extLst>
          </p:cNvPr>
          <p:cNvGrpSpPr/>
          <p:nvPr/>
        </p:nvGrpSpPr>
        <p:grpSpPr>
          <a:xfrm>
            <a:off x="3236201" y="6275732"/>
            <a:ext cx="70444" cy="102424"/>
            <a:chOff x="476265" y="715654"/>
            <a:chExt cx="55758" cy="129641"/>
          </a:xfrm>
        </p:grpSpPr>
        <p:sp>
          <p:nvSpPr>
            <p:cNvPr id="38" name="Freeform: Shape 29">
              <a:extLst>
                <a:ext uri="{FF2B5EF4-FFF2-40B4-BE49-F238E27FC236}">
                  <a16:creationId xmlns:a16="http://schemas.microsoft.com/office/drawing/2014/main" id="{3C0D7904-2B58-08FF-72ED-6752DB5B6983}"/>
                </a:ext>
              </a:extLst>
            </p:cNvPr>
            <p:cNvSpPr/>
            <p:nvPr/>
          </p:nvSpPr>
          <p:spPr>
            <a:xfrm>
              <a:off x="476265" y="715654"/>
              <a:ext cx="27041" cy="2810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62" h="688">
                  <a:moveTo>
                    <a:pt x="258" y="476"/>
                  </a:moveTo>
                  <a:lnTo>
                    <a:pt x="391" y="688"/>
                  </a:lnTo>
                  <a:lnTo>
                    <a:pt x="404" y="436"/>
                  </a:lnTo>
                  <a:lnTo>
                    <a:pt x="662" y="377"/>
                  </a:lnTo>
                  <a:lnTo>
                    <a:pt x="424" y="271"/>
                  </a:lnTo>
                  <a:lnTo>
                    <a:pt x="463" y="0"/>
                  </a:lnTo>
                  <a:lnTo>
                    <a:pt x="285" y="205"/>
                  </a:lnTo>
                  <a:lnTo>
                    <a:pt x="46" y="112"/>
                  </a:lnTo>
                  <a:lnTo>
                    <a:pt x="179" y="331"/>
                  </a:lnTo>
                  <a:lnTo>
                    <a:pt x="0" y="529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9" name="Freeform: Shape 30">
              <a:extLst>
                <a:ext uri="{FF2B5EF4-FFF2-40B4-BE49-F238E27FC236}">
                  <a16:creationId xmlns:a16="http://schemas.microsoft.com/office/drawing/2014/main" id="{D65F0CC3-2606-586A-F17A-C31FCFF42692}"/>
                </a:ext>
              </a:extLst>
            </p:cNvPr>
            <p:cNvSpPr/>
            <p:nvPr/>
          </p:nvSpPr>
          <p:spPr>
            <a:xfrm>
              <a:off x="503060" y="745435"/>
              <a:ext cx="27614" cy="2732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76" h="669">
                  <a:moveTo>
                    <a:pt x="305" y="669"/>
                  </a:moveTo>
                  <a:lnTo>
                    <a:pt x="424" y="444"/>
                  </a:lnTo>
                  <a:lnTo>
                    <a:pt x="676" y="483"/>
                  </a:lnTo>
                  <a:lnTo>
                    <a:pt x="503" y="291"/>
                  </a:lnTo>
                  <a:lnTo>
                    <a:pt x="636" y="73"/>
                  </a:lnTo>
                  <a:lnTo>
                    <a:pt x="384" y="185"/>
                  </a:lnTo>
                  <a:lnTo>
                    <a:pt x="212" y="0"/>
                  </a:lnTo>
                  <a:lnTo>
                    <a:pt x="245" y="245"/>
                  </a:lnTo>
                  <a:lnTo>
                    <a:pt x="0" y="364"/>
                  </a:lnTo>
                  <a:lnTo>
                    <a:pt x="271" y="411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0" name="Freeform: Shape 31">
              <a:extLst>
                <a:ext uri="{FF2B5EF4-FFF2-40B4-BE49-F238E27FC236}">
                  <a16:creationId xmlns:a16="http://schemas.microsoft.com/office/drawing/2014/main" id="{1A5DEA90-414B-B0EB-8E5E-E919AD8F67DB}"/>
                </a:ext>
              </a:extLst>
            </p:cNvPr>
            <p:cNvSpPr/>
            <p:nvPr/>
          </p:nvSpPr>
          <p:spPr>
            <a:xfrm>
              <a:off x="503878" y="787654"/>
              <a:ext cx="28145" cy="2650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89" h="649">
                  <a:moveTo>
                    <a:pt x="417" y="245"/>
                  </a:moveTo>
                  <a:lnTo>
                    <a:pt x="344" y="0"/>
                  </a:lnTo>
                  <a:lnTo>
                    <a:pt x="265" y="252"/>
                  </a:lnTo>
                  <a:lnTo>
                    <a:pt x="0" y="245"/>
                  </a:lnTo>
                  <a:lnTo>
                    <a:pt x="225" y="404"/>
                  </a:lnTo>
                  <a:lnTo>
                    <a:pt x="139" y="649"/>
                  </a:lnTo>
                  <a:lnTo>
                    <a:pt x="351" y="490"/>
                  </a:lnTo>
                  <a:lnTo>
                    <a:pt x="556" y="643"/>
                  </a:lnTo>
                  <a:lnTo>
                    <a:pt x="476" y="391"/>
                  </a:lnTo>
                  <a:lnTo>
                    <a:pt x="689" y="245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: Shape 32">
              <a:extLst>
                <a:ext uri="{FF2B5EF4-FFF2-40B4-BE49-F238E27FC236}">
                  <a16:creationId xmlns:a16="http://schemas.microsoft.com/office/drawing/2014/main" id="{B429C264-EDB8-92FF-8CF5-C61BE20C869E}"/>
                </a:ext>
              </a:extLst>
            </p:cNvPr>
            <p:cNvSpPr/>
            <p:nvPr/>
          </p:nvSpPr>
          <p:spPr>
            <a:xfrm>
              <a:off x="476551" y="817436"/>
              <a:ext cx="26468" cy="2785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48" h="682">
                  <a:moveTo>
                    <a:pt x="423" y="0"/>
                  </a:moveTo>
                  <a:lnTo>
                    <a:pt x="271" y="199"/>
                  </a:lnTo>
                  <a:lnTo>
                    <a:pt x="33" y="113"/>
                  </a:lnTo>
                  <a:lnTo>
                    <a:pt x="172" y="325"/>
                  </a:lnTo>
                  <a:lnTo>
                    <a:pt x="0" y="530"/>
                  </a:lnTo>
                  <a:lnTo>
                    <a:pt x="258" y="457"/>
                  </a:lnTo>
                  <a:lnTo>
                    <a:pt x="397" y="682"/>
                  </a:lnTo>
                  <a:lnTo>
                    <a:pt x="403" y="424"/>
                  </a:lnTo>
                  <a:lnTo>
                    <a:pt x="648" y="344"/>
                  </a:lnTo>
                  <a:lnTo>
                    <a:pt x="417" y="258"/>
                  </a:lnTo>
                  <a:close/>
                </a:path>
              </a:pathLst>
            </a:custGeom>
            <a:solidFill>
              <a:srgbClr val="F9CF00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defTabSz="1097236" hangingPunct="0">
                <a:defRPr/>
              </a:pPr>
              <a:endParaRPr lang="x-none" sz="1800">
                <a:solidFill>
                  <a:srgbClr val="000000"/>
                </a:solidFill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46C7692-0ECA-0C89-E502-9592FD328A8A}"/>
              </a:ext>
            </a:extLst>
          </p:cNvPr>
          <p:cNvSpPr txBox="1"/>
          <p:nvPr/>
        </p:nvSpPr>
        <p:spPr>
          <a:xfrm>
            <a:off x="5912169" y="6225187"/>
            <a:ext cx="61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349" defTabSz="1462922">
              <a:defRPr/>
            </a:pPr>
            <a:endParaRPr lang="en-GB" sz="1200">
              <a:solidFill>
                <a:srgbClr val="000000"/>
              </a:solidFill>
              <a:latin typeface="Arial"/>
              <a:cs typeface="Calibri" panose="020F050202020403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03C3E7-A2A4-AB80-FF10-437247B93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523077"/>
              </p:ext>
            </p:extLst>
          </p:nvPr>
        </p:nvGraphicFramePr>
        <p:xfrm>
          <a:off x="685800" y="1374153"/>
          <a:ext cx="13258800" cy="558482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5457">
                  <a:extLst>
                    <a:ext uri="{9D8B030D-6E8A-4147-A177-3AD203B41FA5}">
                      <a16:colId xmlns:a16="http://schemas.microsoft.com/office/drawing/2014/main" val="4213588685"/>
                    </a:ext>
                  </a:extLst>
                </a:gridCol>
                <a:gridCol w="3647781">
                  <a:extLst>
                    <a:ext uri="{9D8B030D-6E8A-4147-A177-3AD203B41FA5}">
                      <a16:colId xmlns:a16="http://schemas.microsoft.com/office/drawing/2014/main" val="3815079292"/>
                    </a:ext>
                  </a:extLst>
                </a:gridCol>
                <a:gridCol w="3647781">
                  <a:extLst>
                    <a:ext uri="{9D8B030D-6E8A-4147-A177-3AD203B41FA5}">
                      <a16:colId xmlns:a16="http://schemas.microsoft.com/office/drawing/2014/main" val="301786445"/>
                    </a:ext>
                  </a:extLst>
                </a:gridCol>
                <a:gridCol w="3647781">
                  <a:extLst>
                    <a:ext uri="{9D8B030D-6E8A-4147-A177-3AD203B41FA5}">
                      <a16:colId xmlns:a16="http://schemas.microsoft.com/office/drawing/2014/main" val="3101603758"/>
                    </a:ext>
                  </a:extLst>
                </a:gridCol>
              </a:tblGrid>
              <a:tr h="392208">
                <a:tc>
                  <a:txBody>
                    <a:bodyPr/>
                    <a:lstStyle/>
                    <a:p>
                      <a:pPr algn="ctr"/>
                      <a:r>
                        <a:rPr lang="en-SG" sz="1200" b="1">
                          <a:solidFill>
                            <a:schemeClr val="bg1"/>
                          </a:solidFill>
                        </a:rPr>
                        <a:t>Domain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Ravikiran Reddy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Shilpa Saraf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Meenal Gupta</a:t>
                      </a:r>
                      <a:endParaRPr lang="en-GB" sz="12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549870"/>
                  </a:ext>
                </a:extLst>
              </a:tr>
              <a:tr h="2387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+mn-lt"/>
                        </a:rPr>
                        <a:t>Trade Finance Expertise</a:t>
                      </a:r>
                      <a:endParaRPr lang="en-GB" sz="12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LC/BG/SBLC/Collections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Clean Payments + SWIFT/SFMS/ISO 20022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Financing (Discounting/ Buyers/ suppliers Credit) </a:t>
                      </a:r>
                      <a:endParaRPr lang="en-GB" dirty="0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FO</a:t>
                      </a:r>
                      <a:r>
                        <a:rPr lang="en-SG" sz="1200" b="0" baseline="0" dirty="0">
                          <a:latin typeface="+mn-lt"/>
                          <a:cs typeface="Calibri"/>
                        </a:rPr>
                        <a:t> and MO operations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TBML / 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BPO (Bank Payment Obligation)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Charges, accounting, advices and tracers.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GB" sz="1200" b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Letter of Credit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Collection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Bank Guarantee / SBLC 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Financing (Discounting /Buyers/suppliers Credit) 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SWIFT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FO</a:t>
                      </a:r>
                      <a:r>
                        <a:rPr lang="en-SG" sz="1200" b="0" baseline="0" dirty="0">
                          <a:latin typeface="+mn-lt"/>
                          <a:cs typeface="Calibri"/>
                        </a:rPr>
                        <a:t> and MO operations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TBML / 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Draft discounting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b="0" dirty="0">
                          <a:latin typeface="+mn-lt"/>
                          <a:cs typeface="Calibri"/>
                        </a:rPr>
                        <a:t>Collateral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SG" sz="1200" b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Letter of Credit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Doc checking &amp; Management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Collection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Bank Guarantee / SBLC 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Financing (Discounting/ Buyers/ suppliers Credit)  </a:t>
                      </a:r>
                      <a:endParaRPr lang="en-GB" dirty="0"/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Limit Monitoring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Accounting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Sanctions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SWIFT </a:t>
                      </a:r>
                    </a:p>
                    <a:p>
                      <a:pPr marL="171450" marR="0" lvl="0" indent="-171450" algn="l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dirty="0">
                          <a:latin typeface="+mn-lt"/>
                          <a:cs typeface="Calibri"/>
                        </a:rPr>
                        <a:t>ISO 20022</a:t>
                      </a:r>
                      <a:endParaRPr lang="en-SG" sz="1200" b="0" dirty="0">
                        <a:latin typeface="+mn-lt"/>
                        <a:cs typeface="Calibri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SG" sz="1200" b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513779"/>
                  </a:ext>
                </a:extLst>
              </a:tr>
              <a:tr h="16115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+mn-lt"/>
                        </a:rPr>
                        <a:t>Other core skills</a:t>
                      </a:r>
                      <a:endParaRPr lang="en-GB" sz="1200" b="1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Program Management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Business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Process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Gap Analysis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Systems Architecture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E2E Implementation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GB" sz="1200" b="0">
                          <a:latin typeface="+mn-lt"/>
                          <a:cs typeface="Calibri" panose="020F0502020204030204" pitchFamily="34" charset="0"/>
                        </a:rPr>
                        <a:t>Migration (Strategy &amp; Implementation)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Clr>
                          <a:schemeClr val="accent1"/>
                        </a:buClr>
                        <a:buFont typeface="Arial" panose="020B0604020202020204" pitchFamily="34" charset="0"/>
                        <a:buChar char="•"/>
                      </a:pP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44000" marR="72000" marT="108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Project Management</a:t>
                      </a:r>
                      <a:r>
                        <a:rPr lang="en-US" sz="1200" b="0" baseline="0">
                          <a:latin typeface="+mn-lt"/>
                          <a:cs typeface="Calibri"/>
                        </a:rPr>
                        <a:t>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Requirement Gathering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Functional Documentation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Jira 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Agile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Business Analysis </a:t>
                      </a:r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Project Management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Requirement gathering and analysis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Agile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Waterfall</a:t>
                      </a:r>
                    </a:p>
                    <a:p>
                      <a:pPr marL="171450" marR="0" lvl="0" indent="-171450" algn="l" defTabSz="146298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Jira / Confluence</a:t>
                      </a:r>
                    </a:p>
                    <a:p>
                      <a:pPr>
                        <a:buClr>
                          <a:schemeClr val="accent1"/>
                        </a:buClr>
                      </a:pPr>
                      <a:endParaRPr lang="en-US" sz="1200"/>
                    </a:p>
                  </a:txBody>
                  <a:tcPr marL="144000" marR="72000" marT="108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673076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latin typeface="+mn-lt"/>
                        </a:rPr>
                        <a:t>Markets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1113" algn="ctr">
                        <a:lnSpc>
                          <a:spcPct val="100000"/>
                        </a:lnSpc>
                        <a:tabLst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India,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Europe, </a:t>
                      </a:r>
                      <a:r>
                        <a:rPr lang="en-US" sz="1200" b="0">
                          <a:latin typeface="+mn-lt"/>
                          <a:cs typeface="Calibri"/>
                        </a:rPr>
                        <a:t>Australia</a:t>
                      </a:r>
                      <a:endParaRPr lang="en-US"/>
                    </a:p>
                  </a:txBody>
                  <a:tcPr marL="72000" marR="108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India, Netherlands, Korea, HK,</a:t>
                      </a:r>
                      <a:r>
                        <a:rPr lang="uk-UA" sz="1200" b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1200" b="0">
                          <a:latin typeface="+mn-lt"/>
                          <a:cs typeface="Calibri"/>
                        </a:rPr>
                        <a:t>Singapore</a:t>
                      </a:r>
                      <a:r>
                        <a:rPr lang="en-GB" sz="1200" b="0" baseline="0">
                          <a:latin typeface="+mn-lt"/>
                          <a:cs typeface="Calibri"/>
                        </a:rPr>
                        <a:t>,</a:t>
                      </a:r>
                      <a:r>
                        <a:rPr lang="en-GB" sz="1200" b="0">
                          <a:latin typeface="+mn-lt"/>
                          <a:cs typeface="Calibri"/>
                        </a:rPr>
                        <a:t> France </a:t>
                      </a: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Australia, UK,</a:t>
                      </a:r>
                      <a:r>
                        <a:rPr lang="uk-UA" sz="1200" b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GB" sz="1200" b="0">
                          <a:latin typeface="+mn-lt"/>
                          <a:cs typeface="Calibri"/>
                        </a:rPr>
                        <a:t>USA</a:t>
                      </a: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098547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latin typeface="+mn-lt"/>
                        </a:rPr>
                        <a:t>Products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200" b="0">
                          <a:latin typeface="+mn-lt"/>
                          <a:cs typeface="Calibri"/>
                        </a:rPr>
                        <a:t>TI+, TRIMS, Trade360</a:t>
                      </a:r>
                    </a:p>
                  </a:txBody>
                  <a:tcPr marL="72000" marR="72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63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>
                          <a:latin typeface="+mn-lt"/>
                          <a:cs typeface="Calibri"/>
                        </a:rPr>
                        <a:t>TI+</a:t>
                      </a:r>
                      <a:r>
                        <a:rPr lang="en-US" sz="1200" b="0" baseline="0">
                          <a:latin typeface="+mn-lt"/>
                          <a:cs typeface="Calibri"/>
                        </a:rPr>
                        <a:t> , Temenos , Finacle </a:t>
                      </a:r>
                      <a:r>
                        <a:rPr lang="en-GB" sz="1200" b="0" baseline="0">
                          <a:latin typeface="+mn-lt"/>
                          <a:cs typeface="Calibri"/>
                        </a:rPr>
                        <a:t>, IMEX</a:t>
                      </a:r>
                      <a:endParaRPr lang="uk-UA" sz="1200" b="0"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200"/>
                        <a:t> TRIMS, FBCC, FTI</a:t>
                      </a:r>
                      <a:endParaRPr lang="en-GB" sz="1200" b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0584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SG" sz="1200" b="1">
                          <a:solidFill>
                            <a:schemeClr val="bg1"/>
                          </a:solidFill>
                          <a:latin typeface="+mn-lt"/>
                        </a:rPr>
                        <a:t>Experience in Trade Finance</a:t>
                      </a:r>
                      <a:endParaRPr lang="en-SG" sz="1200" b="1" baseline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20 Yrs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11 Yrs </a:t>
                      </a:r>
                      <a:endParaRPr lang="en-SG" sz="1200" b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11.5 Yrs </a:t>
                      </a:r>
                      <a:endParaRPr lang="en-SG" sz="1200" b="0" dirty="0">
                        <a:solidFill>
                          <a:schemeClr val="tx1"/>
                        </a:solidFill>
                        <a:latin typeface="+mn-lt"/>
                        <a:cs typeface="Calibri"/>
                      </a:endParaRPr>
                    </a:p>
                  </a:txBody>
                  <a:tcPr marL="72000" marR="72000" marT="3600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39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20759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1CC9-DA98-E0EF-A16E-FA741F72D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Appendix</a:t>
            </a:r>
            <a:endParaRPr lang="uk-UA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3A13969-4D58-DFAD-FF74-969E5A13AD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7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13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XC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DXC_Presentation Template_DXC Confidential_Mar 2024" id="{0863E0E9-C5C1-4488-A65E-C5AF73AEE0E2}" vid="{EC7636AD-4408-4EEC-85A7-94FD3C17A74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DXC New Brand Palette">
    <a:dk1>
      <a:srgbClr val="000000"/>
    </a:dk1>
    <a:lt1>
      <a:srgbClr val="FFFFFF"/>
    </a:lt1>
    <a:dk2>
      <a:srgbClr val="D9D9D6"/>
    </a:dk2>
    <a:lt2>
      <a:srgbClr val="FFCD00"/>
    </a:lt2>
    <a:accent1>
      <a:srgbClr val="5F249F"/>
    </a:accent1>
    <a:accent2>
      <a:srgbClr val="00968F"/>
    </a:accent2>
    <a:accent3>
      <a:srgbClr val="00A3E1"/>
    </a:accent3>
    <a:accent4>
      <a:srgbClr val="006975"/>
    </a:accent4>
    <a:accent5>
      <a:srgbClr val="6CC24A"/>
    </a:accent5>
    <a:accent6>
      <a:srgbClr val="ED9B33"/>
    </a:accent6>
    <a:hlink>
      <a:srgbClr val="000000"/>
    </a:hlink>
    <a:folHlink>
      <a:srgbClr val="66666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CC43CD6C66BB44949C828A9A79E1AB" ma:contentTypeVersion="15" ma:contentTypeDescription="Create a new document." ma:contentTypeScope="" ma:versionID="77531fcf65d49a1e19b728e3cccf43db">
  <xsd:schema xmlns:xsd="http://www.w3.org/2001/XMLSchema" xmlns:xs="http://www.w3.org/2001/XMLSchema" xmlns:p="http://schemas.microsoft.com/office/2006/metadata/properties" xmlns:ns1="http://schemas.microsoft.com/sharepoint/v3" xmlns:ns2="ac8216ca-eecc-47a6-8979-9536807d7d87" xmlns:ns3="775e4634-1f72-4421-8d33-11cde2f58219" targetNamespace="http://schemas.microsoft.com/office/2006/metadata/properties" ma:root="true" ma:fieldsID="edefe29851eaf9a158984e269ed8f000" ns1:_="" ns2:_="" ns3:_="">
    <xsd:import namespace="http://schemas.microsoft.com/sharepoint/v3"/>
    <xsd:import namespace="ac8216ca-eecc-47a6-8979-9536807d7d87"/>
    <xsd:import namespace="775e4634-1f72-4421-8d33-11cde2f582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8216ca-eecc-47a6-8979-9536807d7d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8f211cb-e08d-4e65-a875-32590ca7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5e4634-1f72-4421-8d33-11cde2f5821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9bb6b63-b1ff-4723-a154-479c592edd2c}" ma:internalName="TaxCatchAll" ma:showField="CatchAllData" ma:web="775e4634-1f72-4421-8d33-11cde2f582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c8216ca-eecc-47a6-8979-9536807d7d87">
      <Terms xmlns="http://schemas.microsoft.com/office/infopath/2007/PartnerControls"/>
    </lcf76f155ced4ddcb4097134ff3c332f>
    <_ip_UnifiedCompliancePolicyProperties xmlns="http://schemas.microsoft.com/sharepoint/v3" xsi:nil="true"/>
    <TaxCatchAll xmlns="775e4634-1f72-4421-8d33-11cde2f5821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0BDE7B-7095-4BC9-80EE-5EFB84555BAE}">
  <ds:schemaRefs>
    <ds:schemaRef ds:uri="775e4634-1f72-4421-8d33-11cde2f58219"/>
    <ds:schemaRef ds:uri="ac8216ca-eecc-47a6-8979-9536807d7d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F0FCD26-4C80-47B5-A588-03137522E935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775e4634-1f72-4421-8d33-11cde2f58219"/>
    <ds:schemaRef ds:uri="ac8216ca-eecc-47a6-8979-9536807d7d87"/>
    <ds:schemaRef ds:uri="http://schemas.microsoft.com/sharepoint/v3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DAED1A2-BAC8-4F83-B959-5A3ECD25F9F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3f33571-550f-43cf-b09f-cd331338d086}" enabled="0" method="" siteId="{93f33571-550f-43cf-b09f-cd331338d0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4477</TotalTime>
  <Words>1103</Words>
  <Application>Microsoft Macintosh PowerPoint</Application>
  <PresentationFormat>Custom</PresentationFormat>
  <Paragraphs>229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Poppins Medium</vt:lpstr>
      <vt:lpstr>System Font Regular</vt:lpstr>
      <vt:lpstr>DXC</vt:lpstr>
      <vt:lpstr>Custom Design</vt:lpstr>
      <vt:lpstr>DXC Trade Finance</vt:lpstr>
      <vt:lpstr>PowerPoint Presentation</vt:lpstr>
      <vt:lpstr>Case Study – Leading Australian Bank </vt:lpstr>
      <vt:lpstr>PowerPoint Presentation</vt:lpstr>
      <vt:lpstr>Case Study – Leading British Multinational Bank </vt:lpstr>
      <vt:lpstr>Trade Finance Resource Pool + Capabilities</vt:lpstr>
      <vt:lpstr>Trade Finance Capability – Introduction</vt:lpstr>
      <vt:lpstr>Appendix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is Arial Bold 48pt, up to three lines</dc:title>
  <dc:subject/>
  <dc:creator>Voina, Hanna</dc:creator>
  <cp:keywords/>
  <dc:description/>
  <cp:lastModifiedBy>Ravikiran Reddy Gajula</cp:lastModifiedBy>
  <cp:revision>10</cp:revision>
  <dcterms:created xsi:type="dcterms:W3CDTF">2024-02-22T11:52:21Z</dcterms:created>
  <dcterms:modified xsi:type="dcterms:W3CDTF">2025-10-08T04:26:51Z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0x01010017CC43CD6C66BB44949C828A9A79E1AB</vt:lpwstr>
  </property>
  <property fmtid="{D5CDD505-2E9C-101B-9397-08002B2CF9AE}" pid="3" name="MediaServiceImageTags">
    <vt:lpwstr/>
  </property>
  <property fmtid="{D5CDD505-2E9C-101B-9397-08002B2CF9AE}" pid="4" name="MSIP_Label_15394ae5-69af-439d-af88-cb521c31c0c5_Enabled">
    <vt:lpwstr>true</vt:lpwstr>
  </property>
  <property fmtid="{D5CDD505-2E9C-101B-9397-08002B2CF9AE}" pid="5" name="MSIP_Label_15394ae5-69af-439d-af88-cb521c31c0c5_SetDate">
    <vt:lpwstr>2025-08-07T02:46:44Z</vt:lpwstr>
  </property>
  <property fmtid="{D5CDD505-2E9C-101B-9397-08002B2CF9AE}" pid="6" name="MSIP_Label_15394ae5-69af-439d-af88-cb521c31c0c5_Method">
    <vt:lpwstr>Privileged</vt:lpwstr>
  </property>
  <property fmtid="{D5CDD505-2E9C-101B-9397-08002B2CF9AE}" pid="7" name="MSIP_Label_15394ae5-69af-439d-af88-cb521c31c0c5_Name">
    <vt:lpwstr>DXC Internal</vt:lpwstr>
  </property>
  <property fmtid="{D5CDD505-2E9C-101B-9397-08002B2CF9AE}" pid="8" name="MSIP_Label_15394ae5-69af-439d-af88-cb521c31c0c5_SiteId">
    <vt:lpwstr>93f33571-550f-43cf-b09f-cd331338d086</vt:lpwstr>
  </property>
  <property fmtid="{D5CDD505-2E9C-101B-9397-08002B2CF9AE}" pid="9" name="MSIP_Label_15394ae5-69af-439d-af88-cb521c31c0c5_ActionId">
    <vt:lpwstr>8d513d92-dc0b-4a85-ac78-fc0bed348303</vt:lpwstr>
  </property>
  <property fmtid="{D5CDD505-2E9C-101B-9397-08002B2CF9AE}" pid="10" name="MSIP_Label_15394ae5-69af-439d-af88-cb521c31c0c5_ContentBits">
    <vt:lpwstr>0</vt:lpwstr>
  </property>
  <property fmtid="{D5CDD505-2E9C-101B-9397-08002B2CF9AE}" pid="11" name="MSIP_Label_15394ae5-69af-439d-af88-cb521c31c0c5_Tag">
    <vt:lpwstr>10, 0, 1, 1</vt:lpwstr>
  </property>
</Properties>
</file>